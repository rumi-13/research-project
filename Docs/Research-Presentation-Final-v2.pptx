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5"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5726" autoAdjust="0"/>
  </p:normalViewPr>
  <p:slideViewPr>
    <p:cSldViewPr snapToGrid="0" snapToObjects="1">
      <p:cViewPr varScale="1">
        <p:scale>
          <a:sx n="81" d="100"/>
          <a:sy n="81" d="100"/>
        </p:scale>
        <p:origin x="725"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3A5D"/>
                </a:solidFill>
                <a:latin typeface="Montserrat"/>
              </a:defRPr>
            </a:pPr>
            <a:r>
              <a:rPr lang="en-US" sz="1300" b="0" i="0" u="none" strike="noStrike">
                <a:solidFill>
                  <a:srgbClr val="0B3A5D"/>
                </a:solidFill>
                <a:latin typeface="Montserrat"/>
              </a:rPr>
              <a:t>Average SSIM by Noise Level</a:t>
            </a:r>
          </a:p>
        </c:rich>
      </c:tx>
      <c:overlay val="0"/>
    </c:title>
    <c:autoTitleDeleted val="0"/>
    <c:plotArea>
      <c:layout/>
      <c:barChart>
        <c:barDir val="col"/>
        <c:grouping val="clustered"/>
        <c:varyColors val="0"/>
        <c:ser>
          <c:idx val="0"/>
          <c:order val="0"/>
          <c:tx>
            <c:strRef>
              <c:f>Sheet1!$B$1</c:f>
              <c:strCache>
                <c:ptCount val="1"/>
                <c:pt idx="0">
                  <c:v>Standard Grad-CAM</c:v>
                </c:pt>
              </c:strCache>
            </c:strRef>
          </c:tx>
          <c:spPr>
            <a:solidFill>
              <a:srgbClr val="9FB4C4"/>
            </a:solidFill>
            <a:effectLst/>
          </c:spPr>
          <c:invertIfNegative val="0"/>
          <c:dLbls>
            <c:numFmt formatCode="0.000" sourceLinked="0"/>
            <c:spPr>
              <a:noFill/>
              <a:ln>
                <a:noFill/>
              </a:ln>
              <a:effectLst/>
            </c:spPr>
            <c:txPr>
              <a:bodyPr/>
              <a:lstStyle/>
              <a:p>
                <a:pPr>
                  <a:defRPr sz="900" b="0" i="0" u="none" strike="noStrike">
                    <a:solidFill>
                      <a:srgbClr val="1B2A38"/>
                    </a:solidFill>
                    <a:latin typeface="Robot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σ=0.007</c:v>
                </c:pt>
                <c:pt idx="1">
                  <c:v>σ=0.008</c:v>
                </c:pt>
                <c:pt idx="2">
                  <c:v>σ=0.009</c:v>
                </c:pt>
              </c:strCache>
            </c:strRef>
          </c:cat>
          <c:val>
            <c:numRef>
              <c:f>Sheet1!$B$2:$B$4</c:f>
              <c:numCache>
                <c:formatCode>General</c:formatCode>
                <c:ptCount val="3"/>
                <c:pt idx="0">
                  <c:v>0.95469999999999999</c:v>
                </c:pt>
                <c:pt idx="1">
                  <c:v>0.94189999999999996</c:v>
                </c:pt>
                <c:pt idx="2">
                  <c:v>0.92800000000000005</c:v>
                </c:pt>
              </c:numCache>
            </c:numRef>
          </c:val>
          <c:extLst>
            <c:ext xmlns:c16="http://schemas.microsoft.com/office/drawing/2014/chart" uri="{C3380CC4-5D6E-409C-BE32-E72D297353CC}">
              <c16:uniqueId val="{00000000-90E9-4272-8C8A-BDD5B8B5F880}"/>
            </c:ext>
          </c:extLst>
        </c:ser>
        <c:ser>
          <c:idx val="1"/>
          <c:order val="1"/>
          <c:tx>
            <c:strRef>
              <c:f>Sheet1!$C$1</c:f>
              <c:strCache>
                <c:ptCount val="1"/>
                <c:pt idx="0">
                  <c:v>Fused Grad-CAM</c:v>
                </c:pt>
              </c:strCache>
            </c:strRef>
          </c:tx>
          <c:spPr>
            <a:solidFill>
              <a:srgbClr val="0F4C81"/>
            </a:solidFill>
            <a:effectLst/>
          </c:spPr>
          <c:invertIfNegative val="0"/>
          <c:dLbls>
            <c:numFmt formatCode="0.000" sourceLinked="0"/>
            <c:spPr>
              <a:noFill/>
              <a:ln>
                <a:noFill/>
              </a:ln>
              <a:effectLst/>
            </c:spPr>
            <c:txPr>
              <a:bodyPr/>
              <a:lstStyle/>
              <a:p>
                <a:pPr>
                  <a:defRPr sz="900" b="0" i="0" u="none" strike="noStrike">
                    <a:solidFill>
                      <a:srgbClr val="1B2A38"/>
                    </a:solidFill>
                    <a:latin typeface="Robot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σ=0.007</c:v>
                </c:pt>
                <c:pt idx="1">
                  <c:v>σ=0.008</c:v>
                </c:pt>
                <c:pt idx="2">
                  <c:v>σ=0.009</c:v>
                </c:pt>
              </c:strCache>
            </c:strRef>
          </c:cat>
          <c:val>
            <c:numRef>
              <c:f>Sheet1!$C$2:$C$4</c:f>
              <c:numCache>
                <c:formatCode>General</c:formatCode>
                <c:ptCount val="3"/>
                <c:pt idx="0">
                  <c:v>0.97240000000000004</c:v>
                </c:pt>
                <c:pt idx="1">
                  <c:v>0.96430000000000005</c:v>
                </c:pt>
                <c:pt idx="2">
                  <c:v>0.95530000000000004</c:v>
                </c:pt>
              </c:numCache>
            </c:numRef>
          </c:val>
          <c:extLst>
            <c:ext xmlns:c16="http://schemas.microsoft.com/office/drawing/2014/chart" uri="{C3380CC4-5D6E-409C-BE32-E72D297353CC}">
              <c16:uniqueId val="{00000001-90E9-4272-8C8A-BDD5B8B5F88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080"/>
                </a:solidFill>
                <a:latin typeface="Roboto"/>
              </a:defRPr>
            </a:pPr>
            <a:endParaRPr lang="en-US"/>
          </a:p>
        </c:txPr>
        <c:crossAx val="2094734552"/>
        <c:crosses val="autoZero"/>
        <c:auto val="1"/>
        <c:lblAlgn val="ctr"/>
        <c:lblOffset val="100"/>
        <c:noMultiLvlLbl val="1"/>
      </c:catAx>
      <c:valAx>
        <c:axId val="2094734552"/>
        <c:scaling>
          <c:orientation val="minMax"/>
          <c:max val="1"/>
          <c:min val="0.85"/>
        </c:scaling>
        <c:delete val="0"/>
        <c:axPos val="l"/>
        <c:majorGridlines>
          <c:spPr>
            <a:ln w="9525" cap="flat">
              <a:solidFill>
                <a:srgbClr val="DCE6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080"/>
                </a:solidFill>
                <a:latin typeface="Roboto"/>
              </a:defRPr>
            </a:pPr>
            <a:endParaRPr lang="en-US"/>
          </a:p>
        </c:txPr>
        <c:crossAx val="2094734554"/>
        <c:crosses val="autoZero"/>
        <c:crossBetween val="between"/>
      </c:valAx>
      <c:spPr>
        <a:noFill/>
        <a:ln>
          <a:noFill/>
        </a:ln>
        <a:effectLst/>
      </c:spPr>
    </c:plotArea>
    <c:legend>
      <c:legendPos val="b"/>
      <c:overlay val="0"/>
      <c:txPr>
        <a:bodyPr/>
        <a:lstStyle/>
        <a:p>
          <a:pPr>
            <a:defRPr sz="1000">
              <a:latin typeface="Roboto"/>
              <a:cs typeface="Roboto"/>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007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the panel and introduce the project title, your names, and your supervisor. Briefly state that this is an FYUGP research project viva about making AI-based retinal disease detection more transparent and trustworthy for doctors. Keep this to 30 seconds — a warm, confident opening. Transition by saying you'll first walk through some background on the eye and retinal disease before introducing the technical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the roadmap briefly: background on the eye and disease, then OCT imaging, then how deep learning is used, the trust problem this creates, the specific research gaps, our proposed method, how we evaluated it, and finally limitations and references. Keep this to about 30-40 seconds — the goal is to give the committee a mental map before diving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Ground the audience in basic anatomy before going technical. The retina is the light-sensitive layer at the back of the eye — it's essentially the body's own camera sensor, converting light into neural signals the brain reads as images. Point at the schematic and note the macula, the small central region responsible for sharp vision, since that's where most of the diseases we'll discuss actually occur. Transition by saying that when this tissue is damaged, several distinct diseases can result — which the next slide covers.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Introduce the three pathological classes used throughout this project, alongside NORMAL. For CNV, emphasize abnormal vessel growth and leakage. For DME, connect it to diabetes and macular swelling. For Drusen, frame it as an early AMD warning sign. Mention that these highlighted OCT crops are actual scans from the dataset used later in the study, so the audience already has visual familiarity before the technical sections. Transition into how these scans are actually captured — Optical Coherence Tomography.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Before introducing OCT properly, briefly explain why the obvious alternatives don't work for the retina. X-ray and CT rely on radiation and are built for dense tissue like bone, not the eye's delicate soft tissue. Ultrasound is safe but too coarse. The unifying reason is scale: the retina is only a few hundred micrometers thick, so diagnosing it needs imaging fine enough to resolve that scale. Land on OCT as the one modality built for exactly this problem, and transition into explaining how OCT itself works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Explain OCT in plain terms: think of it like an ultrasound, but using light instead of sound, giving much finer detail. It lets doctors see a cross-section of the retina's layers without touching or cutting the eye. Point to the B-scan image and note the layered structure. Keep this under a minute — the goal is just enough understanding to appreciate why OCT images are the input to the deep learning model discussed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High classification accuracy might suggest the problem is solved, but it isn't. Walk through the simple pipeline — an OCT scan goes into a CNN, which outputs a prediction — and note that CNNs learn these patterns automatically from data, without being explicitly told what a lesion looks like. Cite the accuracy figures to establish that performance is not the bottleneck. Land deliberately on the closing question, pause briefly, and use it as the hinge into the black-box problem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Introduce the black-box problem directly: the CNN outputs a class label, not a reason. Emphasize that clinical trust depends on verifiability, not just accuracy — a doctor won't act on a number alone. Introduce Explainable AI as the general solution category, then narrow to Grad-CAM specifically as the dominant technique in this space, citing its wide adoption in retinal imaging literature. Transition by saying Grad-CAM sounds like the fix, but it comes with real limitations — which the next slide unpacks.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Explain the Grad-CAM mechanism itself before critiquing it. Walk through the four steps: the image is processed by the CNN, gradients of the predicted class are computed with respect to the last layer's feature maps, those gradients become importance weights, and a weighted sum passed through a ReLU produces the final heatmap. Keep the formulas on screen but explain them in words rather than reading the notation — the weight is just 'how much this feature map mattered', and the heatmap is a weighted blend of feature maps, keeping only positive influence. Transition by saying this exact mechanism is also the source of Grad-CAM's weaknesses, which the next two slides cover.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Take these two limitations slowly since they're the most visually obvious in the sample heatmap. Coarse resolution comes from sparse gradients and upsampling — explain it as the heatmap being computed at a tiny resolution internally and then stretched up, which necessarily blurs it. Poor localization follows from the same root cause: the heatmap approximates where the model looked, but was never designed to trace an exact pixel boundary. Point to the sample image and note the soft, spread-out red region rather than a tight outline. Transition into the second pair of limitations.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These last two limitations explain why simply 'looking harder' at the final layer doesn't fix the problem. Final-layer-only means the network's earliest, most detailed spatial information is thrown away before the heatmap is ever computed. Sensitivity to noise means the explanation itself is not robust — small realistic changes to the image can shift where the heatmap lights up. Land deliberately on the closing statement, pause, and use it as the direct transition into the research gap slide — these four limitations are exactly what the dissertation identifies as unresolved in the literature.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core diagram of the entire project, so give it room to breathe. Walk left to right: Stage A classifies the OCT scan with a ResNet50 CNN; Stage B extracts Grad-CAM heatmaps from three different depths in the network rather than just the last layer; Stage C fuses those three maps using confidence-based weights; Stage D tests whether the fused explanation holds up under noise, compared to the standard baseline. Tell the committee you'll now walk through each stage in more depth.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Cover the two supporting stages. For classification, keep it brief: a ResNet50 CNN trained on the OCT2017 dataset with four classes, reaching roughly 98% accuracy, which is stable enough to trust as the basis for explanation. For multi-layer extraction, explain why depth matters: shallow layers like L2 keep fine spatial detail, while deeper layers like L4 capture more abstract, semantic information. Standard Grad-CAM only uses the deepest layer, discarding the detail the shallower ones provide — setting up the next slide on how these three maps are combined.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key technical contribution, so take your time. Walk through the four-step loop: mask the image using each layer's heatmap, re-run the masked image through the classifier, and record how much class confidence survives — that retained confidence becomes the layer's weight. Point to the formula strip and explain in words rather than reading it verbatim: the weight is just each layer's share of the total retained confidence, and the fused heatmap is a weighted blend of the three. Emphasize that this keeps the fusion grounded in evidence rather than a fixed, arbitrary average.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Explain why evaluation matters: a heatmap that merely looks tighter isn't good enough — it needs to be proven stable under realistic conditions. Introduce SSIM simply as a similarity score between 0 and 1, where closer to 1 means barely any change. Describe the noise test — three controlled noise levels applied to both heatmap types, then compared to the clean version. Then point to the visual comparison: standard Grad-CAM spreads broadly across the scan, while the fused version stays tighter around the actual lesion, across all four classes. Transition into the quantitative results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Table I briefly by noise level rather than reading every row: at every sigma, fused SSIM is higher than standard. Then point to the chart, which averages across all four classes for a clearer visual — fused is consistently on top, and importantly the gap between the two bars grows as noise increases, from about 0.018 at the lowest noise level to about 0.027 at the highest. Explain what that means physically: the fused heatmap doesn't just start higher, it degrades more slowly, because if one scale's detail gets corrupted by noise, the other two partially compensate.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Be candid about limitations — this builds credibility with the panel rather than undermining it. The two honest gaps are the lack of expert-annotated ground truth and the fact that synthetic Gaussian noise is only a proxy for real-world imaging variability across different scanners and protocols. Then pivot to future work with energy: expert annotation partnerships, clinical validation with ophthalmologists, larger and more diverse datasets, and extending the approach to other backbones and to OCTA data. Frame this as a natural next phase, not a weakness.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Thank the committee for their time and open the floor for questions. If you anticipate a question about why SSIM was chosen over other similarity metrics, or about computational cost of the multi-layer approach, have a one-sentence answer ready. Otherwise, let silence sit for a moment after inviting questions rather than filling it — a confident close matters as much as a confident opening.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gif"/><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A5D"/>
        </a:solidFill>
        <a:effectLst/>
      </p:bgPr>
    </p:bg>
    <p:spTree>
      <p:nvGrpSpPr>
        <p:cNvPr id="1" name=""/>
        <p:cNvGrpSpPr/>
        <p:nvPr/>
      </p:nvGrpSpPr>
      <p:grpSpPr>
        <a:xfrm>
          <a:off x="0" y="0"/>
          <a:ext cx="0" cy="0"/>
          <a:chOff x="0" y="0"/>
          <a:chExt cx="0" cy="0"/>
        </a:xfrm>
      </p:grpSpPr>
      <p:sp>
        <p:nvSpPr>
          <p:cNvPr id="2" name="Shape 0"/>
          <p:cNvSpPr/>
          <p:nvPr/>
        </p:nvSpPr>
        <p:spPr>
          <a:xfrm>
            <a:off x="9052560" y="-1463040"/>
            <a:ext cx="4754880" cy="4754880"/>
          </a:xfrm>
          <a:prstGeom prst="ellipse">
            <a:avLst/>
          </a:prstGeom>
          <a:solidFill>
            <a:srgbClr val="12466E"/>
          </a:solidFill>
          <a:ln/>
        </p:spPr>
        <p:txBody>
          <a:bodyPr/>
          <a:lstStyle/>
          <a:p>
            <a:endParaRPr lang="en-US"/>
          </a:p>
        </p:txBody>
      </p:sp>
      <p:sp>
        <p:nvSpPr>
          <p:cNvPr id="3" name="Shape 1"/>
          <p:cNvSpPr/>
          <p:nvPr/>
        </p:nvSpPr>
        <p:spPr>
          <a:xfrm>
            <a:off x="-1828800" y="4754880"/>
            <a:ext cx="4206240" cy="4206240"/>
          </a:xfrm>
          <a:prstGeom prst="ellipse">
            <a:avLst/>
          </a:prstGeom>
          <a:solidFill>
            <a:srgbClr val="0E4468"/>
          </a:solidFill>
          <a:ln/>
        </p:spPr>
        <p:txBody>
          <a:bodyPr/>
          <a:lstStyle/>
          <a:p>
            <a:endParaRPr lang="en-US"/>
          </a:p>
        </p:txBody>
      </p:sp>
      <p:pic>
        <p:nvPicPr>
          <p:cNvPr id="4" name="Image 0" descr="/home/claude/build/assets/college_logo.png"/>
          <p:cNvPicPr>
            <a:picLocks noChangeAspect="1"/>
          </p:cNvPicPr>
          <p:nvPr/>
        </p:nvPicPr>
        <p:blipFill>
          <a:blip r:embed="rId3"/>
          <a:stretch>
            <a:fillRect/>
          </a:stretch>
        </p:blipFill>
        <p:spPr>
          <a:xfrm>
            <a:off x="3470148" y="5061966"/>
            <a:ext cx="752326" cy="617982"/>
          </a:xfrm>
          <a:prstGeom prst="rect">
            <a:avLst/>
          </a:prstGeom>
        </p:spPr>
      </p:pic>
      <p:sp>
        <p:nvSpPr>
          <p:cNvPr id="5" name="Text 2"/>
          <p:cNvSpPr/>
          <p:nvPr/>
        </p:nvSpPr>
        <p:spPr>
          <a:xfrm>
            <a:off x="1432560" y="5043678"/>
            <a:ext cx="10515600" cy="347472"/>
          </a:xfrm>
          <a:prstGeom prst="rect">
            <a:avLst/>
          </a:prstGeom>
          <a:noFill/>
          <a:ln/>
        </p:spPr>
        <p:txBody>
          <a:bodyPr wrap="square" rtlCol="0" anchor="ctr"/>
          <a:lstStyle/>
          <a:p>
            <a:pPr marL="0" indent="0" algn="ctr">
              <a:buNone/>
            </a:pPr>
            <a:r>
              <a:rPr lang="en-US" sz="1300" b="1" kern="0" spc="300" dirty="0">
                <a:solidFill>
                  <a:srgbClr val="9FC3E0"/>
                </a:solidFill>
                <a:latin typeface="Roboto" pitchFamily="34" charset="0"/>
                <a:ea typeface="Roboto" pitchFamily="34" charset="-122"/>
                <a:cs typeface="Roboto" pitchFamily="34" charset="-120"/>
              </a:rPr>
              <a:t>DEPARTMENT OF COMPUTER APPLICATIONS</a:t>
            </a:r>
            <a:endParaRPr lang="en-US" sz="1300" dirty="0"/>
          </a:p>
        </p:txBody>
      </p:sp>
      <p:sp>
        <p:nvSpPr>
          <p:cNvPr id="6" name="Text 3"/>
          <p:cNvSpPr/>
          <p:nvPr/>
        </p:nvSpPr>
        <p:spPr>
          <a:xfrm>
            <a:off x="1432560" y="5372862"/>
            <a:ext cx="10515600" cy="320040"/>
          </a:xfrm>
          <a:prstGeom prst="rect">
            <a:avLst/>
          </a:prstGeom>
          <a:noFill/>
          <a:ln/>
        </p:spPr>
        <p:txBody>
          <a:bodyPr wrap="square" rtlCol="0" anchor="ctr"/>
          <a:lstStyle/>
          <a:p>
            <a:pPr marL="0" indent="0" algn="ctr">
              <a:buNone/>
            </a:pPr>
            <a:r>
              <a:rPr lang="en-US" sz="1350" dirty="0">
                <a:solidFill>
                  <a:srgbClr val="CFE0EE"/>
                </a:solidFill>
                <a:latin typeface="Times New Roman" pitchFamily="34" charset="0"/>
                <a:ea typeface="Times New Roman" pitchFamily="34" charset="-122"/>
                <a:cs typeface="Times New Roman" pitchFamily="34" charset="-120"/>
              </a:rPr>
              <a:t>Shaheed Himayun Muzammil Memorial Govt. Degree College Anantnag</a:t>
            </a:r>
            <a:endParaRPr lang="en-US" sz="1350" dirty="0"/>
          </a:p>
        </p:txBody>
      </p:sp>
      <p:sp>
        <p:nvSpPr>
          <p:cNvPr id="8" name="Text 5"/>
          <p:cNvSpPr/>
          <p:nvPr/>
        </p:nvSpPr>
        <p:spPr>
          <a:xfrm>
            <a:off x="464820" y="675132"/>
            <a:ext cx="10360152" cy="1371600"/>
          </a:xfrm>
          <a:prstGeom prst="rect">
            <a:avLst/>
          </a:prstGeom>
          <a:noFill/>
          <a:ln/>
        </p:spPr>
        <p:txBody>
          <a:bodyPr wrap="square" rtlCol="0" anchor="ctr"/>
          <a:lstStyle/>
          <a:p>
            <a:pPr marL="0" indent="0" algn="ctr">
              <a:lnSpc>
                <a:spcPct val="112000"/>
              </a:lnSpc>
              <a:buNone/>
            </a:pPr>
            <a:r>
              <a:rPr lang="en-US" sz="3300" b="1" dirty="0">
                <a:solidFill>
                  <a:srgbClr val="FFFFFF"/>
                </a:solidFill>
                <a:latin typeface="Montserrat" pitchFamily="34" charset="0"/>
                <a:ea typeface="Montserrat" pitchFamily="34" charset="-122"/>
                <a:cs typeface="Montserrat" pitchFamily="34" charset="-120"/>
              </a:rPr>
              <a:t>A Robust Pixel-Level Interpretability in</a:t>
            </a:r>
            <a:endParaRPr lang="en-US" sz="3300" dirty="0"/>
          </a:p>
          <a:p>
            <a:pPr marL="0" indent="0" algn="ctr">
              <a:lnSpc>
                <a:spcPct val="112000"/>
              </a:lnSpc>
              <a:buNone/>
            </a:pPr>
            <a:r>
              <a:rPr lang="en-US" sz="3300" b="1" dirty="0">
                <a:solidFill>
                  <a:srgbClr val="FFFFFF"/>
                </a:solidFill>
                <a:latin typeface="Montserrat" pitchFamily="34" charset="0"/>
                <a:ea typeface="Montserrat" pitchFamily="34" charset="-122"/>
                <a:cs typeface="Montserrat" pitchFamily="34" charset="-120"/>
              </a:rPr>
              <a:t>OCT-based Retinal Disease Classification</a:t>
            </a:r>
            <a:endParaRPr lang="en-US" sz="3300" dirty="0"/>
          </a:p>
        </p:txBody>
      </p:sp>
      <p:sp>
        <p:nvSpPr>
          <p:cNvPr id="9" name="Shape 6"/>
          <p:cNvSpPr/>
          <p:nvPr/>
        </p:nvSpPr>
        <p:spPr>
          <a:xfrm>
            <a:off x="5113020" y="2289048"/>
            <a:ext cx="2313432" cy="384048"/>
          </a:xfrm>
          <a:prstGeom prst="roundRect">
            <a:avLst>
              <a:gd name="adj" fmla="val 50000"/>
            </a:avLst>
          </a:prstGeom>
          <a:solidFill>
            <a:srgbClr val="12466E"/>
          </a:solidFill>
          <a:ln w="12700">
            <a:solidFill>
              <a:srgbClr val="3E77A6"/>
            </a:solidFill>
            <a:prstDash val="solid"/>
          </a:ln>
        </p:spPr>
        <p:txBody>
          <a:bodyPr/>
          <a:lstStyle/>
          <a:p>
            <a:endParaRPr lang="en-US"/>
          </a:p>
        </p:txBody>
      </p:sp>
      <p:sp>
        <p:nvSpPr>
          <p:cNvPr id="10" name="Text 7"/>
          <p:cNvSpPr/>
          <p:nvPr/>
        </p:nvSpPr>
        <p:spPr>
          <a:xfrm>
            <a:off x="5129784" y="2301240"/>
            <a:ext cx="2313432" cy="384048"/>
          </a:xfrm>
          <a:prstGeom prst="rect">
            <a:avLst/>
          </a:prstGeom>
          <a:noFill/>
          <a:ln/>
        </p:spPr>
        <p:txBody>
          <a:bodyPr wrap="square" rtlCol="0" anchor="ctr"/>
          <a:lstStyle/>
          <a:p>
            <a:pPr marL="0" indent="0" algn="ctr">
              <a:buNone/>
            </a:pPr>
            <a:r>
              <a:rPr lang="en-US" sz="1050" b="1" kern="0" spc="100" dirty="0">
                <a:solidFill>
                  <a:srgbClr val="CFE0EE"/>
                </a:solidFill>
                <a:latin typeface="Roboto" pitchFamily="34" charset="0"/>
                <a:ea typeface="Roboto" pitchFamily="34" charset="-122"/>
                <a:cs typeface="Roboto" pitchFamily="34" charset="-120"/>
              </a:rPr>
              <a:t>RESEARCH PROJECT (FYUGP)</a:t>
            </a:r>
            <a:endParaRPr lang="en-US" sz="1050" dirty="0"/>
          </a:p>
        </p:txBody>
      </p:sp>
      <p:sp>
        <p:nvSpPr>
          <p:cNvPr id="11" name="Text 8"/>
          <p:cNvSpPr/>
          <p:nvPr/>
        </p:nvSpPr>
        <p:spPr>
          <a:xfrm>
            <a:off x="1792225" y="2872740"/>
            <a:ext cx="4389120" cy="256032"/>
          </a:xfrm>
          <a:prstGeom prst="rect">
            <a:avLst/>
          </a:prstGeom>
          <a:noFill/>
          <a:ln/>
        </p:spPr>
        <p:txBody>
          <a:bodyPr wrap="square" rtlCol="0" anchor="ctr"/>
          <a:lstStyle/>
          <a:p>
            <a:pPr marL="0" indent="0" algn="ctr">
              <a:buNone/>
            </a:pPr>
            <a:r>
              <a:rPr lang="en-US" sz="1000" b="1" kern="0" spc="150" dirty="0">
                <a:solidFill>
                  <a:srgbClr val="7FA8C9"/>
                </a:solidFill>
                <a:latin typeface="Roboto" pitchFamily="34" charset="0"/>
                <a:ea typeface="Roboto" pitchFamily="34" charset="-122"/>
                <a:cs typeface="Roboto" pitchFamily="34" charset="-120"/>
              </a:rPr>
              <a:t>PRESENTED BY</a:t>
            </a:r>
            <a:endParaRPr lang="en-US" sz="1000" dirty="0"/>
          </a:p>
        </p:txBody>
      </p:sp>
      <p:sp>
        <p:nvSpPr>
          <p:cNvPr id="12" name="Text 9"/>
          <p:cNvSpPr/>
          <p:nvPr/>
        </p:nvSpPr>
        <p:spPr>
          <a:xfrm>
            <a:off x="2606040" y="3162300"/>
            <a:ext cx="4389120" cy="640080"/>
          </a:xfrm>
          <a:prstGeom prst="rect">
            <a:avLst/>
          </a:prstGeom>
          <a:noFill/>
          <a:ln/>
        </p:spPr>
        <p:txBody>
          <a:bodyPr wrap="square" rtlCol="0" anchor="ctr"/>
          <a:lstStyle/>
          <a:p>
            <a:pPr marL="0" indent="0">
              <a:lnSpc>
                <a:spcPct val="130000"/>
              </a:lnSpc>
              <a:buNone/>
            </a:pPr>
            <a:r>
              <a:rPr lang="en-US" sz="1450" dirty="0">
                <a:solidFill>
                  <a:srgbClr val="FFFFFF"/>
                </a:solidFill>
                <a:latin typeface="Times New Roman" pitchFamily="34" charset="0"/>
                <a:ea typeface="Times New Roman" pitchFamily="34" charset="-122"/>
                <a:cs typeface="Times New Roman" pitchFamily="34" charset="-120"/>
              </a:rPr>
              <a:t>Asgar Rashid  (12600-BJB-2021)</a:t>
            </a:r>
            <a:endParaRPr lang="en-US" sz="1450" dirty="0"/>
          </a:p>
          <a:p>
            <a:pPr marL="0" indent="0">
              <a:lnSpc>
                <a:spcPct val="130000"/>
              </a:lnSpc>
              <a:buNone/>
            </a:pPr>
            <a:r>
              <a:rPr lang="en-US" sz="1450" dirty="0">
                <a:solidFill>
                  <a:srgbClr val="FFFFFF"/>
                </a:solidFill>
                <a:latin typeface="Times New Roman" pitchFamily="34" charset="0"/>
                <a:ea typeface="Times New Roman" pitchFamily="34" charset="-122"/>
                <a:cs typeface="Times New Roman" pitchFamily="34" charset="-120"/>
              </a:rPr>
              <a:t>Faisal Ahmad Malik  (65275-ANG-2022)</a:t>
            </a:r>
            <a:endParaRPr lang="en-US" sz="1450" dirty="0"/>
          </a:p>
        </p:txBody>
      </p:sp>
      <p:sp>
        <p:nvSpPr>
          <p:cNvPr id="13" name="Shape 10"/>
          <p:cNvSpPr/>
          <p:nvPr/>
        </p:nvSpPr>
        <p:spPr>
          <a:xfrm>
            <a:off x="6519672" y="2843784"/>
            <a:ext cx="0" cy="914400"/>
          </a:xfrm>
          <a:prstGeom prst="line">
            <a:avLst/>
          </a:prstGeom>
          <a:noFill/>
          <a:ln w="12700">
            <a:solidFill>
              <a:srgbClr val="2E6690"/>
            </a:solidFill>
            <a:prstDash val="solid"/>
          </a:ln>
        </p:spPr>
        <p:txBody>
          <a:bodyPr/>
          <a:lstStyle/>
          <a:p>
            <a:endParaRPr lang="en-US" dirty="0"/>
          </a:p>
        </p:txBody>
      </p:sp>
      <p:sp>
        <p:nvSpPr>
          <p:cNvPr id="14" name="Text 11"/>
          <p:cNvSpPr/>
          <p:nvPr/>
        </p:nvSpPr>
        <p:spPr>
          <a:xfrm>
            <a:off x="6690360" y="2883408"/>
            <a:ext cx="4389120" cy="256032"/>
          </a:xfrm>
          <a:prstGeom prst="rect">
            <a:avLst/>
          </a:prstGeom>
          <a:noFill/>
          <a:ln/>
        </p:spPr>
        <p:txBody>
          <a:bodyPr wrap="square" rtlCol="0" anchor="ctr"/>
          <a:lstStyle/>
          <a:p>
            <a:pPr marL="0" indent="0" algn="ctr">
              <a:buNone/>
            </a:pPr>
            <a:r>
              <a:rPr lang="en-US" sz="1000" b="1" kern="0" spc="150" dirty="0">
                <a:solidFill>
                  <a:srgbClr val="7FA8C9"/>
                </a:solidFill>
                <a:latin typeface="Roboto" pitchFamily="34" charset="0"/>
                <a:ea typeface="Roboto" pitchFamily="34" charset="-122"/>
                <a:cs typeface="Roboto" pitchFamily="34" charset="-120"/>
              </a:rPr>
              <a:t>UNDER THE SUPERVISION OF</a:t>
            </a:r>
            <a:endParaRPr lang="en-US" sz="1000" dirty="0"/>
          </a:p>
        </p:txBody>
      </p:sp>
      <p:sp>
        <p:nvSpPr>
          <p:cNvPr id="15" name="Text 12"/>
          <p:cNvSpPr/>
          <p:nvPr/>
        </p:nvSpPr>
        <p:spPr>
          <a:xfrm>
            <a:off x="7680960" y="3148584"/>
            <a:ext cx="4389120" cy="640080"/>
          </a:xfrm>
          <a:prstGeom prst="rect">
            <a:avLst/>
          </a:prstGeom>
          <a:noFill/>
          <a:ln/>
        </p:spPr>
        <p:txBody>
          <a:bodyPr wrap="square" rtlCol="0" anchor="ctr"/>
          <a:lstStyle/>
          <a:p>
            <a:pPr marL="0" indent="0">
              <a:lnSpc>
                <a:spcPct val="130000"/>
              </a:lnSpc>
              <a:buNone/>
            </a:pPr>
            <a:r>
              <a:rPr lang="en-US" sz="1550" dirty="0">
                <a:solidFill>
                  <a:srgbClr val="FFFFFF"/>
                </a:solidFill>
                <a:latin typeface="Times New Roman" pitchFamily="34" charset="0"/>
                <a:ea typeface="Times New Roman" pitchFamily="34" charset="-122"/>
                <a:cs typeface="Times New Roman" pitchFamily="34" charset="-120"/>
              </a:rPr>
              <a:t>Dr. Tawseef Ahmed Teli  </a:t>
            </a:r>
            <a:r>
              <a:rPr lang="en-US" sz="1200" dirty="0">
                <a:solidFill>
                  <a:srgbClr val="FFFFFF"/>
                </a:solidFill>
                <a:latin typeface="Times New Roman" pitchFamily="34" charset="0"/>
                <a:ea typeface="Times New Roman" pitchFamily="34" charset="-122"/>
                <a:cs typeface="Times New Roman" pitchFamily="34" charset="-120"/>
              </a:rPr>
              <a:t> (Supervisor)</a:t>
            </a:r>
            <a:endParaRPr lang="en-US" sz="1550" dirty="0">
              <a:solidFill>
                <a:srgbClr val="FFFFFF"/>
              </a:solidFill>
              <a:latin typeface="Times New Roman" pitchFamily="34" charset="0"/>
              <a:ea typeface="Times New Roman" pitchFamily="34" charset="-122"/>
              <a:cs typeface="Times New Roman" pitchFamily="34" charset="-120"/>
            </a:endParaRPr>
          </a:p>
          <a:p>
            <a:pPr marL="0" indent="0">
              <a:lnSpc>
                <a:spcPct val="130000"/>
              </a:lnSpc>
              <a:buNone/>
            </a:pPr>
            <a:r>
              <a:rPr lang="en-US" sz="1550" dirty="0">
                <a:solidFill>
                  <a:srgbClr val="FFFFFF"/>
                </a:solidFill>
                <a:latin typeface="Times New Roman" pitchFamily="34" charset="0"/>
                <a:cs typeface="Times New Roman" pitchFamily="34" charset="-120"/>
              </a:rPr>
              <a:t>Prof. Ab Qayoom Sofi   </a:t>
            </a:r>
            <a:r>
              <a:rPr lang="en-US" sz="1200" dirty="0">
                <a:solidFill>
                  <a:srgbClr val="FFFFFF"/>
                </a:solidFill>
                <a:latin typeface="Times New Roman" pitchFamily="34" charset="0"/>
                <a:cs typeface="Times New Roman" pitchFamily="34" charset="-120"/>
              </a:rPr>
              <a:t>(Co-Supervisor)</a:t>
            </a:r>
            <a:endParaRPr lang="en-US" sz="15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OVERVIEW</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Outline</a:t>
            </a:r>
            <a:endParaRPr lang="en-US" sz="3000" dirty="0"/>
          </a:p>
        </p:txBody>
      </p:sp>
      <p:sp>
        <p:nvSpPr>
          <p:cNvPr id="4" name="Text 2"/>
          <p:cNvSpPr/>
          <p:nvPr/>
        </p:nvSpPr>
        <p:spPr>
          <a:xfrm>
            <a:off x="548640" y="1417320"/>
            <a:ext cx="777240" cy="786384"/>
          </a:xfrm>
          <a:prstGeom prst="rect">
            <a:avLst/>
          </a:prstGeom>
          <a:noFill/>
          <a:ln/>
        </p:spPr>
        <p:txBody>
          <a:bodyPr wrap="square" rtlCol="0" anchor="ctr"/>
          <a:lstStyle/>
          <a:p>
            <a:pPr marL="0" indent="0">
              <a:buNone/>
            </a:pPr>
            <a:r>
              <a:rPr lang="en-US" sz="2600" b="1" dirty="0">
                <a:solidFill>
                  <a:srgbClr val="C7D8E4"/>
                </a:solidFill>
                <a:latin typeface="Montserrat" pitchFamily="34" charset="0"/>
                <a:ea typeface="Montserrat" pitchFamily="34" charset="-122"/>
                <a:cs typeface="Montserrat" pitchFamily="34" charset="-120"/>
              </a:rPr>
              <a:t>01</a:t>
            </a:r>
            <a:endParaRPr lang="en-US" sz="2600" dirty="0"/>
          </a:p>
        </p:txBody>
      </p:sp>
      <p:sp>
        <p:nvSpPr>
          <p:cNvPr id="5" name="Text 3"/>
          <p:cNvSpPr/>
          <p:nvPr/>
        </p:nvSpPr>
        <p:spPr>
          <a:xfrm>
            <a:off x="1325880" y="1453896"/>
            <a:ext cx="4572000" cy="329184"/>
          </a:xfrm>
          <a:prstGeom prst="rect">
            <a:avLst/>
          </a:prstGeom>
          <a:noFill/>
          <a:ln/>
        </p:spPr>
        <p:txBody>
          <a:bodyPr wrap="square" rtlCol="0" anchor="ctr"/>
          <a:lstStyle/>
          <a:p>
            <a:pPr marL="0" indent="0">
              <a:buNone/>
            </a:pPr>
            <a:r>
              <a:rPr lang="en-US" sz="1550" b="1" dirty="0">
                <a:solidFill>
                  <a:srgbClr val="0B3A5D"/>
                </a:solidFill>
                <a:latin typeface="Times New Roman" pitchFamily="34" charset="0"/>
                <a:ea typeface="Times New Roman" pitchFamily="34" charset="-122"/>
                <a:cs typeface="Times New Roman" pitchFamily="34" charset="-120"/>
              </a:rPr>
              <a:t>Introduction</a:t>
            </a:r>
            <a:endParaRPr lang="en-US" sz="1550" dirty="0"/>
          </a:p>
        </p:txBody>
      </p:sp>
      <p:sp>
        <p:nvSpPr>
          <p:cNvPr id="6" name="Text 4"/>
          <p:cNvSpPr/>
          <p:nvPr/>
        </p:nvSpPr>
        <p:spPr>
          <a:xfrm>
            <a:off x="1325880" y="1801368"/>
            <a:ext cx="4572000" cy="310896"/>
          </a:xfrm>
          <a:prstGeom prst="rect">
            <a:avLst/>
          </a:prstGeom>
          <a:noFill/>
          <a:ln/>
        </p:spPr>
        <p:txBody>
          <a:bodyPr wrap="square" rtlCol="0" anchor="ctr"/>
          <a:lstStyle/>
          <a:p>
            <a:pPr marL="0" indent="0">
              <a:buNone/>
            </a:pPr>
            <a:r>
              <a:rPr lang="en-US" sz="1150" dirty="0">
                <a:solidFill>
                  <a:srgbClr val="5C7080"/>
                </a:solidFill>
                <a:latin typeface="Times New Roman" pitchFamily="34" charset="0"/>
                <a:ea typeface="Times New Roman" pitchFamily="34" charset="-122"/>
                <a:cs typeface="Times New Roman" pitchFamily="34" charset="-120"/>
              </a:rPr>
              <a:t>The eye, retina, retinal disease &amp; diagnosis</a:t>
            </a:r>
            <a:endParaRPr lang="en-US" sz="1150" dirty="0"/>
          </a:p>
        </p:txBody>
      </p:sp>
      <p:sp>
        <p:nvSpPr>
          <p:cNvPr id="7" name="Shape 5"/>
          <p:cNvSpPr/>
          <p:nvPr/>
        </p:nvSpPr>
        <p:spPr>
          <a:xfrm>
            <a:off x="548640" y="2240280"/>
            <a:ext cx="5349240" cy="0"/>
          </a:xfrm>
          <a:prstGeom prst="line">
            <a:avLst/>
          </a:prstGeom>
          <a:noFill/>
          <a:ln w="9525">
            <a:solidFill>
              <a:srgbClr val="DCE6EE"/>
            </a:solidFill>
            <a:prstDash val="solid"/>
          </a:ln>
        </p:spPr>
        <p:txBody>
          <a:bodyPr/>
          <a:lstStyle/>
          <a:p>
            <a:endParaRPr lang="en-US"/>
          </a:p>
        </p:txBody>
      </p:sp>
      <p:sp>
        <p:nvSpPr>
          <p:cNvPr id="8" name="Text 6"/>
          <p:cNvSpPr/>
          <p:nvPr/>
        </p:nvSpPr>
        <p:spPr>
          <a:xfrm>
            <a:off x="548640" y="2313432"/>
            <a:ext cx="777240" cy="786384"/>
          </a:xfrm>
          <a:prstGeom prst="rect">
            <a:avLst/>
          </a:prstGeom>
          <a:noFill/>
          <a:ln/>
        </p:spPr>
        <p:txBody>
          <a:bodyPr wrap="square" rtlCol="0" anchor="ctr"/>
          <a:lstStyle/>
          <a:p>
            <a:pPr marL="0" indent="0">
              <a:buNone/>
            </a:pPr>
            <a:r>
              <a:rPr lang="en-US" sz="2600" b="1" dirty="0">
                <a:solidFill>
                  <a:srgbClr val="C7D8E4"/>
                </a:solidFill>
                <a:latin typeface="Montserrat" pitchFamily="34" charset="0"/>
                <a:ea typeface="Montserrat" pitchFamily="34" charset="-122"/>
                <a:cs typeface="Montserrat" pitchFamily="34" charset="-120"/>
              </a:rPr>
              <a:t>02</a:t>
            </a:r>
            <a:endParaRPr lang="en-US" sz="2600" dirty="0"/>
          </a:p>
        </p:txBody>
      </p:sp>
      <p:sp>
        <p:nvSpPr>
          <p:cNvPr id="9" name="Text 7"/>
          <p:cNvSpPr/>
          <p:nvPr/>
        </p:nvSpPr>
        <p:spPr>
          <a:xfrm>
            <a:off x="1325880" y="2350008"/>
            <a:ext cx="4572000" cy="329184"/>
          </a:xfrm>
          <a:prstGeom prst="rect">
            <a:avLst/>
          </a:prstGeom>
          <a:noFill/>
          <a:ln/>
        </p:spPr>
        <p:txBody>
          <a:bodyPr wrap="square" rtlCol="0" anchor="ctr"/>
          <a:lstStyle/>
          <a:p>
            <a:pPr marL="0" indent="0">
              <a:buNone/>
            </a:pPr>
            <a:r>
              <a:rPr lang="en-US" sz="1550" b="1" dirty="0">
                <a:solidFill>
                  <a:srgbClr val="0B3A5D"/>
                </a:solidFill>
                <a:latin typeface="Times New Roman" pitchFamily="34" charset="0"/>
                <a:ea typeface="Times New Roman" pitchFamily="34" charset="-122"/>
                <a:cs typeface="Times New Roman" pitchFamily="34" charset="-120"/>
              </a:rPr>
              <a:t>Optical Coherence Tomography</a:t>
            </a:r>
            <a:endParaRPr lang="en-US" sz="1550" dirty="0"/>
          </a:p>
        </p:txBody>
      </p:sp>
      <p:sp>
        <p:nvSpPr>
          <p:cNvPr id="10" name="Text 8"/>
          <p:cNvSpPr/>
          <p:nvPr/>
        </p:nvSpPr>
        <p:spPr>
          <a:xfrm>
            <a:off x="1325880" y="2697480"/>
            <a:ext cx="4572000" cy="310896"/>
          </a:xfrm>
          <a:prstGeom prst="rect">
            <a:avLst/>
          </a:prstGeom>
          <a:noFill/>
          <a:ln/>
        </p:spPr>
        <p:txBody>
          <a:bodyPr wrap="square" rtlCol="0" anchor="ctr"/>
          <a:lstStyle/>
          <a:p>
            <a:pPr marL="0" indent="0">
              <a:buNone/>
            </a:pPr>
            <a:r>
              <a:rPr lang="en-US" sz="1150" dirty="0">
                <a:solidFill>
                  <a:srgbClr val="5C7080"/>
                </a:solidFill>
                <a:latin typeface="Times New Roman" pitchFamily="34" charset="0"/>
                <a:ea typeface="Times New Roman" pitchFamily="34" charset="-122"/>
                <a:cs typeface="Times New Roman" pitchFamily="34" charset="-120"/>
              </a:rPr>
              <a:t>How doctors image the retina</a:t>
            </a:r>
            <a:endParaRPr lang="en-US" sz="1150" dirty="0"/>
          </a:p>
        </p:txBody>
      </p:sp>
      <p:sp>
        <p:nvSpPr>
          <p:cNvPr id="11" name="Shape 9"/>
          <p:cNvSpPr/>
          <p:nvPr/>
        </p:nvSpPr>
        <p:spPr>
          <a:xfrm>
            <a:off x="548640" y="3136392"/>
            <a:ext cx="5349240" cy="0"/>
          </a:xfrm>
          <a:prstGeom prst="line">
            <a:avLst/>
          </a:prstGeom>
          <a:noFill/>
          <a:ln w="9525">
            <a:solidFill>
              <a:srgbClr val="DCE6EE"/>
            </a:solidFill>
            <a:prstDash val="solid"/>
          </a:ln>
        </p:spPr>
        <p:txBody>
          <a:bodyPr/>
          <a:lstStyle/>
          <a:p>
            <a:endParaRPr lang="en-US"/>
          </a:p>
        </p:txBody>
      </p:sp>
      <p:sp>
        <p:nvSpPr>
          <p:cNvPr id="12" name="Text 10"/>
          <p:cNvSpPr/>
          <p:nvPr/>
        </p:nvSpPr>
        <p:spPr>
          <a:xfrm>
            <a:off x="548640" y="3209544"/>
            <a:ext cx="777240" cy="786384"/>
          </a:xfrm>
          <a:prstGeom prst="rect">
            <a:avLst/>
          </a:prstGeom>
          <a:noFill/>
          <a:ln/>
        </p:spPr>
        <p:txBody>
          <a:bodyPr wrap="square" rtlCol="0" anchor="ctr"/>
          <a:lstStyle/>
          <a:p>
            <a:pPr marL="0" indent="0">
              <a:buNone/>
            </a:pPr>
            <a:r>
              <a:rPr lang="en-US" sz="2600" b="1" dirty="0">
                <a:solidFill>
                  <a:srgbClr val="C7D8E4"/>
                </a:solidFill>
                <a:latin typeface="Montserrat" pitchFamily="34" charset="0"/>
                <a:ea typeface="Montserrat" pitchFamily="34" charset="-122"/>
                <a:cs typeface="Montserrat" pitchFamily="34" charset="-120"/>
              </a:rPr>
              <a:t>03</a:t>
            </a:r>
            <a:endParaRPr lang="en-US" sz="2600" dirty="0"/>
          </a:p>
        </p:txBody>
      </p:sp>
      <p:sp>
        <p:nvSpPr>
          <p:cNvPr id="13" name="Text 11"/>
          <p:cNvSpPr/>
          <p:nvPr/>
        </p:nvSpPr>
        <p:spPr>
          <a:xfrm>
            <a:off x="1325880" y="3246120"/>
            <a:ext cx="4572000" cy="329184"/>
          </a:xfrm>
          <a:prstGeom prst="rect">
            <a:avLst/>
          </a:prstGeom>
          <a:noFill/>
          <a:ln/>
        </p:spPr>
        <p:txBody>
          <a:bodyPr wrap="square" rtlCol="0" anchor="ctr"/>
          <a:lstStyle/>
          <a:p>
            <a:pPr marL="0" indent="0">
              <a:buNone/>
            </a:pPr>
            <a:r>
              <a:rPr lang="en-US" sz="1550" b="1" dirty="0">
                <a:solidFill>
                  <a:srgbClr val="0B3A5D"/>
                </a:solidFill>
                <a:latin typeface="Times New Roman" pitchFamily="34" charset="0"/>
                <a:ea typeface="Times New Roman" pitchFamily="34" charset="-122"/>
                <a:cs typeface="Times New Roman" pitchFamily="34" charset="-120"/>
              </a:rPr>
              <a:t>Deep Learning + OCT</a:t>
            </a:r>
            <a:endParaRPr lang="en-US" sz="1550" dirty="0"/>
          </a:p>
        </p:txBody>
      </p:sp>
      <p:sp>
        <p:nvSpPr>
          <p:cNvPr id="14" name="Text 12"/>
          <p:cNvSpPr/>
          <p:nvPr/>
        </p:nvSpPr>
        <p:spPr>
          <a:xfrm>
            <a:off x="1325880" y="3593592"/>
            <a:ext cx="4572000" cy="310896"/>
          </a:xfrm>
          <a:prstGeom prst="rect">
            <a:avLst/>
          </a:prstGeom>
          <a:noFill/>
          <a:ln/>
        </p:spPr>
        <p:txBody>
          <a:bodyPr wrap="square" rtlCol="0" anchor="ctr"/>
          <a:lstStyle/>
          <a:p>
            <a:pPr marL="0" indent="0">
              <a:buNone/>
            </a:pPr>
            <a:r>
              <a:rPr lang="en-US" sz="1150" dirty="0">
                <a:solidFill>
                  <a:srgbClr val="5C7080"/>
                </a:solidFill>
                <a:latin typeface="Times New Roman" pitchFamily="34" charset="0"/>
                <a:ea typeface="Times New Roman" pitchFamily="34" charset="-122"/>
                <a:cs typeface="Times New Roman" pitchFamily="34" charset="-120"/>
              </a:rPr>
              <a:t>Automated, accurate — but opaque</a:t>
            </a:r>
            <a:endParaRPr lang="en-US" sz="1150" dirty="0"/>
          </a:p>
        </p:txBody>
      </p:sp>
      <p:sp>
        <p:nvSpPr>
          <p:cNvPr id="15" name="Shape 13"/>
          <p:cNvSpPr/>
          <p:nvPr/>
        </p:nvSpPr>
        <p:spPr>
          <a:xfrm>
            <a:off x="548640" y="4032504"/>
            <a:ext cx="5349240" cy="0"/>
          </a:xfrm>
          <a:prstGeom prst="line">
            <a:avLst/>
          </a:prstGeom>
          <a:noFill/>
          <a:ln w="9525">
            <a:solidFill>
              <a:srgbClr val="DCE6EE"/>
            </a:solidFill>
            <a:prstDash val="solid"/>
          </a:ln>
        </p:spPr>
        <p:txBody>
          <a:bodyPr/>
          <a:lstStyle/>
          <a:p>
            <a:endParaRPr lang="en-US"/>
          </a:p>
        </p:txBody>
      </p:sp>
      <p:sp>
        <p:nvSpPr>
          <p:cNvPr id="16" name="Text 14"/>
          <p:cNvSpPr/>
          <p:nvPr/>
        </p:nvSpPr>
        <p:spPr>
          <a:xfrm>
            <a:off x="548640" y="4105656"/>
            <a:ext cx="777240" cy="786384"/>
          </a:xfrm>
          <a:prstGeom prst="rect">
            <a:avLst/>
          </a:prstGeom>
          <a:noFill/>
          <a:ln/>
        </p:spPr>
        <p:txBody>
          <a:bodyPr wrap="square" rtlCol="0" anchor="ctr"/>
          <a:lstStyle/>
          <a:p>
            <a:pPr marL="0" indent="0">
              <a:buNone/>
            </a:pPr>
            <a:r>
              <a:rPr lang="en-US" sz="2600" b="1" dirty="0">
                <a:solidFill>
                  <a:srgbClr val="C7D8E4"/>
                </a:solidFill>
                <a:latin typeface="Montserrat" pitchFamily="34" charset="0"/>
                <a:ea typeface="Montserrat" pitchFamily="34" charset="-122"/>
                <a:cs typeface="Montserrat" pitchFamily="34" charset="-120"/>
              </a:rPr>
              <a:t>04</a:t>
            </a:r>
            <a:endParaRPr lang="en-US" sz="2600" dirty="0"/>
          </a:p>
        </p:txBody>
      </p:sp>
      <p:sp>
        <p:nvSpPr>
          <p:cNvPr id="17" name="Text 15"/>
          <p:cNvSpPr/>
          <p:nvPr/>
        </p:nvSpPr>
        <p:spPr>
          <a:xfrm>
            <a:off x="1325880" y="4142232"/>
            <a:ext cx="4572000" cy="329184"/>
          </a:xfrm>
          <a:prstGeom prst="rect">
            <a:avLst/>
          </a:prstGeom>
          <a:noFill/>
          <a:ln/>
        </p:spPr>
        <p:txBody>
          <a:bodyPr wrap="square" rtlCol="0" anchor="ctr"/>
          <a:lstStyle/>
          <a:p>
            <a:pPr marL="0" indent="0">
              <a:buNone/>
            </a:pPr>
            <a:r>
              <a:rPr lang="en-US" sz="1550" b="1" dirty="0">
                <a:solidFill>
                  <a:srgbClr val="0B3A5D"/>
                </a:solidFill>
                <a:latin typeface="Times New Roman" pitchFamily="34" charset="0"/>
                <a:ea typeface="Times New Roman" pitchFamily="34" charset="-122"/>
                <a:cs typeface="Times New Roman" pitchFamily="34" charset="-120"/>
              </a:rPr>
              <a:t>Problem Statement</a:t>
            </a:r>
            <a:endParaRPr lang="en-US" sz="1550" dirty="0"/>
          </a:p>
        </p:txBody>
      </p:sp>
      <p:sp>
        <p:nvSpPr>
          <p:cNvPr id="18" name="Text 16"/>
          <p:cNvSpPr/>
          <p:nvPr/>
        </p:nvSpPr>
        <p:spPr>
          <a:xfrm>
            <a:off x="1325880" y="4489704"/>
            <a:ext cx="4572000" cy="310896"/>
          </a:xfrm>
          <a:prstGeom prst="rect">
            <a:avLst/>
          </a:prstGeom>
          <a:noFill/>
          <a:ln/>
        </p:spPr>
        <p:txBody>
          <a:bodyPr wrap="square" rtlCol="0" anchor="ctr"/>
          <a:lstStyle/>
          <a:p>
            <a:pPr marL="0" indent="0">
              <a:buNone/>
            </a:pPr>
            <a:r>
              <a:rPr lang="en-US" sz="1150" dirty="0">
                <a:solidFill>
                  <a:srgbClr val="5C7080"/>
                </a:solidFill>
                <a:latin typeface="Times New Roman" pitchFamily="34" charset="0"/>
                <a:ea typeface="Times New Roman" pitchFamily="34" charset="-122"/>
                <a:cs typeface="Times New Roman" pitchFamily="34" charset="-120"/>
              </a:rPr>
              <a:t>The trust gap, how Grad-CAM works &amp; its limitations</a:t>
            </a:r>
            <a:endParaRPr lang="en-US" sz="1150" dirty="0"/>
          </a:p>
        </p:txBody>
      </p:sp>
      <p:sp>
        <p:nvSpPr>
          <p:cNvPr id="19" name="Shape 17"/>
          <p:cNvSpPr/>
          <p:nvPr/>
        </p:nvSpPr>
        <p:spPr>
          <a:xfrm>
            <a:off x="548640" y="4928616"/>
            <a:ext cx="5349240" cy="0"/>
          </a:xfrm>
          <a:prstGeom prst="line">
            <a:avLst/>
          </a:prstGeom>
          <a:noFill/>
          <a:ln w="9525">
            <a:solidFill>
              <a:srgbClr val="DCE6EE"/>
            </a:solidFill>
            <a:prstDash val="solid"/>
          </a:ln>
        </p:spPr>
        <p:txBody>
          <a:bodyPr/>
          <a:lstStyle/>
          <a:p>
            <a:endParaRPr lang="en-US"/>
          </a:p>
        </p:txBody>
      </p:sp>
      <p:sp>
        <p:nvSpPr>
          <p:cNvPr id="20" name="Text 18"/>
          <p:cNvSpPr/>
          <p:nvPr/>
        </p:nvSpPr>
        <p:spPr>
          <a:xfrm>
            <a:off x="548640" y="5001768"/>
            <a:ext cx="777240" cy="786384"/>
          </a:xfrm>
          <a:prstGeom prst="rect">
            <a:avLst/>
          </a:prstGeom>
          <a:noFill/>
          <a:ln/>
        </p:spPr>
        <p:txBody>
          <a:bodyPr wrap="square" rtlCol="0" anchor="ctr"/>
          <a:lstStyle/>
          <a:p>
            <a:pPr marL="0" indent="0">
              <a:buNone/>
            </a:pPr>
            <a:r>
              <a:rPr lang="en-US" sz="2600" b="1" dirty="0">
                <a:solidFill>
                  <a:srgbClr val="C7D8E4"/>
                </a:solidFill>
                <a:latin typeface="Montserrat" pitchFamily="34" charset="0"/>
                <a:ea typeface="Montserrat" pitchFamily="34" charset="-122"/>
                <a:cs typeface="Montserrat" pitchFamily="34" charset="-120"/>
              </a:rPr>
              <a:t>05</a:t>
            </a:r>
            <a:endParaRPr lang="en-US" sz="2600" dirty="0"/>
          </a:p>
        </p:txBody>
      </p:sp>
      <p:sp>
        <p:nvSpPr>
          <p:cNvPr id="21" name="Text 19"/>
          <p:cNvSpPr/>
          <p:nvPr/>
        </p:nvSpPr>
        <p:spPr>
          <a:xfrm>
            <a:off x="1325880" y="5038344"/>
            <a:ext cx="4572000" cy="329184"/>
          </a:xfrm>
          <a:prstGeom prst="rect">
            <a:avLst/>
          </a:prstGeom>
          <a:noFill/>
          <a:ln/>
        </p:spPr>
        <p:txBody>
          <a:bodyPr wrap="square" rtlCol="0" anchor="ctr"/>
          <a:lstStyle/>
          <a:p>
            <a:pPr marL="0" indent="0">
              <a:buNone/>
            </a:pPr>
            <a:r>
              <a:rPr lang="en-US" sz="1550" b="1" dirty="0">
                <a:solidFill>
                  <a:srgbClr val="0B3A5D"/>
                </a:solidFill>
                <a:latin typeface="Times New Roman" pitchFamily="34" charset="0"/>
                <a:ea typeface="Times New Roman" pitchFamily="34" charset="-122"/>
                <a:cs typeface="Times New Roman" pitchFamily="34" charset="-120"/>
              </a:rPr>
              <a:t>Research Gap</a:t>
            </a:r>
            <a:endParaRPr lang="en-US" sz="1550" dirty="0"/>
          </a:p>
        </p:txBody>
      </p:sp>
      <p:sp>
        <p:nvSpPr>
          <p:cNvPr id="22" name="Text 20"/>
          <p:cNvSpPr/>
          <p:nvPr/>
        </p:nvSpPr>
        <p:spPr>
          <a:xfrm>
            <a:off x="1325880" y="5385816"/>
            <a:ext cx="4572000" cy="310896"/>
          </a:xfrm>
          <a:prstGeom prst="rect">
            <a:avLst/>
          </a:prstGeom>
          <a:noFill/>
          <a:ln/>
        </p:spPr>
        <p:txBody>
          <a:bodyPr wrap="square" rtlCol="0" anchor="ctr"/>
          <a:lstStyle/>
          <a:p>
            <a:pPr marL="0" indent="0">
              <a:buNone/>
            </a:pPr>
            <a:r>
              <a:rPr lang="en-US" sz="1150" dirty="0">
                <a:solidFill>
                  <a:srgbClr val="5C7080"/>
                </a:solidFill>
                <a:latin typeface="Times New Roman" pitchFamily="34" charset="0"/>
                <a:ea typeface="Times New Roman" pitchFamily="34" charset="-122"/>
                <a:cs typeface="Times New Roman" pitchFamily="34" charset="-120"/>
              </a:rPr>
              <a:t>Four unresolved gaps in the literature</a:t>
            </a:r>
            <a:endParaRPr lang="en-US" sz="1150" dirty="0"/>
          </a:p>
        </p:txBody>
      </p:sp>
      <p:sp>
        <p:nvSpPr>
          <p:cNvPr id="23" name="Text 21"/>
          <p:cNvSpPr/>
          <p:nvPr/>
        </p:nvSpPr>
        <p:spPr>
          <a:xfrm>
            <a:off x="6217920" y="1417320"/>
            <a:ext cx="777240" cy="786384"/>
          </a:xfrm>
          <a:prstGeom prst="rect">
            <a:avLst/>
          </a:prstGeom>
          <a:noFill/>
          <a:ln/>
        </p:spPr>
        <p:txBody>
          <a:bodyPr wrap="square" rtlCol="0" anchor="ctr"/>
          <a:lstStyle/>
          <a:p>
            <a:pPr marL="0" indent="0">
              <a:buNone/>
            </a:pPr>
            <a:r>
              <a:rPr lang="en-US" sz="2600" b="1" dirty="0">
                <a:solidFill>
                  <a:srgbClr val="C7D8E4"/>
                </a:solidFill>
                <a:latin typeface="Montserrat" pitchFamily="34" charset="0"/>
                <a:ea typeface="Montserrat" pitchFamily="34" charset="-122"/>
                <a:cs typeface="Montserrat" pitchFamily="34" charset="-120"/>
              </a:rPr>
              <a:t>06</a:t>
            </a:r>
            <a:endParaRPr lang="en-US" sz="2600" dirty="0"/>
          </a:p>
        </p:txBody>
      </p:sp>
      <p:sp>
        <p:nvSpPr>
          <p:cNvPr id="24" name="Text 22"/>
          <p:cNvSpPr/>
          <p:nvPr/>
        </p:nvSpPr>
        <p:spPr>
          <a:xfrm>
            <a:off x="6995160" y="1453896"/>
            <a:ext cx="4572000" cy="329184"/>
          </a:xfrm>
          <a:prstGeom prst="rect">
            <a:avLst/>
          </a:prstGeom>
          <a:noFill/>
          <a:ln/>
        </p:spPr>
        <p:txBody>
          <a:bodyPr wrap="square" rtlCol="0" anchor="ctr"/>
          <a:lstStyle/>
          <a:p>
            <a:pPr marL="0" indent="0">
              <a:buNone/>
            </a:pPr>
            <a:r>
              <a:rPr lang="en-US" sz="1550" b="1" dirty="0">
                <a:solidFill>
                  <a:srgbClr val="0B3A5D"/>
                </a:solidFill>
                <a:latin typeface="Times New Roman" pitchFamily="34" charset="0"/>
                <a:ea typeface="Times New Roman" pitchFamily="34" charset="-122"/>
                <a:cs typeface="Times New Roman" pitchFamily="34" charset="-120"/>
              </a:rPr>
              <a:t>Proposed Methodology</a:t>
            </a:r>
            <a:endParaRPr lang="en-US" sz="1550" dirty="0"/>
          </a:p>
        </p:txBody>
      </p:sp>
      <p:sp>
        <p:nvSpPr>
          <p:cNvPr id="25" name="Text 23"/>
          <p:cNvSpPr/>
          <p:nvPr/>
        </p:nvSpPr>
        <p:spPr>
          <a:xfrm>
            <a:off x="6995160" y="1801368"/>
            <a:ext cx="4572000" cy="310896"/>
          </a:xfrm>
          <a:prstGeom prst="rect">
            <a:avLst/>
          </a:prstGeom>
          <a:noFill/>
          <a:ln/>
        </p:spPr>
        <p:txBody>
          <a:bodyPr wrap="square" rtlCol="0" anchor="ctr"/>
          <a:lstStyle/>
          <a:p>
            <a:pPr marL="0" indent="0">
              <a:buNone/>
            </a:pPr>
            <a:r>
              <a:rPr lang="en-US" sz="1150" dirty="0">
                <a:solidFill>
                  <a:srgbClr val="5C7080"/>
                </a:solidFill>
                <a:latin typeface="Times New Roman" pitchFamily="34" charset="0"/>
                <a:ea typeface="Times New Roman" pitchFamily="34" charset="-122"/>
                <a:cs typeface="Times New Roman" pitchFamily="34" charset="-120"/>
              </a:rPr>
              <a:t>Multi-Layer Fused Grad-CAM</a:t>
            </a:r>
            <a:endParaRPr lang="en-US" sz="1150" dirty="0"/>
          </a:p>
        </p:txBody>
      </p:sp>
      <p:sp>
        <p:nvSpPr>
          <p:cNvPr id="26" name="Shape 24"/>
          <p:cNvSpPr/>
          <p:nvPr/>
        </p:nvSpPr>
        <p:spPr>
          <a:xfrm>
            <a:off x="6217920" y="2240280"/>
            <a:ext cx="5349240" cy="0"/>
          </a:xfrm>
          <a:prstGeom prst="line">
            <a:avLst/>
          </a:prstGeom>
          <a:noFill/>
          <a:ln w="9525">
            <a:solidFill>
              <a:srgbClr val="DCE6EE"/>
            </a:solidFill>
            <a:prstDash val="solid"/>
          </a:ln>
        </p:spPr>
        <p:txBody>
          <a:bodyPr/>
          <a:lstStyle/>
          <a:p>
            <a:endParaRPr lang="en-US"/>
          </a:p>
        </p:txBody>
      </p:sp>
      <p:sp>
        <p:nvSpPr>
          <p:cNvPr id="27" name="Text 25"/>
          <p:cNvSpPr/>
          <p:nvPr/>
        </p:nvSpPr>
        <p:spPr>
          <a:xfrm>
            <a:off x="6217920" y="2313432"/>
            <a:ext cx="777240" cy="786384"/>
          </a:xfrm>
          <a:prstGeom prst="rect">
            <a:avLst/>
          </a:prstGeom>
          <a:noFill/>
          <a:ln/>
        </p:spPr>
        <p:txBody>
          <a:bodyPr wrap="square" rtlCol="0" anchor="ctr"/>
          <a:lstStyle/>
          <a:p>
            <a:pPr marL="0" indent="0">
              <a:buNone/>
            </a:pPr>
            <a:r>
              <a:rPr lang="en-US" sz="2600" b="1" dirty="0">
                <a:solidFill>
                  <a:srgbClr val="C7D8E4"/>
                </a:solidFill>
                <a:latin typeface="Montserrat" pitchFamily="34" charset="0"/>
                <a:ea typeface="Montserrat" pitchFamily="34" charset="-122"/>
                <a:cs typeface="Montserrat" pitchFamily="34" charset="-120"/>
              </a:rPr>
              <a:t>07</a:t>
            </a:r>
            <a:endParaRPr lang="en-US" sz="2600" dirty="0"/>
          </a:p>
        </p:txBody>
      </p:sp>
      <p:sp>
        <p:nvSpPr>
          <p:cNvPr id="28" name="Text 26"/>
          <p:cNvSpPr/>
          <p:nvPr/>
        </p:nvSpPr>
        <p:spPr>
          <a:xfrm>
            <a:off x="6995160" y="2350008"/>
            <a:ext cx="4572000" cy="329184"/>
          </a:xfrm>
          <a:prstGeom prst="rect">
            <a:avLst/>
          </a:prstGeom>
          <a:noFill/>
          <a:ln/>
        </p:spPr>
        <p:txBody>
          <a:bodyPr wrap="square" rtlCol="0" anchor="ctr"/>
          <a:lstStyle/>
          <a:p>
            <a:pPr marL="0" indent="0">
              <a:buNone/>
            </a:pPr>
            <a:r>
              <a:rPr lang="en-US" sz="1550" b="1" dirty="0">
                <a:solidFill>
                  <a:srgbClr val="0B3A5D"/>
                </a:solidFill>
                <a:latin typeface="Times New Roman" pitchFamily="34" charset="0"/>
                <a:ea typeface="Times New Roman" pitchFamily="34" charset="-122"/>
                <a:cs typeface="Times New Roman" pitchFamily="34" charset="-120"/>
              </a:rPr>
              <a:t>Results &amp; Evaluation</a:t>
            </a:r>
            <a:endParaRPr lang="en-US" sz="1550" dirty="0"/>
          </a:p>
        </p:txBody>
      </p:sp>
      <p:sp>
        <p:nvSpPr>
          <p:cNvPr id="29" name="Text 27"/>
          <p:cNvSpPr/>
          <p:nvPr/>
        </p:nvSpPr>
        <p:spPr>
          <a:xfrm>
            <a:off x="6995160" y="2697480"/>
            <a:ext cx="4572000" cy="310896"/>
          </a:xfrm>
          <a:prstGeom prst="rect">
            <a:avLst/>
          </a:prstGeom>
          <a:noFill/>
          <a:ln/>
        </p:spPr>
        <p:txBody>
          <a:bodyPr wrap="square" rtlCol="0" anchor="ctr"/>
          <a:lstStyle/>
          <a:p>
            <a:pPr marL="0" indent="0">
              <a:buNone/>
            </a:pPr>
            <a:r>
              <a:rPr lang="en-US" sz="1150" dirty="0">
                <a:solidFill>
                  <a:srgbClr val="5C7080"/>
                </a:solidFill>
                <a:latin typeface="Times New Roman" pitchFamily="34" charset="0"/>
                <a:ea typeface="Times New Roman" pitchFamily="34" charset="-122"/>
                <a:cs typeface="Times New Roman" pitchFamily="34" charset="-120"/>
              </a:rPr>
              <a:t>Robustness under SSIM testing</a:t>
            </a:r>
            <a:endParaRPr lang="en-US" sz="1150" dirty="0"/>
          </a:p>
        </p:txBody>
      </p:sp>
      <p:sp>
        <p:nvSpPr>
          <p:cNvPr id="30" name="Shape 28"/>
          <p:cNvSpPr/>
          <p:nvPr/>
        </p:nvSpPr>
        <p:spPr>
          <a:xfrm>
            <a:off x="6217920" y="3136392"/>
            <a:ext cx="5349240" cy="0"/>
          </a:xfrm>
          <a:prstGeom prst="line">
            <a:avLst/>
          </a:prstGeom>
          <a:noFill/>
          <a:ln w="9525">
            <a:solidFill>
              <a:srgbClr val="DCE6EE"/>
            </a:solidFill>
            <a:prstDash val="solid"/>
          </a:ln>
        </p:spPr>
        <p:txBody>
          <a:bodyPr/>
          <a:lstStyle/>
          <a:p>
            <a:endParaRPr lang="en-US"/>
          </a:p>
        </p:txBody>
      </p:sp>
      <p:sp>
        <p:nvSpPr>
          <p:cNvPr id="31" name="Text 29"/>
          <p:cNvSpPr/>
          <p:nvPr/>
        </p:nvSpPr>
        <p:spPr>
          <a:xfrm>
            <a:off x="6217920" y="3209544"/>
            <a:ext cx="777240" cy="786384"/>
          </a:xfrm>
          <a:prstGeom prst="rect">
            <a:avLst/>
          </a:prstGeom>
          <a:noFill/>
          <a:ln/>
        </p:spPr>
        <p:txBody>
          <a:bodyPr wrap="square" rtlCol="0" anchor="ctr"/>
          <a:lstStyle/>
          <a:p>
            <a:pPr marL="0" indent="0">
              <a:buNone/>
            </a:pPr>
            <a:r>
              <a:rPr lang="en-US" sz="2600" b="1" dirty="0">
                <a:solidFill>
                  <a:srgbClr val="C7D8E4"/>
                </a:solidFill>
                <a:latin typeface="Montserrat" pitchFamily="34" charset="0"/>
                <a:ea typeface="Montserrat" pitchFamily="34" charset="-122"/>
                <a:cs typeface="Montserrat" pitchFamily="34" charset="-120"/>
              </a:rPr>
              <a:t>08</a:t>
            </a:r>
            <a:endParaRPr lang="en-US" sz="2600" dirty="0"/>
          </a:p>
        </p:txBody>
      </p:sp>
      <p:sp>
        <p:nvSpPr>
          <p:cNvPr id="32" name="Text 30"/>
          <p:cNvSpPr/>
          <p:nvPr/>
        </p:nvSpPr>
        <p:spPr>
          <a:xfrm>
            <a:off x="6995160" y="3246120"/>
            <a:ext cx="4572000" cy="329184"/>
          </a:xfrm>
          <a:prstGeom prst="rect">
            <a:avLst/>
          </a:prstGeom>
          <a:noFill/>
          <a:ln/>
        </p:spPr>
        <p:txBody>
          <a:bodyPr wrap="square" rtlCol="0" anchor="ctr"/>
          <a:lstStyle/>
          <a:p>
            <a:pPr marL="0" indent="0">
              <a:buNone/>
            </a:pPr>
            <a:r>
              <a:rPr lang="en-US" sz="1550" b="1" dirty="0">
                <a:solidFill>
                  <a:srgbClr val="0B3A5D"/>
                </a:solidFill>
                <a:latin typeface="Times New Roman" pitchFamily="34" charset="0"/>
                <a:ea typeface="Times New Roman" pitchFamily="34" charset="-122"/>
                <a:cs typeface="Times New Roman" pitchFamily="34" charset="-120"/>
              </a:rPr>
              <a:t>Limitations &amp; Future Work</a:t>
            </a:r>
            <a:endParaRPr lang="en-US" sz="1550" dirty="0"/>
          </a:p>
        </p:txBody>
      </p:sp>
      <p:sp>
        <p:nvSpPr>
          <p:cNvPr id="33" name="Text 31"/>
          <p:cNvSpPr/>
          <p:nvPr/>
        </p:nvSpPr>
        <p:spPr>
          <a:xfrm>
            <a:off x="6995160" y="3593592"/>
            <a:ext cx="4572000" cy="310896"/>
          </a:xfrm>
          <a:prstGeom prst="rect">
            <a:avLst/>
          </a:prstGeom>
          <a:noFill/>
          <a:ln/>
        </p:spPr>
        <p:txBody>
          <a:bodyPr wrap="square" rtlCol="0" anchor="ctr"/>
          <a:lstStyle/>
          <a:p>
            <a:pPr marL="0" indent="0">
              <a:buNone/>
            </a:pPr>
            <a:r>
              <a:rPr lang="en-US" sz="1150" dirty="0">
                <a:solidFill>
                  <a:srgbClr val="5C7080"/>
                </a:solidFill>
                <a:latin typeface="Times New Roman" pitchFamily="34" charset="0"/>
                <a:ea typeface="Times New Roman" pitchFamily="34" charset="-122"/>
                <a:cs typeface="Times New Roman" pitchFamily="34" charset="-120"/>
              </a:rPr>
              <a:t>What's next</a:t>
            </a:r>
            <a:endParaRPr lang="en-US" sz="1150" dirty="0"/>
          </a:p>
        </p:txBody>
      </p:sp>
      <p:sp>
        <p:nvSpPr>
          <p:cNvPr id="34" name="Shape 32"/>
          <p:cNvSpPr/>
          <p:nvPr/>
        </p:nvSpPr>
        <p:spPr>
          <a:xfrm>
            <a:off x="6217920" y="4032504"/>
            <a:ext cx="5349240" cy="0"/>
          </a:xfrm>
          <a:prstGeom prst="line">
            <a:avLst/>
          </a:prstGeom>
          <a:noFill/>
          <a:ln w="9525">
            <a:solidFill>
              <a:srgbClr val="DCE6EE"/>
            </a:solidFill>
            <a:prstDash val="solid"/>
          </a:ln>
        </p:spPr>
        <p:txBody>
          <a:bodyPr/>
          <a:lstStyle/>
          <a:p>
            <a:endParaRPr lang="en-US"/>
          </a:p>
        </p:txBody>
      </p:sp>
      <p:sp>
        <p:nvSpPr>
          <p:cNvPr id="38" name="Shape 36"/>
          <p:cNvSpPr/>
          <p:nvPr/>
        </p:nvSpPr>
        <p:spPr>
          <a:xfrm>
            <a:off x="6217920" y="4928616"/>
            <a:ext cx="5349240" cy="0"/>
          </a:xfrm>
          <a:prstGeom prst="line">
            <a:avLst/>
          </a:prstGeom>
          <a:noFill/>
          <a:ln w="9525">
            <a:solidFill>
              <a:srgbClr val="DCE6EE"/>
            </a:solidFill>
            <a:prstDash val="solid"/>
          </a:ln>
        </p:spPr>
        <p:txBody>
          <a:bodyPr/>
          <a:lstStyle/>
          <a:p>
            <a:endParaRPr lang="en-US"/>
          </a:p>
        </p:txBody>
      </p:sp>
      <p:sp>
        <p:nvSpPr>
          <p:cNvPr id="39" name="Text 37"/>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1</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INTRODUCTION</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The Human Eye &amp; Retina</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01 · Introduction</a:t>
            </a:r>
            <a:endParaRPr lang="en-US" sz="1000" dirty="0"/>
          </a:p>
        </p:txBody>
      </p:sp>
      <p:sp>
        <p:nvSpPr>
          <p:cNvPr id="7" name="Shape 4"/>
          <p:cNvSpPr/>
          <p:nvPr/>
        </p:nvSpPr>
        <p:spPr>
          <a:xfrm>
            <a:off x="5989320" y="1417320"/>
            <a:ext cx="5623560" cy="4087368"/>
          </a:xfrm>
          <a:prstGeom prst="roundRect">
            <a:avLst>
              <a:gd name="adj" fmla="val 1342"/>
            </a:avLst>
          </a:prstGeom>
          <a:ln w="12700">
            <a:solidFill>
              <a:srgbClr val="DCE6EE"/>
            </a:solidFill>
            <a:prstDash val="solid"/>
          </a:ln>
        </p:spPr>
        <p:txBody>
          <a:bodyPr/>
          <a:lstStyle/>
          <a:p>
            <a:endParaRPr lang="en-US"/>
          </a:p>
        </p:txBody>
      </p:sp>
      <p:sp>
        <p:nvSpPr>
          <p:cNvPr id="8" name="Text 5"/>
          <p:cNvSpPr/>
          <p:nvPr/>
        </p:nvSpPr>
        <p:spPr>
          <a:xfrm>
            <a:off x="5989320" y="5532120"/>
            <a:ext cx="5623560" cy="256032"/>
          </a:xfrm>
          <a:prstGeom prst="rect">
            <a:avLst/>
          </a:prstGeom>
          <a:noFill/>
          <a:ln/>
        </p:spPr>
        <p:txBody>
          <a:bodyPr wrap="square" rtlCol="0" anchor="ctr"/>
          <a:lstStyle/>
          <a:p>
            <a:pPr marL="0" indent="0" algn="ctr">
              <a:buNone/>
            </a:pPr>
            <a:r>
              <a:rPr lang="en-US" sz="1000" i="1" dirty="0">
                <a:solidFill>
                  <a:srgbClr val="5C7080"/>
                </a:solidFill>
                <a:latin typeface="Times New Roman" pitchFamily="34" charset="0"/>
                <a:ea typeface="Times New Roman" pitchFamily="34" charset="-122"/>
                <a:cs typeface="Times New Roman" pitchFamily="34" charset="-120"/>
              </a:rPr>
              <a:t>Functional schematic of the human eye </a:t>
            </a:r>
            <a:endParaRPr lang="en-US" sz="1000" dirty="0"/>
          </a:p>
        </p:txBody>
      </p:sp>
      <p:sp>
        <p:nvSpPr>
          <p:cNvPr id="9" name="Shape 6"/>
          <p:cNvSpPr/>
          <p:nvPr/>
        </p:nvSpPr>
        <p:spPr>
          <a:xfrm>
            <a:off x="548640" y="2462784"/>
            <a:ext cx="146304" cy="146304"/>
          </a:xfrm>
          <a:prstGeom prst="ellipse">
            <a:avLst/>
          </a:prstGeom>
          <a:solidFill>
            <a:srgbClr val="2E86AB"/>
          </a:solidFill>
          <a:ln/>
        </p:spPr>
        <p:txBody>
          <a:bodyPr/>
          <a:lstStyle/>
          <a:p>
            <a:endParaRPr lang="en-US"/>
          </a:p>
        </p:txBody>
      </p:sp>
      <p:sp>
        <p:nvSpPr>
          <p:cNvPr id="10" name="Text 7"/>
          <p:cNvSpPr/>
          <p:nvPr/>
        </p:nvSpPr>
        <p:spPr>
          <a:xfrm>
            <a:off x="868680" y="2389632"/>
            <a:ext cx="4846320" cy="292608"/>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The retina</a:t>
            </a:r>
            <a:endParaRPr lang="en-US" sz="1500" dirty="0"/>
          </a:p>
        </p:txBody>
      </p:sp>
      <p:sp>
        <p:nvSpPr>
          <p:cNvPr id="11" name="Text 8"/>
          <p:cNvSpPr/>
          <p:nvPr/>
        </p:nvSpPr>
        <p:spPr>
          <a:xfrm>
            <a:off x="868680" y="2700528"/>
            <a:ext cx="4846320" cy="566928"/>
          </a:xfrm>
          <a:prstGeom prst="rect">
            <a:avLst/>
          </a:prstGeom>
          <a:noFill/>
          <a:ln/>
        </p:spPr>
        <p:txBody>
          <a:bodyPr wrap="square" rtlCol="0" anchor="ctr"/>
          <a:lstStyle/>
          <a:p>
            <a:pPr marL="0" indent="0">
              <a:lnSpc>
                <a:spcPct val="115000"/>
              </a:lnSpc>
              <a:buNone/>
            </a:pPr>
            <a:r>
              <a:rPr lang="en-US" sz="1200" dirty="0">
                <a:solidFill>
                  <a:srgbClr val="1B2A38"/>
                </a:solidFill>
                <a:latin typeface="Times New Roman" pitchFamily="34" charset="0"/>
                <a:ea typeface="Times New Roman" pitchFamily="34" charset="-122"/>
                <a:cs typeface="Times New Roman" pitchFamily="34" charset="-120"/>
              </a:rPr>
              <a:t>A light-sensitive tissue layer located at the back of the eye that converts light into neural signals sent to the brain.</a:t>
            </a:r>
            <a:endParaRPr lang="en-US" sz="1200" dirty="0"/>
          </a:p>
        </p:txBody>
      </p:sp>
      <p:sp>
        <p:nvSpPr>
          <p:cNvPr id="12" name="Shape 9"/>
          <p:cNvSpPr/>
          <p:nvPr/>
        </p:nvSpPr>
        <p:spPr>
          <a:xfrm>
            <a:off x="548640" y="3669792"/>
            <a:ext cx="146304" cy="146304"/>
          </a:xfrm>
          <a:prstGeom prst="ellipse">
            <a:avLst/>
          </a:prstGeom>
          <a:solidFill>
            <a:srgbClr val="2E86AB"/>
          </a:solidFill>
          <a:ln/>
        </p:spPr>
        <p:txBody>
          <a:bodyPr/>
          <a:lstStyle/>
          <a:p>
            <a:endParaRPr lang="en-US"/>
          </a:p>
        </p:txBody>
      </p:sp>
      <p:sp>
        <p:nvSpPr>
          <p:cNvPr id="13" name="Text 10"/>
          <p:cNvSpPr/>
          <p:nvPr/>
        </p:nvSpPr>
        <p:spPr>
          <a:xfrm>
            <a:off x="868680" y="3596640"/>
            <a:ext cx="4846320" cy="292608"/>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Why is the retina important?</a:t>
            </a:r>
            <a:endParaRPr lang="en-US" sz="1500" dirty="0"/>
          </a:p>
        </p:txBody>
      </p:sp>
      <p:sp>
        <p:nvSpPr>
          <p:cNvPr id="14" name="Text 11"/>
          <p:cNvSpPr/>
          <p:nvPr/>
        </p:nvSpPr>
        <p:spPr>
          <a:xfrm>
            <a:off x="868680" y="3907536"/>
            <a:ext cx="4846320" cy="566928"/>
          </a:xfrm>
          <a:prstGeom prst="rect">
            <a:avLst/>
          </a:prstGeom>
          <a:noFill/>
          <a:ln/>
        </p:spPr>
        <p:txBody>
          <a:bodyPr wrap="square" rtlCol="0" anchor="ctr"/>
          <a:lstStyle/>
          <a:p>
            <a:pPr marL="0" indent="0">
              <a:lnSpc>
                <a:spcPct val="115000"/>
              </a:lnSpc>
              <a:buNone/>
            </a:pPr>
            <a:r>
              <a:rPr lang="en-US" sz="1200" dirty="0">
                <a:solidFill>
                  <a:srgbClr val="1B2A38"/>
                </a:solidFill>
                <a:latin typeface="Times New Roman" pitchFamily="34" charset="0"/>
                <a:ea typeface="Times New Roman" pitchFamily="34" charset="-122"/>
                <a:cs typeface="Times New Roman" pitchFamily="34" charset="-120"/>
              </a:rPr>
              <a:t>It is the eye's core sensor ; any damage to its structure directly threatens vision.</a:t>
            </a:r>
            <a:endParaRPr lang="en-US" sz="1200" dirty="0"/>
          </a:p>
        </p:txBody>
      </p:sp>
      <p:sp>
        <p:nvSpPr>
          <p:cNvPr id="15" name="Shape 12"/>
          <p:cNvSpPr/>
          <p:nvPr/>
        </p:nvSpPr>
        <p:spPr>
          <a:xfrm>
            <a:off x="655346" y="4962144"/>
            <a:ext cx="146304" cy="146304"/>
          </a:xfrm>
          <a:prstGeom prst="ellipse">
            <a:avLst/>
          </a:prstGeom>
          <a:solidFill>
            <a:srgbClr val="2E86AB"/>
          </a:solidFill>
          <a:ln/>
        </p:spPr>
        <p:txBody>
          <a:bodyPr/>
          <a:lstStyle/>
          <a:p>
            <a:endParaRPr lang="en-US"/>
          </a:p>
        </p:txBody>
      </p:sp>
      <p:sp>
        <p:nvSpPr>
          <p:cNvPr id="16" name="Text 13"/>
          <p:cNvSpPr/>
          <p:nvPr/>
        </p:nvSpPr>
        <p:spPr>
          <a:xfrm>
            <a:off x="975386" y="4888992"/>
            <a:ext cx="4846320" cy="292608"/>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When disease strikes</a:t>
            </a:r>
            <a:endParaRPr lang="en-US" sz="1500" dirty="0"/>
          </a:p>
        </p:txBody>
      </p:sp>
      <p:sp>
        <p:nvSpPr>
          <p:cNvPr id="17" name="Text 14"/>
          <p:cNvSpPr/>
          <p:nvPr/>
        </p:nvSpPr>
        <p:spPr>
          <a:xfrm>
            <a:off x="975386" y="5199888"/>
            <a:ext cx="4846320" cy="566928"/>
          </a:xfrm>
          <a:prstGeom prst="rect">
            <a:avLst/>
          </a:prstGeom>
          <a:noFill/>
          <a:ln/>
        </p:spPr>
        <p:txBody>
          <a:bodyPr wrap="square" rtlCol="0" anchor="ctr"/>
          <a:lstStyle/>
          <a:p>
            <a:pPr marL="0" indent="0">
              <a:lnSpc>
                <a:spcPct val="115000"/>
              </a:lnSpc>
              <a:buNone/>
            </a:pPr>
            <a:r>
              <a:rPr lang="en-US" sz="1200" dirty="0">
                <a:solidFill>
                  <a:srgbClr val="1B2A38"/>
                </a:solidFill>
                <a:latin typeface="Times New Roman" pitchFamily="34" charset="0"/>
                <a:ea typeface="Times New Roman" pitchFamily="34" charset="-122"/>
                <a:cs typeface="Times New Roman" pitchFamily="34" charset="-120"/>
              </a:rPr>
              <a:t>Retinal disorders are a leading cause of visual impairment, and can cause irreversible blindness if undetected.</a:t>
            </a:r>
            <a:endParaRPr lang="en-US" sz="1200" dirty="0"/>
          </a:p>
        </p:txBody>
      </p:sp>
      <p:sp>
        <p:nvSpPr>
          <p:cNvPr id="18" name="Text 15"/>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19" name="Text 16"/>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2</a:t>
            </a:r>
            <a:endParaRPr lang="en-US" sz="950" dirty="0"/>
          </a:p>
        </p:txBody>
      </p:sp>
      <p:pic>
        <p:nvPicPr>
          <p:cNvPr id="21" name="Picture 20">
            <a:extLst>
              <a:ext uri="{FF2B5EF4-FFF2-40B4-BE49-F238E27FC236}">
                <a16:creationId xmlns:a16="http://schemas.microsoft.com/office/drawing/2014/main" id="{437969A4-444D-408C-25DB-47846B448FA3}"/>
              </a:ext>
            </a:extLst>
          </p:cNvPr>
          <p:cNvPicPr>
            <a:picLocks noChangeAspect="1"/>
          </p:cNvPicPr>
          <p:nvPr/>
        </p:nvPicPr>
        <p:blipFill>
          <a:blip r:embed="rId3"/>
          <a:stretch>
            <a:fillRect/>
          </a:stretch>
        </p:blipFill>
        <p:spPr>
          <a:xfrm>
            <a:off x="6004508" y="1417320"/>
            <a:ext cx="5635804" cy="3904488"/>
          </a:xfrm>
          <a:prstGeom prst="rect">
            <a:avLst/>
          </a:prstGeom>
        </p:spPr>
      </p:pic>
      <p:sp>
        <p:nvSpPr>
          <p:cNvPr id="22" name="Shape 6">
            <a:extLst>
              <a:ext uri="{FF2B5EF4-FFF2-40B4-BE49-F238E27FC236}">
                <a16:creationId xmlns:a16="http://schemas.microsoft.com/office/drawing/2014/main" id="{E6B41D78-8630-F57E-99A6-2460C40D2EBC}"/>
              </a:ext>
            </a:extLst>
          </p:cNvPr>
          <p:cNvSpPr/>
          <p:nvPr/>
        </p:nvSpPr>
        <p:spPr>
          <a:xfrm>
            <a:off x="457200" y="1397508"/>
            <a:ext cx="146304" cy="146304"/>
          </a:xfrm>
          <a:prstGeom prst="ellipse">
            <a:avLst/>
          </a:prstGeom>
          <a:solidFill>
            <a:srgbClr val="2E86AB"/>
          </a:solidFill>
          <a:ln/>
        </p:spPr>
        <p:txBody>
          <a:bodyPr/>
          <a:lstStyle/>
          <a:p>
            <a:endParaRPr lang="en-US"/>
          </a:p>
        </p:txBody>
      </p:sp>
      <p:sp>
        <p:nvSpPr>
          <p:cNvPr id="23" name="Text 7">
            <a:extLst>
              <a:ext uri="{FF2B5EF4-FFF2-40B4-BE49-F238E27FC236}">
                <a16:creationId xmlns:a16="http://schemas.microsoft.com/office/drawing/2014/main" id="{444464AD-CE5A-8563-43CB-47523D40AEBE}"/>
              </a:ext>
            </a:extLst>
          </p:cNvPr>
          <p:cNvSpPr/>
          <p:nvPr/>
        </p:nvSpPr>
        <p:spPr>
          <a:xfrm>
            <a:off x="777240" y="1324356"/>
            <a:ext cx="4846320" cy="292608"/>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Human Eye</a:t>
            </a:r>
            <a:endParaRPr lang="en-US" sz="1500" dirty="0"/>
          </a:p>
        </p:txBody>
      </p:sp>
      <p:sp>
        <p:nvSpPr>
          <p:cNvPr id="24" name="Text 8">
            <a:extLst>
              <a:ext uri="{FF2B5EF4-FFF2-40B4-BE49-F238E27FC236}">
                <a16:creationId xmlns:a16="http://schemas.microsoft.com/office/drawing/2014/main" id="{A36B0884-08A7-B334-11BA-06CD622B0377}"/>
              </a:ext>
            </a:extLst>
          </p:cNvPr>
          <p:cNvSpPr/>
          <p:nvPr/>
        </p:nvSpPr>
        <p:spPr>
          <a:xfrm>
            <a:off x="777240" y="1635252"/>
            <a:ext cx="4846320" cy="566928"/>
          </a:xfrm>
          <a:prstGeom prst="rect">
            <a:avLst/>
          </a:prstGeom>
          <a:noFill/>
          <a:ln/>
        </p:spPr>
        <p:txBody>
          <a:bodyPr wrap="square" rtlCol="0" anchor="ctr"/>
          <a:lstStyle/>
          <a:p>
            <a:pPr marL="0" indent="0">
              <a:lnSpc>
                <a:spcPct val="115000"/>
              </a:lnSpc>
              <a:buNone/>
            </a:pPr>
            <a:r>
              <a:rPr lang="en-US" sz="1200" dirty="0">
                <a:solidFill>
                  <a:srgbClr val="1B2A38"/>
                </a:solidFill>
                <a:latin typeface="Times New Roman" pitchFamily="34" charset="0"/>
                <a:ea typeface="Times New Roman" pitchFamily="34" charset="-122"/>
                <a:cs typeface="Times New Roman" pitchFamily="34" charset="-120"/>
              </a:rPr>
              <a:t>Eye is an important sensory organ, enables us to see by capturing light from our surroundings.</a:t>
            </a:r>
            <a:endParaRPr lang="en-US" sz="12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INTRODUCTION</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Three Retinal Diseases</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01 · Introduction</a:t>
            </a:r>
            <a:endParaRPr lang="en-US" sz="1000" dirty="0"/>
          </a:p>
        </p:txBody>
      </p:sp>
      <p:sp>
        <p:nvSpPr>
          <p:cNvPr id="6" name="Text 4"/>
          <p:cNvSpPr/>
          <p:nvPr/>
        </p:nvSpPr>
        <p:spPr>
          <a:xfrm>
            <a:off x="548640" y="1170432"/>
            <a:ext cx="11064240" cy="274320"/>
          </a:xfrm>
          <a:prstGeom prst="rect">
            <a:avLst/>
          </a:prstGeom>
          <a:noFill/>
          <a:ln/>
        </p:spPr>
        <p:txBody>
          <a:bodyPr wrap="square" rtlCol="0" anchor="ctr"/>
          <a:lstStyle/>
          <a:p>
            <a:pPr marL="0" indent="0">
              <a:buNone/>
            </a:pPr>
            <a:r>
              <a:rPr lang="en-US" sz="1150" i="1" dirty="0">
                <a:solidFill>
                  <a:srgbClr val="5C7080"/>
                </a:solidFill>
                <a:latin typeface="Times New Roman" pitchFamily="34" charset="0"/>
                <a:ea typeface="Times New Roman" pitchFamily="34" charset="-122"/>
                <a:cs typeface="Times New Roman" pitchFamily="34" charset="-120"/>
              </a:rPr>
              <a:t>Representative OCT scans, shown with the disease region highlighted</a:t>
            </a:r>
            <a:endParaRPr lang="en-US" sz="1150" dirty="0"/>
          </a:p>
        </p:txBody>
      </p:sp>
      <p:sp>
        <p:nvSpPr>
          <p:cNvPr id="7" name="Shape 5"/>
          <p:cNvSpPr/>
          <p:nvPr/>
        </p:nvSpPr>
        <p:spPr>
          <a:xfrm>
            <a:off x="548640" y="1572768"/>
            <a:ext cx="3611880" cy="4160520"/>
          </a:xfrm>
          <a:prstGeom prst="roundRect">
            <a:avLst>
              <a:gd name="adj" fmla="val 2025"/>
            </a:avLst>
          </a:prstGeom>
          <a:solidFill>
            <a:srgbClr val="F4F8FB"/>
          </a:solidFill>
          <a:ln w="12700">
            <a:solidFill>
              <a:srgbClr val="DCE6EE"/>
            </a:solidFill>
            <a:prstDash val="solid"/>
          </a:ln>
          <a:effectLst>
            <a:outerShdw blurRad="76200" dist="25400" dir="5400000" algn="bl" rotWithShape="0">
              <a:srgbClr val="6B7C8C">
                <a:alpha val="18000"/>
              </a:srgbClr>
            </a:outerShdw>
          </a:effectLst>
        </p:spPr>
        <p:txBody>
          <a:bodyPr/>
          <a:lstStyle/>
          <a:p>
            <a:endParaRPr lang="en-US"/>
          </a:p>
        </p:txBody>
      </p:sp>
      <p:sp>
        <p:nvSpPr>
          <p:cNvPr id="9" name="Shape 6"/>
          <p:cNvSpPr/>
          <p:nvPr/>
        </p:nvSpPr>
        <p:spPr>
          <a:xfrm>
            <a:off x="731520" y="1755648"/>
            <a:ext cx="3246120" cy="1965960"/>
          </a:xfrm>
          <a:prstGeom prst="roundRect">
            <a:avLst/>
          </a:prstGeom>
          <a:ln w="19050">
            <a:solidFill>
              <a:srgbClr val="FFFFFF"/>
            </a:solidFill>
            <a:prstDash val="solid"/>
          </a:ln>
        </p:spPr>
        <p:txBody>
          <a:bodyPr/>
          <a:lstStyle/>
          <a:p>
            <a:endParaRPr lang="en-US"/>
          </a:p>
        </p:txBody>
      </p:sp>
      <p:sp>
        <p:nvSpPr>
          <p:cNvPr id="10" name="Text 7"/>
          <p:cNvSpPr/>
          <p:nvPr/>
        </p:nvSpPr>
        <p:spPr>
          <a:xfrm>
            <a:off x="777240" y="3858768"/>
            <a:ext cx="3154680" cy="365760"/>
          </a:xfrm>
          <a:prstGeom prst="rect">
            <a:avLst/>
          </a:prstGeom>
          <a:noFill/>
          <a:ln/>
        </p:spPr>
        <p:txBody>
          <a:bodyPr wrap="square" rtlCol="0" anchor="ctr"/>
          <a:lstStyle/>
          <a:p>
            <a:pPr marL="0" indent="0">
              <a:buNone/>
            </a:pPr>
            <a:r>
              <a:rPr lang="en-US" sz="2000" b="1" dirty="0">
                <a:solidFill>
                  <a:srgbClr val="0F4C81"/>
                </a:solidFill>
                <a:latin typeface="Montserrat" pitchFamily="34" charset="0"/>
                <a:ea typeface="Montserrat" pitchFamily="34" charset="-122"/>
                <a:cs typeface="Montserrat" pitchFamily="34" charset="-120"/>
              </a:rPr>
              <a:t>CNV</a:t>
            </a:r>
            <a:endParaRPr lang="en-US" sz="2000" dirty="0"/>
          </a:p>
        </p:txBody>
      </p:sp>
      <p:sp>
        <p:nvSpPr>
          <p:cNvPr id="11" name="Text 8"/>
          <p:cNvSpPr/>
          <p:nvPr/>
        </p:nvSpPr>
        <p:spPr>
          <a:xfrm>
            <a:off x="777240" y="4224528"/>
            <a:ext cx="3154680" cy="292608"/>
          </a:xfrm>
          <a:prstGeom prst="rect">
            <a:avLst/>
          </a:prstGeom>
          <a:noFill/>
          <a:ln/>
        </p:spPr>
        <p:txBody>
          <a:bodyPr wrap="square" rtlCol="0" anchor="ctr"/>
          <a:lstStyle/>
          <a:p>
            <a:pPr marL="0" indent="0">
              <a:buNone/>
            </a:pPr>
            <a:r>
              <a:rPr lang="en-US" sz="1150" b="1" dirty="0">
                <a:solidFill>
                  <a:srgbClr val="0B3A5D"/>
                </a:solidFill>
                <a:latin typeface="Times New Roman" pitchFamily="34" charset="0"/>
                <a:ea typeface="Times New Roman" pitchFamily="34" charset="-122"/>
                <a:cs typeface="Times New Roman" pitchFamily="34" charset="-120"/>
              </a:rPr>
              <a:t>Choroidal Neovascularization</a:t>
            </a:r>
            <a:endParaRPr lang="en-US" sz="1150" dirty="0"/>
          </a:p>
        </p:txBody>
      </p:sp>
      <p:sp>
        <p:nvSpPr>
          <p:cNvPr id="12" name="Text 9"/>
          <p:cNvSpPr/>
          <p:nvPr/>
        </p:nvSpPr>
        <p:spPr>
          <a:xfrm>
            <a:off x="777240" y="4535424"/>
            <a:ext cx="3154680" cy="1097280"/>
          </a:xfrm>
          <a:prstGeom prst="rect">
            <a:avLst/>
          </a:prstGeom>
          <a:noFill/>
          <a:ln/>
        </p:spPr>
        <p:txBody>
          <a:bodyPr wrap="square" rtlCol="0" anchor="ctr"/>
          <a:lstStyle/>
          <a:p>
            <a:pPr marL="0" indent="0">
              <a:lnSpc>
                <a:spcPct val="118000"/>
              </a:lnSpc>
              <a:buNone/>
            </a:pPr>
            <a:r>
              <a:rPr lang="en-US" sz="1150" dirty="0">
                <a:solidFill>
                  <a:srgbClr val="1B2A38"/>
                </a:solidFill>
                <a:latin typeface="Times New Roman" pitchFamily="34" charset="0"/>
                <a:ea typeface="Times New Roman" pitchFamily="34" charset="-122"/>
                <a:cs typeface="Times New Roman" pitchFamily="34" charset="-120"/>
              </a:rPr>
              <a:t>Abnormal new blood vessels grow beneath the retina. These vessels are fragile and may leak blood or fluid, leading to blurred or distorted vision.</a:t>
            </a:r>
            <a:endParaRPr lang="en-US" sz="1150" dirty="0"/>
          </a:p>
        </p:txBody>
      </p:sp>
      <p:sp>
        <p:nvSpPr>
          <p:cNvPr id="13" name="Shape 10"/>
          <p:cNvSpPr/>
          <p:nvPr/>
        </p:nvSpPr>
        <p:spPr>
          <a:xfrm>
            <a:off x="4379976" y="1572768"/>
            <a:ext cx="3611880" cy="4160520"/>
          </a:xfrm>
          <a:prstGeom prst="roundRect">
            <a:avLst>
              <a:gd name="adj" fmla="val 2025"/>
            </a:avLst>
          </a:prstGeom>
          <a:solidFill>
            <a:srgbClr val="F4F8FB"/>
          </a:solidFill>
          <a:ln w="12700">
            <a:solidFill>
              <a:srgbClr val="DCE6EE"/>
            </a:solidFill>
            <a:prstDash val="solid"/>
          </a:ln>
          <a:effectLst>
            <a:outerShdw blurRad="76200" dist="25400" dir="5400000" algn="bl" rotWithShape="0">
              <a:srgbClr val="6B7C8C">
                <a:alpha val="18000"/>
              </a:srgbClr>
            </a:outerShdw>
          </a:effectLst>
        </p:spPr>
        <p:txBody>
          <a:bodyPr/>
          <a:lstStyle/>
          <a:p>
            <a:endParaRPr lang="en-US"/>
          </a:p>
        </p:txBody>
      </p:sp>
      <p:sp>
        <p:nvSpPr>
          <p:cNvPr id="15" name="Shape 11"/>
          <p:cNvSpPr/>
          <p:nvPr/>
        </p:nvSpPr>
        <p:spPr>
          <a:xfrm>
            <a:off x="4562856" y="1755648"/>
            <a:ext cx="3246120" cy="1965960"/>
          </a:xfrm>
          <a:prstGeom prst="roundRect">
            <a:avLst/>
          </a:prstGeom>
          <a:ln w="19050">
            <a:solidFill>
              <a:srgbClr val="FFFFFF"/>
            </a:solidFill>
            <a:prstDash val="solid"/>
          </a:ln>
        </p:spPr>
        <p:txBody>
          <a:bodyPr/>
          <a:lstStyle/>
          <a:p>
            <a:endParaRPr lang="en-US"/>
          </a:p>
        </p:txBody>
      </p:sp>
      <p:sp>
        <p:nvSpPr>
          <p:cNvPr id="16" name="Text 12"/>
          <p:cNvSpPr/>
          <p:nvPr/>
        </p:nvSpPr>
        <p:spPr>
          <a:xfrm>
            <a:off x="4608576" y="3858768"/>
            <a:ext cx="3154680" cy="365760"/>
          </a:xfrm>
          <a:prstGeom prst="rect">
            <a:avLst/>
          </a:prstGeom>
          <a:noFill/>
          <a:ln/>
        </p:spPr>
        <p:txBody>
          <a:bodyPr wrap="square" rtlCol="0" anchor="ctr"/>
          <a:lstStyle/>
          <a:p>
            <a:pPr marL="0" indent="0">
              <a:buNone/>
            </a:pPr>
            <a:r>
              <a:rPr lang="en-US" sz="2000" b="1" dirty="0">
                <a:solidFill>
                  <a:srgbClr val="0F4C81"/>
                </a:solidFill>
                <a:latin typeface="Montserrat" pitchFamily="34" charset="0"/>
                <a:ea typeface="Montserrat" pitchFamily="34" charset="-122"/>
                <a:cs typeface="Montserrat" pitchFamily="34" charset="-120"/>
              </a:rPr>
              <a:t>DME</a:t>
            </a:r>
            <a:endParaRPr lang="en-US" sz="2000" dirty="0"/>
          </a:p>
        </p:txBody>
      </p:sp>
      <p:sp>
        <p:nvSpPr>
          <p:cNvPr id="17" name="Text 13"/>
          <p:cNvSpPr/>
          <p:nvPr/>
        </p:nvSpPr>
        <p:spPr>
          <a:xfrm>
            <a:off x="4608576" y="4224528"/>
            <a:ext cx="3154680" cy="292608"/>
          </a:xfrm>
          <a:prstGeom prst="rect">
            <a:avLst/>
          </a:prstGeom>
          <a:noFill/>
          <a:ln/>
        </p:spPr>
        <p:txBody>
          <a:bodyPr wrap="square" rtlCol="0" anchor="ctr"/>
          <a:lstStyle/>
          <a:p>
            <a:pPr marL="0" indent="0">
              <a:buNone/>
            </a:pPr>
            <a:r>
              <a:rPr lang="en-US" sz="1150" b="1" dirty="0">
                <a:solidFill>
                  <a:srgbClr val="0B3A5D"/>
                </a:solidFill>
                <a:latin typeface="Times New Roman" pitchFamily="34" charset="0"/>
                <a:ea typeface="Times New Roman" pitchFamily="34" charset="-122"/>
                <a:cs typeface="Times New Roman" pitchFamily="34" charset="-120"/>
              </a:rPr>
              <a:t>Diabetic Macular Edema</a:t>
            </a:r>
            <a:endParaRPr lang="en-US" sz="1150" dirty="0"/>
          </a:p>
        </p:txBody>
      </p:sp>
      <p:sp>
        <p:nvSpPr>
          <p:cNvPr id="18" name="Text 14"/>
          <p:cNvSpPr/>
          <p:nvPr/>
        </p:nvSpPr>
        <p:spPr>
          <a:xfrm>
            <a:off x="4608576" y="4535424"/>
            <a:ext cx="3154680" cy="1097280"/>
          </a:xfrm>
          <a:prstGeom prst="rect">
            <a:avLst/>
          </a:prstGeom>
          <a:noFill/>
          <a:ln/>
        </p:spPr>
        <p:txBody>
          <a:bodyPr wrap="square" rtlCol="0" anchor="ctr"/>
          <a:lstStyle/>
          <a:p>
            <a:pPr marL="0" indent="0">
              <a:lnSpc>
                <a:spcPct val="118000"/>
              </a:lnSpc>
              <a:buNone/>
            </a:pPr>
            <a:r>
              <a:rPr lang="en-US" sz="1150" dirty="0">
                <a:solidFill>
                  <a:srgbClr val="1B2A38"/>
                </a:solidFill>
                <a:latin typeface="Times New Roman" pitchFamily="34" charset="0"/>
                <a:ea typeface="Times New Roman" pitchFamily="34" charset="-122"/>
                <a:cs typeface="Times New Roman" pitchFamily="34" charset="-120"/>
              </a:rPr>
              <a:t>Occurs due to diabetes, where damaged retinal blood vessels leak fluid into the macula, causing swelling and reducing central vision.</a:t>
            </a:r>
            <a:endParaRPr lang="en-US" sz="1150" dirty="0"/>
          </a:p>
        </p:txBody>
      </p:sp>
      <p:sp>
        <p:nvSpPr>
          <p:cNvPr id="19" name="Shape 15"/>
          <p:cNvSpPr/>
          <p:nvPr/>
        </p:nvSpPr>
        <p:spPr>
          <a:xfrm>
            <a:off x="8211312" y="1572768"/>
            <a:ext cx="3611880" cy="4160520"/>
          </a:xfrm>
          <a:prstGeom prst="roundRect">
            <a:avLst>
              <a:gd name="adj" fmla="val 2025"/>
            </a:avLst>
          </a:prstGeom>
          <a:solidFill>
            <a:srgbClr val="F4F8FB"/>
          </a:solidFill>
          <a:ln w="12700">
            <a:solidFill>
              <a:srgbClr val="DCE6EE"/>
            </a:solidFill>
            <a:prstDash val="solid"/>
          </a:ln>
          <a:effectLst>
            <a:outerShdw blurRad="76200" dist="25400" dir="5400000" algn="bl" rotWithShape="0">
              <a:srgbClr val="6B7C8C">
                <a:alpha val="18000"/>
              </a:srgbClr>
            </a:outerShdw>
          </a:effectLst>
        </p:spPr>
        <p:txBody>
          <a:bodyPr/>
          <a:lstStyle/>
          <a:p>
            <a:endParaRPr lang="en-US"/>
          </a:p>
        </p:txBody>
      </p:sp>
      <p:sp>
        <p:nvSpPr>
          <p:cNvPr id="21" name="Shape 16"/>
          <p:cNvSpPr/>
          <p:nvPr/>
        </p:nvSpPr>
        <p:spPr>
          <a:xfrm>
            <a:off x="8394192" y="1755648"/>
            <a:ext cx="3246120" cy="1965960"/>
          </a:xfrm>
          <a:prstGeom prst="roundRect">
            <a:avLst/>
          </a:prstGeom>
          <a:ln w="19050">
            <a:solidFill>
              <a:srgbClr val="FFFFFF"/>
            </a:solidFill>
            <a:prstDash val="solid"/>
          </a:ln>
        </p:spPr>
        <p:txBody>
          <a:bodyPr/>
          <a:lstStyle/>
          <a:p>
            <a:endParaRPr lang="en-US"/>
          </a:p>
        </p:txBody>
      </p:sp>
      <p:sp>
        <p:nvSpPr>
          <p:cNvPr id="22" name="Text 17"/>
          <p:cNvSpPr/>
          <p:nvPr/>
        </p:nvSpPr>
        <p:spPr>
          <a:xfrm>
            <a:off x="8439912" y="3922776"/>
            <a:ext cx="3154680" cy="365760"/>
          </a:xfrm>
          <a:prstGeom prst="rect">
            <a:avLst/>
          </a:prstGeom>
          <a:noFill/>
          <a:ln/>
        </p:spPr>
        <p:txBody>
          <a:bodyPr wrap="square" rtlCol="0" anchor="ctr"/>
          <a:lstStyle/>
          <a:p>
            <a:pPr marL="0" indent="0">
              <a:buNone/>
            </a:pPr>
            <a:r>
              <a:rPr lang="en-US" sz="2000" b="1" dirty="0">
                <a:solidFill>
                  <a:srgbClr val="0F4C81"/>
                </a:solidFill>
                <a:latin typeface="Montserrat" pitchFamily="34" charset="0"/>
                <a:ea typeface="Montserrat" pitchFamily="34" charset="-122"/>
                <a:cs typeface="Montserrat" pitchFamily="34" charset="-120"/>
              </a:rPr>
              <a:t>DRUSEN</a:t>
            </a:r>
            <a:endParaRPr lang="en-US" sz="2000" dirty="0"/>
          </a:p>
        </p:txBody>
      </p:sp>
      <p:sp>
        <p:nvSpPr>
          <p:cNvPr id="23" name="Text 18"/>
          <p:cNvSpPr/>
          <p:nvPr/>
        </p:nvSpPr>
        <p:spPr>
          <a:xfrm>
            <a:off x="8439912" y="4224528"/>
            <a:ext cx="3154680" cy="292608"/>
          </a:xfrm>
          <a:prstGeom prst="rect">
            <a:avLst/>
          </a:prstGeom>
          <a:noFill/>
          <a:ln/>
        </p:spPr>
        <p:txBody>
          <a:bodyPr wrap="square" rtlCol="0" anchor="ctr"/>
          <a:lstStyle/>
          <a:p>
            <a:pPr marL="0" indent="0">
              <a:buNone/>
            </a:pPr>
            <a:r>
              <a:rPr lang="en-US" sz="1150" b="1" dirty="0">
                <a:solidFill>
                  <a:srgbClr val="0B3A5D"/>
                </a:solidFill>
                <a:latin typeface="Times New Roman" pitchFamily="34" charset="0"/>
                <a:ea typeface="Times New Roman" pitchFamily="34" charset="-122"/>
                <a:cs typeface="Times New Roman" pitchFamily="34" charset="-120"/>
              </a:rPr>
              <a:t>Drusen Deposits</a:t>
            </a:r>
            <a:endParaRPr lang="en-US" sz="1150" dirty="0"/>
          </a:p>
        </p:txBody>
      </p:sp>
      <p:sp>
        <p:nvSpPr>
          <p:cNvPr id="24" name="Text 19"/>
          <p:cNvSpPr/>
          <p:nvPr/>
        </p:nvSpPr>
        <p:spPr>
          <a:xfrm>
            <a:off x="8439912" y="4535424"/>
            <a:ext cx="3154680" cy="1097280"/>
          </a:xfrm>
          <a:prstGeom prst="rect">
            <a:avLst/>
          </a:prstGeom>
          <a:noFill/>
          <a:ln/>
        </p:spPr>
        <p:txBody>
          <a:bodyPr wrap="square" rtlCol="0" anchor="ctr"/>
          <a:lstStyle/>
          <a:p>
            <a:pPr>
              <a:lnSpc>
                <a:spcPct val="118000"/>
              </a:lnSpc>
            </a:pPr>
            <a:r>
              <a:rPr lang="en-IN" sz="1200" dirty="0"/>
              <a:t>yellow deposits made of proteins and lipids that accumulate beneath the retina</a:t>
            </a:r>
            <a:r>
              <a:rPr lang="en-US" sz="1150" dirty="0">
                <a:solidFill>
                  <a:srgbClr val="1B2A38"/>
                </a:solidFill>
                <a:latin typeface="Times New Roman" pitchFamily="34" charset="0"/>
                <a:ea typeface="Times New Roman" pitchFamily="34" charset="-122"/>
                <a:cs typeface="Times New Roman" pitchFamily="34" charset="-120"/>
              </a:rPr>
              <a:t>— an early warning sign of macular degeneration.</a:t>
            </a:r>
            <a:endParaRPr lang="en-US" sz="1150" dirty="0"/>
          </a:p>
        </p:txBody>
      </p:sp>
      <p:sp>
        <p:nvSpPr>
          <p:cNvPr id="25" name="Text 20"/>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26" name="Text 21"/>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3</a:t>
            </a:r>
            <a:endParaRPr lang="en-US" sz="950" dirty="0"/>
          </a:p>
        </p:txBody>
      </p:sp>
      <p:pic>
        <p:nvPicPr>
          <p:cNvPr id="1026" name="Picture 2" descr="What is Choroidal Neovascularization?">
            <a:extLst>
              <a:ext uri="{FF2B5EF4-FFF2-40B4-BE49-F238E27FC236}">
                <a16:creationId xmlns:a16="http://schemas.microsoft.com/office/drawing/2014/main" id="{9F4AC0DD-9B86-4F0F-B28D-57B1CF100C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1581912"/>
            <a:ext cx="3594100" cy="213969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comprehensive computer-aided system for an early-stage diagnosis and  classification of diabetic macular edema - ScienceDirect">
            <a:extLst>
              <a:ext uri="{FF2B5EF4-FFF2-40B4-BE49-F238E27FC236}">
                <a16:creationId xmlns:a16="http://schemas.microsoft.com/office/drawing/2014/main" id="{B4B3ACC4-8201-8A72-D53C-D8850D96CA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9121" y="1572768"/>
            <a:ext cx="3602736" cy="235915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acular Degeneration | Images of Retina with Drusen">
            <a:extLst>
              <a:ext uri="{FF2B5EF4-FFF2-40B4-BE49-F238E27FC236}">
                <a16:creationId xmlns:a16="http://schemas.microsoft.com/office/drawing/2014/main" id="{002C6166-7092-F7C4-62A2-19BBF3371AD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870"/>
          <a:stretch>
            <a:fillRect/>
          </a:stretch>
        </p:blipFill>
        <p:spPr bwMode="auto">
          <a:xfrm>
            <a:off x="8220456" y="1554481"/>
            <a:ext cx="3602736" cy="23774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DIAGNOSIS</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Diagnosing Retinal Diseases</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01 · Introduction</a:t>
            </a:r>
            <a:endParaRPr lang="en-US" sz="1000" dirty="0"/>
          </a:p>
        </p:txBody>
      </p:sp>
      <p:sp>
        <p:nvSpPr>
          <p:cNvPr id="6" name="Text 4"/>
          <p:cNvSpPr/>
          <p:nvPr/>
        </p:nvSpPr>
        <p:spPr>
          <a:xfrm>
            <a:off x="548640" y="1188720"/>
            <a:ext cx="11064240" cy="365760"/>
          </a:xfrm>
          <a:prstGeom prst="rect">
            <a:avLst/>
          </a:prstGeom>
          <a:noFill/>
          <a:ln/>
        </p:spPr>
        <p:txBody>
          <a:bodyPr wrap="square" rtlCol="0" anchor="ctr"/>
          <a:lstStyle/>
          <a:p>
            <a:pPr marL="0" indent="0">
              <a:buNone/>
            </a:pPr>
            <a:r>
              <a:rPr lang="en-US" sz="1350" i="1" dirty="0">
                <a:solidFill>
                  <a:srgbClr val="1B2A38"/>
                </a:solidFill>
                <a:latin typeface="Times New Roman" pitchFamily="34" charset="0"/>
                <a:ea typeface="Times New Roman" pitchFamily="34" charset="-122"/>
                <a:cs typeface="Times New Roman" pitchFamily="34" charset="-120"/>
              </a:rPr>
              <a:t>Not every imaging technique is suitable.</a:t>
            </a:r>
            <a:endParaRPr lang="en-US" sz="1350" dirty="0"/>
          </a:p>
        </p:txBody>
      </p:sp>
      <p:sp>
        <p:nvSpPr>
          <p:cNvPr id="7" name="Shape 5"/>
          <p:cNvSpPr/>
          <p:nvPr/>
        </p:nvSpPr>
        <p:spPr>
          <a:xfrm>
            <a:off x="548640" y="1691640"/>
            <a:ext cx="2651760" cy="2331720"/>
          </a:xfrm>
          <a:prstGeom prst="roundRect">
            <a:avLst>
              <a:gd name="adj" fmla="val 3529"/>
            </a:avLst>
          </a:prstGeom>
          <a:solidFill>
            <a:srgbClr val="F4F8FB"/>
          </a:solidFill>
          <a:ln w="12700">
            <a:solidFill>
              <a:srgbClr val="DCE6EE"/>
            </a:solidFill>
            <a:prstDash val="solid"/>
          </a:ln>
        </p:spPr>
        <p:txBody>
          <a:bodyPr/>
          <a:lstStyle/>
          <a:p>
            <a:endParaRPr lang="en-US"/>
          </a:p>
        </p:txBody>
      </p:sp>
      <p:sp>
        <p:nvSpPr>
          <p:cNvPr id="8" name="Shape 6"/>
          <p:cNvSpPr/>
          <p:nvPr/>
        </p:nvSpPr>
        <p:spPr>
          <a:xfrm>
            <a:off x="2688336" y="1874520"/>
            <a:ext cx="329184" cy="329184"/>
          </a:xfrm>
          <a:prstGeom prst="ellipse">
            <a:avLst/>
          </a:prstGeom>
          <a:solidFill>
            <a:srgbClr val="B23B3B"/>
          </a:solidFill>
          <a:ln/>
        </p:spPr>
        <p:txBody>
          <a:bodyPr/>
          <a:lstStyle/>
          <a:p>
            <a:endParaRPr lang="en-US"/>
          </a:p>
        </p:txBody>
      </p:sp>
      <p:sp>
        <p:nvSpPr>
          <p:cNvPr id="9" name="Text 7"/>
          <p:cNvSpPr/>
          <p:nvPr/>
        </p:nvSpPr>
        <p:spPr>
          <a:xfrm>
            <a:off x="2688336" y="1874520"/>
            <a:ext cx="329184" cy="329184"/>
          </a:xfrm>
          <a:prstGeom prst="rect">
            <a:avLst/>
          </a:prstGeom>
          <a:noFill/>
          <a:ln/>
        </p:spPr>
        <p:txBody>
          <a:bodyPr wrap="square"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a:t>
            </a:r>
            <a:endParaRPr lang="en-US" sz="1400" dirty="0"/>
          </a:p>
        </p:txBody>
      </p:sp>
      <p:sp>
        <p:nvSpPr>
          <p:cNvPr id="10" name="Text 8"/>
          <p:cNvSpPr/>
          <p:nvPr/>
        </p:nvSpPr>
        <p:spPr>
          <a:xfrm>
            <a:off x="731520" y="1929384"/>
            <a:ext cx="1920240" cy="502920"/>
          </a:xfrm>
          <a:prstGeom prst="rect">
            <a:avLst/>
          </a:prstGeom>
          <a:noFill/>
          <a:ln/>
        </p:spPr>
        <p:txBody>
          <a:bodyPr wrap="square" rtlCol="0" anchor="ctr"/>
          <a:lstStyle/>
          <a:p>
            <a:pPr marL="0" indent="0">
              <a:buNone/>
            </a:pPr>
            <a:r>
              <a:rPr lang="en-US" sz="1550" b="1" dirty="0">
                <a:solidFill>
                  <a:srgbClr val="0B3A5D"/>
                </a:solidFill>
                <a:latin typeface="Montserrat" pitchFamily="34" charset="0"/>
                <a:ea typeface="Montserrat" pitchFamily="34" charset="-122"/>
                <a:cs typeface="Montserrat" pitchFamily="34" charset="-120"/>
              </a:rPr>
              <a:t>X-Ray</a:t>
            </a:r>
            <a:endParaRPr lang="en-US" sz="1550" dirty="0"/>
          </a:p>
        </p:txBody>
      </p:sp>
      <p:sp>
        <p:nvSpPr>
          <p:cNvPr id="11" name="Text 9"/>
          <p:cNvSpPr/>
          <p:nvPr/>
        </p:nvSpPr>
        <p:spPr>
          <a:xfrm>
            <a:off x="731520" y="2532888"/>
            <a:ext cx="2286000" cy="1371600"/>
          </a:xfrm>
          <a:prstGeom prst="rect">
            <a:avLst/>
          </a:prstGeom>
          <a:noFill/>
          <a:ln/>
        </p:spPr>
        <p:txBody>
          <a:bodyPr wrap="square" rtlCol="0" anchor="ctr"/>
          <a:lstStyle/>
          <a:p>
            <a:pPr>
              <a:lnSpc>
                <a:spcPct val="122000"/>
              </a:lnSpc>
            </a:pPr>
            <a:r>
              <a:rPr lang="en-US" sz="1130" dirty="0">
                <a:solidFill>
                  <a:srgbClr val="1B2A38"/>
                </a:solidFill>
                <a:latin typeface="Times New Roman" pitchFamily="34" charset="0"/>
                <a:ea typeface="Times New Roman" pitchFamily="34" charset="-122"/>
                <a:cs typeface="Times New Roman" pitchFamily="34" charset="-120"/>
              </a:rPr>
              <a:t>Are mainly used for bones and dense tissues and cannot visualize the retina in sufficient detail.</a:t>
            </a:r>
            <a:endParaRPr lang="en-US" sz="1130" dirty="0"/>
          </a:p>
        </p:txBody>
      </p:sp>
      <p:sp>
        <p:nvSpPr>
          <p:cNvPr id="12" name="Shape 10"/>
          <p:cNvSpPr/>
          <p:nvPr/>
        </p:nvSpPr>
        <p:spPr>
          <a:xfrm>
            <a:off x="3383280" y="1691640"/>
            <a:ext cx="2651760" cy="2331720"/>
          </a:xfrm>
          <a:prstGeom prst="roundRect">
            <a:avLst>
              <a:gd name="adj" fmla="val 3529"/>
            </a:avLst>
          </a:prstGeom>
          <a:solidFill>
            <a:srgbClr val="F4F8FB"/>
          </a:solidFill>
          <a:ln w="12700">
            <a:solidFill>
              <a:srgbClr val="DCE6EE"/>
            </a:solidFill>
            <a:prstDash val="solid"/>
          </a:ln>
        </p:spPr>
        <p:txBody>
          <a:bodyPr/>
          <a:lstStyle/>
          <a:p>
            <a:endParaRPr lang="en-US"/>
          </a:p>
        </p:txBody>
      </p:sp>
      <p:sp>
        <p:nvSpPr>
          <p:cNvPr id="13" name="Shape 11"/>
          <p:cNvSpPr/>
          <p:nvPr/>
        </p:nvSpPr>
        <p:spPr>
          <a:xfrm>
            <a:off x="5522976" y="1874520"/>
            <a:ext cx="329184" cy="329184"/>
          </a:xfrm>
          <a:prstGeom prst="ellipse">
            <a:avLst/>
          </a:prstGeom>
          <a:solidFill>
            <a:srgbClr val="B23B3B"/>
          </a:solidFill>
          <a:ln/>
        </p:spPr>
        <p:txBody>
          <a:bodyPr/>
          <a:lstStyle/>
          <a:p>
            <a:endParaRPr lang="en-US"/>
          </a:p>
        </p:txBody>
      </p:sp>
      <p:sp>
        <p:nvSpPr>
          <p:cNvPr id="14" name="Text 12"/>
          <p:cNvSpPr/>
          <p:nvPr/>
        </p:nvSpPr>
        <p:spPr>
          <a:xfrm>
            <a:off x="5522976" y="1874520"/>
            <a:ext cx="329184" cy="329184"/>
          </a:xfrm>
          <a:prstGeom prst="rect">
            <a:avLst/>
          </a:prstGeom>
          <a:noFill/>
          <a:ln/>
        </p:spPr>
        <p:txBody>
          <a:bodyPr wrap="square"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a:t>
            </a:r>
            <a:endParaRPr lang="en-US" sz="1400" dirty="0"/>
          </a:p>
        </p:txBody>
      </p:sp>
      <p:sp>
        <p:nvSpPr>
          <p:cNvPr id="15" name="Text 13"/>
          <p:cNvSpPr/>
          <p:nvPr/>
        </p:nvSpPr>
        <p:spPr>
          <a:xfrm>
            <a:off x="3566160" y="1929384"/>
            <a:ext cx="1920240" cy="502920"/>
          </a:xfrm>
          <a:prstGeom prst="rect">
            <a:avLst/>
          </a:prstGeom>
          <a:noFill/>
          <a:ln/>
        </p:spPr>
        <p:txBody>
          <a:bodyPr wrap="square" rtlCol="0" anchor="ctr"/>
          <a:lstStyle/>
          <a:p>
            <a:pPr marL="0" indent="0">
              <a:buNone/>
            </a:pPr>
            <a:r>
              <a:rPr lang="en-US" sz="1550" b="1" dirty="0">
                <a:solidFill>
                  <a:srgbClr val="0B3A5D"/>
                </a:solidFill>
                <a:latin typeface="Montserrat" pitchFamily="34" charset="0"/>
                <a:ea typeface="Montserrat" pitchFamily="34" charset="-122"/>
                <a:cs typeface="Montserrat" pitchFamily="34" charset="-120"/>
              </a:rPr>
              <a:t>CT Scan</a:t>
            </a:r>
            <a:endParaRPr lang="en-US" sz="1550" dirty="0"/>
          </a:p>
        </p:txBody>
      </p:sp>
      <p:sp>
        <p:nvSpPr>
          <p:cNvPr id="16" name="Text 14"/>
          <p:cNvSpPr/>
          <p:nvPr/>
        </p:nvSpPr>
        <p:spPr>
          <a:xfrm>
            <a:off x="3566160" y="2532888"/>
            <a:ext cx="2286000" cy="1371600"/>
          </a:xfrm>
          <a:prstGeom prst="rect">
            <a:avLst/>
          </a:prstGeom>
          <a:noFill/>
          <a:ln/>
        </p:spPr>
        <p:txBody>
          <a:bodyPr wrap="square" rtlCol="0" anchor="ctr"/>
          <a:lstStyle/>
          <a:p>
            <a:pPr marL="0" indent="0">
              <a:lnSpc>
                <a:spcPct val="122000"/>
              </a:lnSpc>
              <a:buNone/>
            </a:pPr>
            <a:r>
              <a:rPr lang="en-US" sz="1130" dirty="0">
                <a:solidFill>
                  <a:srgbClr val="1B2A38"/>
                </a:solidFill>
                <a:latin typeface="Times New Roman" pitchFamily="34" charset="0"/>
                <a:ea typeface="Times New Roman" pitchFamily="34" charset="-122"/>
                <a:cs typeface="Times New Roman" pitchFamily="34" charset="-120"/>
              </a:rPr>
              <a:t>Built on X-ray principles ; it is good for bone, but insufficient resolution for retinal layers.</a:t>
            </a:r>
            <a:endParaRPr lang="en-US" sz="1130" dirty="0"/>
          </a:p>
        </p:txBody>
      </p:sp>
      <p:sp>
        <p:nvSpPr>
          <p:cNvPr id="17" name="Shape 15"/>
          <p:cNvSpPr/>
          <p:nvPr/>
        </p:nvSpPr>
        <p:spPr>
          <a:xfrm>
            <a:off x="6217920" y="1691640"/>
            <a:ext cx="2651760" cy="2331720"/>
          </a:xfrm>
          <a:prstGeom prst="roundRect">
            <a:avLst>
              <a:gd name="adj" fmla="val 3529"/>
            </a:avLst>
          </a:prstGeom>
          <a:solidFill>
            <a:srgbClr val="F4F8FB"/>
          </a:solidFill>
          <a:ln w="12700">
            <a:solidFill>
              <a:srgbClr val="DCE6EE"/>
            </a:solidFill>
            <a:prstDash val="solid"/>
          </a:ln>
        </p:spPr>
        <p:txBody>
          <a:bodyPr/>
          <a:lstStyle/>
          <a:p>
            <a:endParaRPr lang="en-US"/>
          </a:p>
        </p:txBody>
      </p:sp>
      <p:sp>
        <p:nvSpPr>
          <p:cNvPr id="18" name="Shape 16"/>
          <p:cNvSpPr/>
          <p:nvPr/>
        </p:nvSpPr>
        <p:spPr>
          <a:xfrm>
            <a:off x="8357616" y="1874520"/>
            <a:ext cx="329184" cy="329184"/>
          </a:xfrm>
          <a:prstGeom prst="ellipse">
            <a:avLst/>
          </a:prstGeom>
          <a:solidFill>
            <a:srgbClr val="B23B3B"/>
          </a:solidFill>
          <a:ln/>
        </p:spPr>
        <p:txBody>
          <a:bodyPr/>
          <a:lstStyle/>
          <a:p>
            <a:endParaRPr lang="en-US"/>
          </a:p>
        </p:txBody>
      </p:sp>
      <p:sp>
        <p:nvSpPr>
          <p:cNvPr id="19" name="Text 17"/>
          <p:cNvSpPr/>
          <p:nvPr/>
        </p:nvSpPr>
        <p:spPr>
          <a:xfrm>
            <a:off x="8357616" y="1874520"/>
            <a:ext cx="329184" cy="329184"/>
          </a:xfrm>
          <a:prstGeom prst="rect">
            <a:avLst/>
          </a:prstGeom>
          <a:noFill/>
          <a:ln/>
        </p:spPr>
        <p:txBody>
          <a:bodyPr wrap="square"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a:t>
            </a:r>
            <a:endParaRPr lang="en-US" sz="1400" dirty="0"/>
          </a:p>
        </p:txBody>
      </p:sp>
      <p:sp>
        <p:nvSpPr>
          <p:cNvPr id="20" name="Text 18"/>
          <p:cNvSpPr/>
          <p:nvPr/>
        </p:nvSpPr>
        <p:spPr>
          <a:xfrm>
            <a:off x="6400800" y="1929384"/>
            <a:ext cx="1920240" cy="502920"/>
          </a:xfrm>
          <a:prstGeom prst="rect">
            <a:avLst/>
          </a:prstGeom>
          <a:noFill/>
          <a:ln/>
        </p:spPr>
        <p:txBody>
          <a:bodyPr wrap="square" rtlCol="0" anchor="ctr"/>
          <a:lstStyle/>
          <a:p>
            <a:pPr marL="0" indent="0">
              <a:buNone/>
            </a:pPr>
            <a:r>
              <a:rPr lang="en-US" sz="1550" b="1" dirty="0">
                <a:solidFill>
                  <a:srgbClr val="0B3A5D"/>
                </a:solidFill>
                <a:latin typeface="Montserrat" pitchFamily="34" charset="0"/>
                <a:ea typeface="Montserrat" pitchFamily="34" charset="-122"/>
                <a:cs typeface="Montserrat" pitchFamily="34" charset="-120"/>
              </a:rPr>
              <a:t>USG (Ultrasound)</a:t>
            </a:r>
            <a:endParaRPr lang="en-US" sz="1550" dirty="0"/>
          </a:p>
        </p:txBody>
      </p:sp>
      <p:sp>
        <p:nvSpPr>
          <p:cNvPr id="21" name="Text 19"/>
          <p:cNvSpPr/>
          <p:nvPr/>
        </p:nvSpPr>
        <p:spPr>
          <a:xfrm>
            <a:off x="6400800" y="2532888"/>
            <a:ext cx="2286000" cy="1371600"/>
          </a:xfrm>
          <a:prstGeom prst="rect">
            <a:avLst/>
          </a:prstGeom>
          <a:noFill/>
          <a:ln/>
        </p:spPr>
        <p:txBody>
          <a:bodyPr wrap="square" rtlCol="0" anchor="ctr"/>
          <a:lstStyle/>
          <a:p>
            <a:pPr marL="0" indent="0">
              <a:lnSpc>
                <a:spcPct val="122000"/>
              </a:lnSpc>
              <a:buNone/>
            </a:pPr>
            <a:r>
              <a:rPr lang="en-US" sz="1130" dirty="0">
                <a:solidFill>
                  <a:srgbClr val="1B2A38"/>
                </a:solidFill>
                <a:latin typeface="Times New Roman" pitchFamily="34" charset="0"/>
                <a:ea typeface="Times New Roman" pitchFamily="34" charset="-122"/>
                <a:cs typeface="Times New Roman" pitchFamily="34" charset="-120"/>
              </a:rPr>
              <a:t>Uses sound waves and is useful for imaging the eye in some situations, but it cannot clearly show the delicate retinal layers.</a:t>
            </a:r>
            <a:endParaRPr lang="en-US" sz="1130" dirty="0"/>
          </a:p>
        </p:txBody>
      </p:sp>
      <p:sp>
        <p:nvSpPr>
          <p:cNvPr id="22" name="Shape 20"/>
          <p:cNvSpPr/>
          <p:nvPr/>
        </p:nvSpPr>
        <p:spPr>
          <a:xfrm>
            <a:off x="9052560" y="1691640"/>
            <a:ext cx="2651760" cy="2331720"/>
          </a:xfrm>
          <a:prstGeom prst="roundRect">
            <a:avLst>
              <a:gd name="adj" fmla="val 3529"/>
            </a:avLst>
          </a:prstGeom>
          <a:solidFill>
            <a:srgbClr val="0F4C81"/>
          </a:solidFill>
          <a:ln w="12700">
            <a:solidFill>
              <a:srgbClr val="0F4C81"/>
            </a:solidFill>
            <a:prstDash val="solid"/>
          </a:ln>
        </p:spPr>
        <p:txBody>
          <a:bodyPr/>
          <a:lstStyle/>
          <a:p>
            <a:endParaRPr lang="en-US"/>
          </a:p>
        </p:txBody>
      </p:sp>
      <p:sp>
        <p:nvSpPr>
          <p:cNvPr id="23" name="Shape 21"/>
          <p:cNvSpPr/>
          <p:nvPr/>
        </p:nvSpPr>
        <p:spPr>
          <a:xfrm>
            <a:off x="11192256" y="1874520"/>
            <a:ext cx="329184" cy="329184"/>
          </a:xfrm>
          <a:prstGeom prst="ellipse">
            <a:avLst/>
          </a:prstGeom>
          <a:solidFill>
            <a:srgbClr val="1B7A43"/>
          </a:solidFill>
          <a:ln/>
        </p:spPr>
        <p:txBody>
          <a:bodyPr/>
          <a:lstStyle/>
          <a:p>
            <a:endParaRPr lang="en-US"/>
          </a:p>
        </p:txBody>
      </p:sp>
      <p:sp>
        <p:nvSpPr>
          <p:cNvPr id="24" name="Text 22"/>
          <p:cNvSpPr/>
          <p:nvPr/>
        </p:nvSpPr>
        <p:spPr>
          <a:xfrm>
            <a:off x="11192256" y="1874520"/>
            <a:ext cx="329184" cy="329184"/>
          </a:xfrm>
          <a:prstGeom prst="rect">
            <a:avLst/>
          </a:prstGeom>
          <a:noFill/>
          <a:ln/>
        </p:spPr>
        <p:txBody>
          <a:bodyPr wrap="square"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a:t>
            </a:r>
            <a:endParaRPr lang="en-US" sz="1400" dirty="0"/>
          </a:p>
        </p:txBody>
      </p:sp>
      <p:sp>
        <p:nvSpPr>
          <p:cNvPr id="25" name="Text 23"/>
          <p:cNvSpPr/>
          <p:nvPr/>
        </p:nvSpPr>
        <p:spPr>
          <a:xfrm>
            <a:off x="9235440" y="1929384"/>
            <a:ext cx="1920240" cy="502920"/>
          </a:xfrm>
          <a:prstGeom prst="rect">
            <a:avLst/>
          </a:prstGeom>
          <a:noFill/>
          <a:ln/>
        </p:spPr>
        <p:txBody>
          <a:bodyPr wrap="square" rtlCol="0" anchor="ctr"/>
          <a:lstStyle/>
          <a:p>
            <a:pPr marL="0" indent="0">
              <a:buNone/>
            </a:pPr>
            <a:r>
              <a:rPr lang="en-US" sz="1550" b="1" dirty="0">
                <a:solidFill>
                  <a:srgbClr val="FFFFFF"/>
                </a:solidFill>
                <a:latin typeface="Montserrat" pitchFamily="34" charset="0"/>
                <a:ea typeface="Montserrat" pitchFamily="34" charset="-122"/>
                <a:cs typeface="Montserrat" pitchFamily="34" charset="-120"/>
              </a:rPr>
              <a:t>OCT</a:t>
            </a:r>
            <a:endParaRPr lang="en-US" sz="1550" dirty="0"/>
          </a:p>
        </p:txBody>
      </p:sp>
      <p:sp>
        <p:nvSpPr>
          <p:cNvPr id="26" name="Text 24"/>
          <p:cNvSpPr/>
          <p:nvPr/>
        </p:nvSpPr>
        <p:spPr>
          <a:xfrm>
            <a:off x="9235440" y="2532888"/>
            <a:ext cx="2286000" cy="1371600"/>
          </a:xfrm>
          <a:prstGeom prst="rect">
            <a:avLst/>
          </a:prstGeom>
          <a:noFill/>
          <a:ln/>
        </p:spPr>
        <p:txBody>
          <a:bodyPr wrap="square" rtlCol="0" anchor="ctr"/>
          <a:lstStyle/>
          <a:p>
            <a:pPr marL="0" indent="0">
              <a:lnSpc>
                <a:spcPct val="122000"/>
              </a:lnSpc>
              <a:buNone/>
            </a:pPr>
            <a:r>
              <a:rPr lang="en-US" sz="1130" dirty="0">
                <a:solidFill>
                  <a:srgbClr val="E4EFF8"/>
                </a:solidFill>
                <a:latin typeface="Times New Roman" pitchFamily="34" charset="0"/>
                <a:ea typeface="Times New Roman" pitchFamily="34" charset="-122"/>
                <a:cs typeface="Times New Roman" pitchFamily="34" charset="-120"/>
              </a:rPr>
              <a:t>Uses light instead of radiation or sound ; resolving the retina's micrometer-scale layers directly.</a:t>
            </a:r>
            <a:endParaRPr lang="en-US" sz="1130" dirty="0"/>
          </a:p>
        </p:txBody>
      </p:sp>
      <p:sp>
        <p:nvSpPr>
          <p:cNvPr id="27" name="Shape 25"/>
          <p:cNvSpPr/>
          <p:nvPr/>
        </p:nvSpPr>
        <p:spPr>
          <a:xfrm>
            <a:off x="548640" y="4251960"/>
            <a:ext cx="11064240" cy="960120"/>
          </a:xfrm>
          <a:prstGeom prst="roundRect">
            <a:avLst>
              <a:gd name="adj" fmla="val 8571"/>
            </a:avLst>
          </a:prstGeom>
          <a:solidFill>
            <a:srgbClr val="F4F8FB"/>
          </a:solidFill>
          <a:ln w="12700">
            <a:solidFill>
              <a:srgbClr val="DCE6EE"/>
            </a:solidFill>
            <a:prstDash val="solid"/>
          </a:ln>
        </p:spPr>
        <p:txBody>
          <a:bodyPr/>
          <a:lstStyle/>
          <a:p>
            <a:endParaRPr lang="en-US"/>
          </a:p>
        </p:txBody>
      </p:sp>
      <p:sp>
        <p:nvSpPr>
          <p:cNvPr id="28" name="Text 26"/>
          <p:cNvSpPr/>
          <p:nvPr/>
        </p:nvSpPr>
        <p:spPr>
          <a:xfrm>
            <a:off x="822960" y="4251960"/>
            <a:ext cx="10515600" cy="960120"/>
          </a:xfrm>
          <a:prstGeom prst="rect">
            <a:avLst/>
          </a:prstGeom>
          <a:noFill/>
          <a:ln/>
        </p:spPr>
        <p:txBody>
          <a:bodyPr wrap="square" rtlCol="0" anchor="ctr"/>
          <a:lstStyle/>
          <a:p>
            <a:pPr marL="0" indent="0">
              <a:lnSpc>
                <a:spcPct val="120000"/>
              </a:lnSpc>
              <a:buNone/>
            </a:pPr>
            <a:r>
              <a:rPr lang="en-US" sz="1250" b="1" dirty="0">
                <a:solidFill>
                  <a:srgbClr val="0B3A5D"/>
                </a:solidFill>
                <a:latin typeface="Times New Roman" pitchFamily="34" charset="0"/>
                <a:ea typeface="Times New Roman" pitchFamily="34" charset="-122"/>
                <a:cs typeface="Times New Roman" pitchFamily="34" charset="-120"/>
              </a:rPr>
              <a:t>Why not these methods?  </a:t>
            </a:r>
            <a:r>
              <a:rPr lang="en-US" sz="1250" dirty="0">
                <a:solidFill>
                  <a:srgbClr val="1B2A38"/>
                </a:solidFill>
                <a:latin typeface="Times New Roman" pitchFamily="34" charset="0"/>
                <a:ea typeface="Times New Roman" pitchFamily="34" charset="-122"/>
                <a:cs typeface="Times New Roman" pitchFamily="34" charset="-120"/>
              </a:rPr>
              <a:t>The retina is only a few hundred micrometers thick. Detecting tiny fluid pockets and deposits requires extremely high-resolution imaging that conventional radiology cannot provide.</a:t>
            </a:r>
            <a:endParaRPr lang="en-US" sz="1250" dirty="0"/>
          </a:p>
        </p:txBody>
      </p:sp>
      <p:sp>
        <p:nvSpPr>
          <p:cNvPr id="29" name="Shape 27"/>
          <p:cNvSpPr/>
          <p:nvPr/>
        </p:nvSpPr>
        <p:spPr>
          <a:xfrm>
            <a:off x="548640" y="5394960"/>
            <a:ext cx="11064240" cy="685800"/>
          </a:xfrm>
          <a:prstGeom prst="roundRect">
            <a:avLst>
              <a:gd name="adj" fmla="val 10667"/>
            </a:avLst>
          </a:prstGeom>
          <a:solidFill>
            <a:srgbClr val="0B3A5D"/>
          </a:solidFill>
          <a:ln/>
        </p:spPr>
        <p:txBody>
          <a:bodyPr/>
          <a:lstStyle/>
          <a:p>
            <a:endParaRPr lang="en-US"/>
          </a:p>
        </p:txBody>
      </p:sp>
      <p:sp>
        <p:nvSpPr>
          <p:cNvPr id="30" name="Text 28"/>
          <p:cNvSpPr/>
          <p:nvPr/>
        </p:nvSpPr>
        <p:spPr>
          <a:xfrm>
            <a:off x="822960" y="5394960"/>
            <a:ext cx="10515600" cy="685800"/>
          </a:xfrm>
          <a:prstGeom prst="rect">
            <a:avLst/>
          </a:prstGeom>
          <a:noFill/>
          <a:ln/>
        </p:spPr>
        <p:txBody>
          <a:bodyPr wrap="square" rtlCol="0" anchor="ctr"/>
          <a:lstStyle/>
          <a:p>
            <a:pPr marL="0" indent="0">
              <a:buNone/>
            </a:pPr>
            <a:r>
              <a:rPr lang="en-US" sz="1300" b="1" i="1" dirty="0">
                <a:solidFill>
                  <a:srgbClr val="FFFFFF"/>
                </a:solidFill>
                <a:latin typeface="Times New Roman" pitchFamily="34" charset="0"/>
                <a:ea typeface="Times New Roman" pitchFamily="34" charset="-122"/>
                <a:cs typeface="Times New Roman" pitchFamily="34" charset="-120"/>
              </a:rPr>
              <a:t>Today, OCT is the gold-standard imaging modality for retinal diagnosis worldwide.</a:t>
            </a:r>
            <a:endParaRPr lang="en-US" sz="1300" dirty="0"/>
          </a:p>
        </p:txBody>
      </p:sp>
      <p:sp>
        <p:nvSpPr>
          <p:cNvPr id="31" name="Text 29"/>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32" name="Text 30"/>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4</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DIAGNOSIS</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Optical Coherence Tomography (OCT)</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02 · OCT</a:t>
            </a:r>
            <a:endParaRPr lang="en-US" sz="1000" dirty="0"/>
          </a:p>
        </p:txBody>
      </p:sp>
      <p:pic>
        <p:nvPicPr>
          <p:cNvPr id="6" name="Image 0" descr="/home/claude/build/assets/generic_oct_bscan.jpg"/>
          <p:cNvPicPr>
            <a:picLocks noChangeAspect="1"/>
          </p:cNvPicPr>
          <p:nvPr/>
        </p:nvPicPr>
        <p:blipFill>
          <a:blip r:embed="rId3"/>
          <a:stretch>
            <a:fillRect/>
          </a:stretch>
        </p:blipFill>
        <p:spPr>
          <a:xfrm>
            <a:off x="621792" y="1536192"/>
            <a:ext cx="5074920" cy="3429000"/>
          </a:xfrm>
          <a:prstGeom prst="rect">
            <a:avLst/>
          </a:prstGeom>
        </p:spPr>
      </p:pic>
      <p:sp>
        <p:nvSpPr>
          <p:cNvPr id="8" name="Text 5"/>
          <p:cNvSpPr/>
          <p:nvPr/>
        </p:nvSpPr>
        <p:spPr>
          <a:xfrm>
            <a:off x="548640" y="4974336"/>
            <a:ext cx="5074920" cy="502920"/>
          </a:xfrm>
          <a:prstGeom prst="rect">
            <a:avLst/>
          </a:prstGeom>
          <a:noFill/>
          <a:ln/>
        </p:spPr>
        <p:txBody>
          <a:bodyPr wrap="square" rtlCol="0" anchor="ctr"/>
          <a:lstStyle/>
          <a:p>
            <a:pPr marL="0" indent="0" algn="ctr">
              <a:lnSpc>
                <a:spcPct val="110000"/>
              </a:lnSpc>
              <a:buNone/>
            </a:pPr>
            <a:r>
              <a:rPr lang="en-US" sz="1050" i="1" dirty="0">
                <a:solidFill>
                  <a:srgbClr val="5C7080"/>
                </a:solidFill>
                <a:latin typeface="Times New Roman" pitchFamily="34" charset="0"/>
                <a:ea typeface="Times New Roman" pitchFamily="34" charset="-122"/>
                <a:cs typeface="Times New Roman" pitchFamily="34" charset="-120"/>
              </a:rPr>
              <a:t>A real OCT B-scan — a cross-sectional slice of the retina</a:t>
            </a:r>
            <a:endParaRPr lang="en-US" sz="1050" dirty="0"/>
          </a:p>
        </p:txBody>
      </p:sp>
      <p:sp>
        <p:nvSpPr>
          <p:cNvPr id="9" name="Shape 6"/>
          <p:cNvSpPr/>
          <p:nvPr/>
        </p:nvSpPr>
        <p:spPr>
          <a:xfrm>
            <a:off x="5989320" y="1536192"/>
            <a:ext cx="128016" cy="128016"/>
          </a:xfrm>
          <a:prstGeom prst="ellipse">
            <a:avLst/>
          </a:prstGeom>
          <a:solidFill>
            <a:srgbClr val="2E86AB"/>
          </a:solidFill>
          <a:ln/>
        </p:spPr>
        <p:txBody>
          <a:bodyPr/>
          <a:lstStyle/>
          <a:p>
            <a:endParaRPr lang="en-US"/>
          </a:p>
        </p:txBody>
      </p:sp>
      <p:sp>
        <p:nvSpPr>
          <p:cNvPr id="10" name="Text 7"/>
          <p:cNvSpPr/>
          <p:nvPr/>
        </p:nvSpPr>
        <p:spPr>
          <a:xfrm>
            <a:off x="6263640" y="1426464"/>
            <a:ext cx="5394960" cy="310896"/>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What it is</a:t>
            </a:r>
            <a:endParaRPr lang="en-US" sz="1500" dirty="0"/>
          </a:p>
        </p:txBody>
      </p:sp>
      <p:sp>
        <p:nvSpPr>
          <p:cNvPr id="11" name="Text 8"/>
          <p:cNvSpPr/>
          <p:nvPr/>
        </p:nvSpPr>
        <p:spPr>
          <a:xfrm>
            <a:off x="6263640" y="1755648"/>
            <a:ext cx="5394960" cy="777240"/>
          </a:xfrm>
          <a:prstGeom prst="rect">
            <a:avLst/>
          </a:prstGeom>
          <a:noFill/>
          <a:ln/>
        </p:spPr>
        <p:txBody>
          <a:bodyPr wrap="square" rtlCol="0" anchor="ctr"/>
          <a:lstStyle/>
          <a:p>
            <a:pPr marL="0" indent="0">
              <a:lnSpc>
                <a:spcPct val="122000"/>
              </a:lnSpc>
              <a:buNone/>
            </a:pPr>
            <a:r>
              <a:rPr lang="en-US" sz="1250" dirty="0">
                <a:solidFill>
                  <a:srgbClr val="1B2A38"/>
                </a:solidFill>
                <a:latin typeface="Times New Roman" pitchFamily="34" charset="0"/>
                <a:ea typeface="Times New Roman" pitchFamily="34" charset="-122"/>
                <a:cs typeface="Times New Roman" pitchFamily="34" charset="-120"/>
              </a:rPr>
              <a:t>A non-invasive imaging technique that captures micrometer-scale, cross-sectional images of the retina's internal layers .</a:t>
            </a:r>
            <a:endParaRPr lang="en-US" sz="1250" dirty="0"/>
          </a:p>
        </p:txBody>
      </p:sp>
      <p:sp>
        <p:nvSpPr>
          <p:cNvPr id="12" name="Shape 9"/>
          <p:cNvSpPr/>
          <p:nvPr/>
        </p:nvSpPr>
        <p:spPr>
          <a:xfrm>
            <a:off x="5989320" y="2706624"/>
            <a:ext cx="128016" cy="128016"/>
          </a:xfrm>
          <a:prstGeom prst="ellipse">
            <a:avLst/>
          </a:prstGeom>
          <a:solidFill>
            <a:srgbClr val="2E86AB"/>
          </a:solidFill>
          <a:ln/>
        </p:spPr>
        <p:txBody>
          <a:bodyPr/>
          <a:lstStyle/>
          <a:p>
            <a:endParaRPr lang="en-US"/>
          </a:p>
        </p:txBody>
      </p:sp>
      <p:sp>
        <p:nvSpPr>
          <p:cNvPr id="13" name="Text 10"/>
          <p:cNvSpPr/>
          <p:nvPr/>
        </p:nvSpPr>
        <p:spPr>
          <a:xfrm>
            <a:off x="6263640" y="2596896"/>
            <a:ext cx="5394960" cy="310896"/>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Why doctors use it</a:t>
            </a:r>
            <a:endParaRPr lang="en-US" sz="1500" dirty="0"/>
          </a:p>
        </p:txBody>
      </p:sp>
      <p:sp>
        <p:nvSpPr>
          <p:cNvPr id="14" name="Text 11"/>
          <p:cNvSpPr/>
          <p:nvPr/>
        </p:nvSpPr>
        <p:spPr>
          <a:xfrm>
            <a:off x="6263640" y="2926080"/>
            <a:ext cx="5394960" cy="777240"/>
          </a:xfrm>
          <a:prstGeom prst="rect">
            <a:avLst/>
          </a:prstGeom>
          <a:noFill/>
          <a:ln/>
        </p:spPr>
        <p:txBody>
          <a:bodyPr wrap="square" rtlCol="0" anchor="ctr"/>
          <a:lstStyle/>
          <a:p>
            <a:pPr marL="0" indent="0">
              <a:lnSpc>
                <a:spcPct val="122000"/>
              </a:lnSpc>
              <a:buNone/>
            </a:pPr>
            <a:r>
              <a:rPr lang="en-US" sz="1250" dirty="0">
                <a:solidFill>
                  <a:srgbClr val="1B2A38"/>
                </a:solidFill>
                <a:latin typeface="Times New Roman" pitchFamily="34" charset="0"/>
                <a:ea typeface="Times New Roman" pitchFamily="34" charset="-122"/>
                <a:cs typeface="Times New Roman" pitchFamily="34" charset="-120"/>
              </a:rPr>
              <a:t>It reveals structure beneath the visible surface without surgery, dye, or contact with the eye.</a:t>
            </a:r>
            <a:endParaRPr lang="en-US" sz="1250" dirty="0"/>
          </a:p>
        </p:txBody>
      </p:sp>
      <p:sp>
        <p:nvSpPr>
          <p:cNvPr id="15" name="Shape 12"/>
          <p:cNvSpPr/>
          <p:nvPr/>
        </p:nvSpPr>
        <p:spPr>
          <a:xfrm>
            <a:off x="5989320" y="3877056"/>
            <a:ext cx="128016" cy="128016"/>
          </a:xfrm>
          <a:prstGeom prst="ellipse">
            <a:avLst/>
          </a:prstGeom>
          <a:solidFill>
            <a:srgbClr val="2E86AB"/>
          </a:solidFill>
          <a:ln/>
        </p:spPr>
        <p:txBody>
          <a:bodyPr/>
          <a:lstStyle/>
          <a:p>
            <a:endParaRPr lang="en-US"/>
          </a:p>
        </p:txBody>
      </p:sp>
      <p:sp>
        <p:nvSpPr>
          <p:cNvPr id="16" name="Text 13"/>
          <p:cNvSpPr/>
          <p:nvPr/>
        </p:nvSpPr>
        <p:spPr>
          <a:xfrm>
            <a:off x="6263640" y="3767328"/>
            <a:ext cx="5394960" cy="310896"/>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How it aids diagnosis</a:t>
            </a:r>
            <a:endParaRPr lang="en-US" sz="1500" dirty="0"/>
          </a:p>
        </p:txBody>
      </p:sp>
      <p:sp>
        <p:nvSpPr>
          <p:cNvPr id="17" name="Text 14"/>
          <p:cNvSpPr/>
          <p:nvPr/>
        </p:nvSpPr>
        <p:spPr>
          <a:xfrm>
            <a:off x="6263640" y="4096512"/>
            <a:ext cx="5394960" cy="777240"/>
          </a:xfrm>
          <a:prstGeom prst="rect">
            <a:avLst/>
          </a:prstGeom>
          <a:noFill/>
          <a:ln/>
        </p:spPr>
        <p:txBody>
          <a:bodyPr wrap="square" rtlCol="0" anchor="ctr"/>
          <a:lstStyle/>
          <a:p>
            <a:pPr marL="0" indent="0">
              <a:lnSpc>
                <a:spcPct val="122000"/>
              </a:lnSpc>
              <a:buNone/>
            </a:pPr>
            <a:r>
              <a:rPr lang="en-US" sz="1250">
                <a:solidFill>
                  <a:srgbClr val="1B2A38"/>
                </a:solidFill>
                <a:latin typeface="Times New Roman" pitchFamily="34" charset="0"/>
                <a:ea typeface="Times New Roman" pitchFamily="34" charset="-122"/>
                <a:cs typeface="Times New Roman" pitchFamily="34" charset="-120"/>
              </a:rPr>
              <a:t>Using </a:t>
            </a:r>
            <a:r>
              <a:rPr lang="en-US" sz="1250" dirty="0">
                <a:solidFill>
                  <a:srgbClr val="1B2A38"/>
                </a:solidFill>
                <a:latin typeface="Times New Roman" pitchFamily="34" charset="0"/>
                <a:ea typeface="Times New Roman" pitchFamily="34" charset="-122"/>
                <a:cs typeface="Times New Roman" pitchFamily="34" charset="-120"/>
              </a:rPr>
              <a:t>these detailed OCT-Scans doctors can detect retinal diseases much earlier and more accurately.</a:t>
            </a:r>
            <a:endParaRPr lang="en-US" sz="1250" dirty="0"/>
          </a:p>
        </p:txBody>
      </p:sp>
      <p:sp>
        <p:nvSpPr>
          <p:cNvPr id="18" name="Shape 15"/>
          <p:cNvSpPr/>
          <p:nvPr/>
        </p:nvSpPr>
        <p:spPr>
          <a:xfrm>
            <a:off x="5989320" y="5074920"/>
            <a:ext cx="5394960" cy="685800"/>
          </a:xfrm>
          <a:prstGeom prst="roundRect">
            <a:avLst>
              <a:gd name="adj" fmla="val 10667"/>
            </a:avLst>
          </a:prstGeom>
          <a:solidFill>
            <a:srgbClr val="F4F8FB"/>
          </a:solidFill>
          <a:ln w="12700">
            <a:solidFill>
              <a:srgbClr val="DCE6EE"/>
            </a:solidFill>
            <a:prstDash val="solid"/>
          </a:ln>
        </p:spPr>
        <p:txBody>
          <a:bodyPr/>
          <a:lstStyle/>
          <a:p>
            <a:endParaRPr lang="en-US"/>
          </a:p>
        </p:txBody>
      </p:sp>
      <p:sp>
        <p:nvSpPr>
          <p:cNvPr id="19" name="Text 16"/>
          <p:cNvSpPr/>
          <p:nvPr/>
        </p:nvSpPr>
        <p:spPr>
          <a:xfrm>
            <a:off x="6172200" y="5074920"/>
            <a:ext cx="5029200" cy="685800"/>
          </a:xfrm>
          <a:prstGeom prst="rect">
            <a:avLst/>
          </a:prstGeom>
          <a:noFill/>
          <a:ln/>
        </p:spPr>
        <p:txBody>
          <a:bodyPr wrap="square" rtlCol="0" anchor="ctr"/>
          <a:lstStyle/>
          <a:p>
            <a:pPr marL="0" indent="0">
              <a:buNone/>
            </a:pPr>
            <a:r>
              <a:rPr lang="en-US" sz="1200" i="1" dirty="0">
                <a:solidFill>
                  <a:srgbClr val="0F4C81"/>
                </a:solidFill>
                <a:latin typeface="Times New Roman" pitchFamily="34" charset="0"/>
                <a:ea typeface="Times New Roman" pitchFamily="34" charset="-122"/>
                <a:cs typeface="Times New Roman" pitchFamily="34" charset="-120"/>
              </a:rPr>
              <a:t>Today, OCT is the gold-standard imaging modality for retinal diagnosis worldwide.</a:t>
            </a:r>
            <a:endParaRPr lang="en-US" sz="1200" dirty="0"/>
          </a:p>
        </p:txBody>
      </p:sp>
      <p:sp>
        <p:nvSpPr>
          <p:cNvPr id="20" name="Text 17"/>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21" name="Text 18"/>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5</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AI IN MEDICAL DIAGNOSIS</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Deep Learning + OCT</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03 · Deep Learning</a:t>
            </a:r>
            <a:endParaRPr lang="en-US" sz="1000" dirty="0"/>
          </a:p>
        </p:txBody>
      </p:sp>
      <p:sp>
        <p:nvSpPr>
          <p:cNvPr id="6" name="Shape 4"/>
          <p:cNvSpPr/>
          <p:nvPr/>
        </p:nvSpPr>
        <p:spPr>
          <a:xfrm>
            <a:off x="685800" y="1691640"/>
            <a:ext cx="2926080" cy="1234440"/>
          </a:xfrm>
          <a:prstGeom prst="roundRect">
            <a:avLst>
              <a:gd name="adj" fmla="val 5926"/>
            </a:avLst>
          </a:prstGeom>
          <a:solidFill>
            <a:srgbClr val="F4F8FB"/>
          </a:solidFill>
          <a:ln w="12700">
            <a:solidFill>
              <a:srgbClr val="DCE6EE"/>
            </a:solidFill>
            <a:prstDash val="solid"/>
          </a:ln>
        </p:spPr>
        <p:txBody>
          <a:bodyPr/>
          <a:lstStyle/>
          <a:p>
            <a:endParaRPr lang="en-US"/>
          </a:p>
        </p:txBody>
      </p:sp>
      <p:pic>
        <p:nvPicPr>
          <p:cNvPr id="7" name="Image 0" descr="/home/claude/build/assets/generic_oct_bscan.jpg"/>
          <p:cNvPicPr>
            <a:picLocks noChangeAspect="1"/>
          </p:cNvPicPr>
          <p:nvPr/>
        </p:nvPicPr>
        <p:blipFill>
          <a:blip r:embed="rId3"/>
          <a:stretch>
            <a:fillRect/>
          </a:stretch>
        </p:blipFill>
        <p:spPr>
          <a:xfrm>
            <a:off x="850392" y="1837944"/>
            <a:ext cx="960120" cy="941832"/>
          </a:xfrm>
          <a:prstGeom prst="rect">
            <a:avLst/>
          </a:prstGeom>
        </p:spPr>
      </p:pic>
      <p:sp>
        <p:nvSpPr>
          <p:cNvPr id="8" name="Text 5"/>
          <p:cNvSpPr/>
          <p:nvPr/>
        </p:nvSpPr>
        <p:spPr>
          <a:xfrm>
            <a:off x="1920240" y="1947672"/>
            <a:ext cx="1554480" cy="365760"/>
          </a:xfrm>
          <a:prstGeom prst="rect">
            <a:avLst/>
          </a:prstGeom>
          <a:noFill/>
          <a:ln/>
        </p:spPr>
        <p:txBody>
          <a:bodyPr wrap="square" rtlCol="0" anchor="ctr"/>
          <a:lstStyle/>
          <a:p>
            <a:pPr marL="0" indent="0">
              <a:buNone/>
            </a:pPr>
            <a:r>
              <a:rPr lang="en-US" sz="1450" b="1" dirty="0">
                <a:solidFill>
                  <a:srgbClr val="0B3A5D"/>
                </a:solidFill>
                <a:latin typeface="Times New Roman" pitchFamily="34" charset="0"/>
                <a:ea typeface="Times New Roman" pitchFamily="34" charset="-122"/>
                <a:cs typeface="Times New Roman" pitchFamily="34" charset="-120"/>
              </a:rPr>
              <a:t>OCT Scan</a:t>
            </a:r>
            <a:endParaRPr lang="en-US" sz="1450" dirty="0"/>
          </a:p>
        </p:txBody>
      </p:sp>
      <p:sp>
        <p:nvSpPr>
          <p:cNvPr id="9" name="Text 6"/>
          <p:cNvSpPr/>
          <p:nvPr/>
        </p:nvSpPr>
        <p:spPr>
          <a:xfrm>
            <a:off x="1920240" y="2313432"/>
            <a:ext cx="1554480" cy="502920"/>
          </a:xfrm>
          <a:prstGeom prst="rect">
            <a:avLst/>
          </a:prstGeom>
          <a:noFill/>
          <a:ln/>
        </p:spPr>
        <p:txBody>
          <a:bodyPr wrap="square" rtlCol="0" anchor="ctr"/>
          <a:lstStyle/>
          <a:p>
            <a:pPr marL="0" indent="0">
              <a:lnSpc>
                <a:spcPct val="110000"/>
              </a:lnSpc>
              <a:buNone/>
            </a:pPr>
            <a:r>
              <a:rPr lang="en-US" sz="1050" dirty="0">
                <a:solidFill>
                  <a:srgbClr val="5C7080"/>
                </a:solidFill>
                <a:latin typeface="Times New Roman" pitchFamily="34" charset="0"/>
                <a:ea typeface="Times New Roman" pitchFamily="34" charset="-122"/>
                <a:cs typeface="Times New Roman" pitchFamily="34" charset="-120"/>
              </a:rPr>
              <a:t>Input image</a:t>
            </a:r>
            <a:endParaRPr lang="en-US" sz="1050" dirty="0"/>
          </a:p>
        </p:txBody>
      </p:sp>
      <p:sp>
        <p:nvSpPr>
          <p:cNvPr id="10" name="Shape 7"/>
          <p:cNvSpPr/>
          <p:nvPr/>
        </p:nvSpPr>
        <p:spPr>
          <a:xfrm>
            <a:off x="3666744" y="2162556"/>
            <a:ext cx="411480" cy="292608"/>
          </a:xfrm>
          <a:prstGeom prst="rightArrow">
            <a:avLst/>
          </a:prstGeom>
          <a:solidFill>
            <a:srgbClr val="2E86AB"/>
          </a:solidFill>
          <a:ln/>
        </p:spPr>
        <p:txBody>
          <a:bodyPr/>
          <a:lstStyle/>
          <a:p>
            <a:endParaRPr lang="en-US"/>
          </a:p>
        </p:txBody>
      </p:sp>
      <p:sp>
        <p:nvSpPr>
          <p:cNvPr id="11" name="Shape 8"/>
          <p:cNvSpPr/>
          <p:nvPr/>
        </p:nvSpPr>
        <p:spPr>
          <a:xfrm>
            <a:off x="4114800" y="1691640"/>
            <a:ext cx="2926080" cy="1234440"/>
          </a:xfrm>
          <a:prstGeom prst="roundRect">
            <a:avLst>
              <a:gd name="adj" fmla="val 5926"/>
            </a:avLst>
          </a:prstGeom>
          <a:solidFill>
            <a:srgbClr val="0F4C81"/>
          </a:solidFill>
          <a:ln w="12700">
            <a:solidFill>
              <a:srgbClr val="DCE6EE"/>
            </a:solidFill>
            <a:prstDash val="solid"/>
          </a:ln>
        </p:spPr>
        <p:txBody>
          <a:bodyPr/>
          <a:lstStyle/>
          <a:p>
            <a:endParaRPr lang="en-US"/>
          </a:p>
        </p:txBody>
      </p:sp>
      <p:sp>
        <p:nvSpPr>
          <p:cNvPr id="12" name="Text 9"/>
          <p:cNvSpPr/>
          <p:nvPr/>
        </p:nvSpPr>
        <p:spPr>
          <a:xfrm>
            <a:off x="4297680" y="1892808"/>
            <a:ext cx="2560320" cy="384048"/>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CNN</a:t>
            </a:r>
            <a:endParaRPr lang="en-US" sz="1600" dirty="0"/>
          </a:p>
        </p:txBody>
      </p:sp>
      <p:sp>
        <p:nvSpPr>
          <p:cNvPr id="13" name="Text 10"/>
          <p:cNvSpPr/>
          <p:nvPr/>
        </p:nvSpPr>
        <p:spPr>
          <a:xfrm>
            <a:off x="4297680" y="2313432"/>
            <a:ext cx="2560320" cy="502920"/>
          </a:xfrm>
          <a:prstGeom prst="rect">
            <a:avLst/>
          </a:prstGeom>
          <a:noFill/>
          <a:ln/>
        </p:spPr>
        <p:txBody>
          <a:bodyPr wrap="square" rtlCol="0" anchor="ctr"/>
          <a:lstStyle/>
          <a:p>
            <a:pPr marL="0" indent="0" algn="ctr">
              <a:lnSpc>
                <a:spcPct val="110000"/>
              </a:lnSpc>
              <a:buNone/>
            </a:pPr>
            <a:r>
              <a:rPr lang="en-US" sz="1050" dirty="0">
                <a:solidFill>
                  <a:srgbClr val="D8E8F5"/>
                </a:solidFill>
                <a:latin typeface="Times New Roman" pitchFamily="34" charset="0"/>
                <a:ea typeface="Times New Roman" pitchFamily="34" charset="-122"/>
                <a:cs typeface="Times New Roman" pitchFamily="34" charset="-120"/>
              </a:rPr>
              <a:t>Learns patterns automatically</a:t>
            </a:r>
            <a:endParaRPr lang="en-US" sz="1050" dirty="0"/>
          </a:p>
        </p:txBody>
      </p:sp>
      <p:sp>
        <p:nvSpPr>
          <p:cNvPr id="14" name="Shape 11"/>
          <p:cNvSpPr/>
          <p:nvPr/>
        </p:nvSpPr>
        <p:spPr>
          <a:xfrm>
            <a:off x="7095744" y="2162556"/>
            <a:ext cx="411480" cy="292608"/>
          </a:xfrm>
          <a:prstGeom prst="rightArrow">
            <a:avLst/>
          </a:prstGeom>
          <a:solidFill>
            <a:srgbClr val="2E86AB"/>
          </a:solidFill>
          <a:ln/>
        </p:spPr>
        <p:txBody>
          <a:bodyPr/>
          <a:lstStyle/>
          <a:p>
            <a:endParaRPr lang="en-US"/>
          </a:p>
        </p:txBody>
      </p:sp>
      <p:sp>
        <p:nvSpPr>
          <p:cNvPr id="15" name="Shape 12"/>
          <p:cNvSpPr/>
          <p:nvPr/>
        </p:nvSpPr>
        <p:spPr>
          <a:xfrm>
            <a:off x="7543800" y="1691640"/>
            <a:ext cx="2926080" cy="1234440"/>
          </a:xfrm>
          <a:prstGeom prst="roundRect">
            <a:avLst>
              <a:gd name="adj" fmla="val 5926"/>
            </a:avLst>
          </a:prstGeom>
          <a:solidFill>
            <a:srgbClr val="F4F8FB"/>
          </a:solidFill>
          <a:ln w="12700">
            <a:solidFill>
              <a:srgbClr val="DCE6EE"/>
            </a:solidFill>
            <a:prstDash val="solid"/>
          </a:ln>
        </p:spPr>
        <p:txBody>
          <a:bodyPr/>
          <a:lstStyle/>
          <a:p>
            <a:endParaRPr lang="en-US"/>
          </a:p>
        </p:txBody>
      </p:sp>
      <p:sp>
        <p:nvSpPr>
          <p:cNvPr id="16" name="Text 13"/>
          <p:cNvSpPr/>
          <p:nvPr/>
        </p:nvSpPr>
        <p:spPr>
          <a:xfrm>
            <a:off x="7726680" y="1892808"/>
            <a:ext cx="2560320" cy="384048"/>
          </a:xfrm>
          <a:prstGeom prst="rect">
            <a:avLst/>
          </a:prstGeom>
          <a:noFill/>
          <a:ln/>
        </p:spPr>
        <p:txBody>
          <a:bodyPr wrap="square" rtlCol="0" anchor="ctr"/>
          <a:lstStyle/>
          <a:p>
            <a:pPr marL="0" indent="0" algn="ctr">
              <a:buNone/>
            </a:pPr>
            <a:r>
              <a:rPr lang="en-US" sz="1600" b="1" dirty="0">
                <a:solidFill>
                  <a:srgbClr val="0B3A5D"/>
                </a:solidFill>
                <a:latin typeface="Times New Roman" pitchFamily="34" charset="0"/>
                <a:ea typeface="Times New Roman" pitchFamily="34" charset="-122"/>
                <a:cs typeface="Times New Roman" pitchFamily="34" charset="-120"/>
              </a:rPr>
              <a:t>Prediction</a:t>
            </a:r>
            <a:endParaRPr lang="en-US" sz="1600" dirty="0"/>
          </a:p>
        </p:txBody>
      </p:sp>
      <p:sp>
        <p:nvSpPr>
          <p:cNvPr id="17" name="Text 14"/>
          <p:cNvSpPr/>
          <p:nvPr/>
        </p:nvSpPr>
        <p:spPr>
          <a:xfrm>
            <a:off x="7726680" y="2313432"/>
            <a:ext cx="2560320" cy="502920"/>
          </a:xfrm>
          <a:prstGeom prst="rect">
            <a:avLst/>
          </a:prstGeom>
          <a:noFill/>
          <a:ln/>
        </p:spPr>
        <p:txBody>
          <a:bodyPr wrap="square" rtlCol="0" anchor="ctr"/>
          <a:lstStyle/>
          <a:p>
            <a:pPr marL="0" indent="0" algn="ctr">
              <a:lnSpc>
                <a:spcPct val="110000"/>
              </a:lnSpc>
              <a:buNone/>
            </a:pPr>
            <a:r>
              <a:rPr lang="en-US" sz="1050" dirty="0">
                <a:solidFill>
                  <a:srgbClr val="5C7080"/>
                </a:solidFill>
                <a:latin typeface="Times New Roman" pitchFamily="34" charset="0"/>
                <a:ea typeface="Times New Roman" pitchFamily="34" charset="-122"/>
                <a:cs typeface="Times New Roman" pitchFamily="34" charset="-120"/>
              </a:rPr>
              <a:t>CNV / DME / DRUSEN / NORMAL</a:t>
            </a:r>
            <a:endParaRPr lang="en-US" sz="1050" dirty="0"/>
          </a:p>
        </p:txBody>
      </p:sp>
      <p:sp>
        <p:nvSpPr>
          <p:cNvPr id="18" name="Text 15"/>
          <p:cNvSpPr/>
          <p:nvPr/>
        </p:nvSpPr>
        <p:spPr>
          <a:xfrm>
            <a:off x="685800" y="3246120"/>
            <a:ext cx="10817352" cy="502920"/>
          </a:xfrm>
          <a:prstGeom prst="rect">
            <a:avLst/>
          </a:prstGeom>
          <a:noFill/>
          <a:ln/>
        </p:spPr>
        <p:txBody>
          <a:bodyPr wrap="square" rtlCol="0" anchor="ctr"/>
          <a:lstStyle/>
          <a:p>
            <a:pPr marL="0" indent="0">
              <a:lnSpc>
                <a:spcPct val="120000"/>
              </a:lnSpc>
              <a:buNone/>
            </a:pPr>
            <a:r>
              <a:rPr lang="en-US" sz="1300" dirty="0">
                <a:solidFill>
                  <a:srgbClr val="1B2A38"/>
                </a:solidFill>
                <a:latin typeface="Times New Roman" pitchFamily="34" charset="0"/>
                <a:ea typeface="Times New Roman" pitchFamily="34" charset="-122"/>
                <a:cs typeface="Times New Roman" pitchFamily="34" charset="-120"/>
              </a:rPr>
              <a:t>Convolutional Neural Networks (CNNs) learn to recognize disease patterns in OCT images automatically , therefore no hand-crafted rules are required.</a:t>
            </a:r>
            <a:endParaRPr lang="en-US" sz="1300" dirty="0"/>
          </a:p>
        </p:txBody>
      </p:sp>
      <p:sp>
        <p:nvSpPr>
          <p:cNvPr id="19" name="Shape 16"/>
          <p:cNvSpPr/>
          <p:nvPr/>
        </p:nvSpPr>
        <p:spPr>
          <a:xfrm>
            <a:off x="685800" y="3886200"/>
            <a:ext cx="5212080" cy="1417320"/>
          </a:xfrm>
          <a:prstGeom prst="roundRect">
            <a:avLst>
              <a:gd name="adj" fmla="val 6452"/>
            </a:avLst>
          </a:prstGeom>
          <a:solidFill>
            <a:srgbClr val="F4F8FB"/>
          </a:solidFill>
          <a:ln w="12700">
            <a:solidFill>
              <a:srgbClr val="DCE6EE"/>
            </a:solidFill>
            <a:prstDash val="solid"/>
          </a:ln>
        </p:spPr>
        <p:txBody>
          <a:bodyPr/>
          <a:lstStyle/>
          <a:p>
            <a:endParaRPr lang="en-US"/>
          </a:p>
        </p:txBody>
      </p:sp>
      <p:sp>
        <p:nvSpPr>
          <p:cNvPr id="20" name="Text 17"/>
          <p:cNvSpPr/>
          <p:nvPr/>
        </p:nvSpPr>
        <p:spPr>
          <a:xfrm>
            <a:off x="868680" y="4023360"/>
            <a:ext cx="4846320" cy="548640"/>
          </a:xfrm>
          <a:prstGeom prst="rect">
            <a:avLst/>
          </a:prstGeom>
          <a:noFill/>
          <a:ln/>
        </p:spPr>
        <p:txBody>
          <a:bodyPr wrap="square" rtlCol="0" anchor="ctr"/>
          <a:lstStyle/>
          <a:p>
            <a:pPr marL="0" indent="0">
              <a:buNone/>
            </a:pPr>
            <a:r>
              <a:rPr lang="en-US" sz="3000" b="1" dirty="0">
                <a:solidFill>
                  <a:srgbClr val="0F4C81"/>
                </a:solidFill>
                <a:latin typeface="Montserrat" pitchFamily="34" charset="0"/>
                <a:ea typeface="Montserrat" pitchFamily="34" charset="-122"/>
                <a:cs typeface="Montserrat" pitchFamily="34" charset="-120"/>
              </a:rPr>
              <a:t>96.6% – 99.97%</a:t>
            </a:r>
            <a:endParaRPr lang="en-US" sz="3000" dirty="0"/>
          </a:p>
        </p:txBody>
      </p:sp>
      <p:sp>
        <p:nvSpPr>
          <p:cNvPr id="21" name="Text 18"/>
          <p:cNvSpPr/>
          <p:nvPr/>
        </p:nvSpPr>
        <p:spPr>
          <a:xfrm>
            <a:off x="868680" y="4590288"/>
            <a:ext cx="4846320" cy="621792"/>
          </a:xfrm>
          <a:prstGeom prst="rect">
            <a:avLst/>
          </a:prstGeom>
          <a:noFill/>
          <a:ln/>
        </p:spPr>
        <p:txBody>
          <a:bodyPr wrap="square" rtlCol="0" anchor="ctr"/>
          <a:lstStyle/>
          <a:p>
            <a:pPr marL="0" indent="0">
              <a:lnSpc>
                <a:spcPct val="115000"/>
              </a:lnSpc>
              <a:buNone/>
            </a:pPr>
            <a:r>
              <a:rPr lang="en-US" sz="1150" dirty="0">
                <a:solidFill>
                  <a:srgbClr val="5C7080"/>
                </a:solidFill>
                <a:latin typeface="Times New Roman" pitchFamily="34" charset="0"/>
                <a:ea typeface="Times New Roman" pitchFamily="34" charset="-122"/>
                <a:cs typeface="Times New Roman" pitchFamily="34" charset="-120"/>
              </a:rPr>
              <a:t>Classification accuracy achieved across recent CNN-based OCT studies </a:t>
            </a:r>
            <a:endParaRPr lang="en-US" sz="1150" dirty="0"/>
          </a:p>
        </p:txBody>
      </p:sp>
      <p:sp>
        <p:nvSpPr>
          <p:cNvPr id="22" name="Shape 19"/>
          <p:cNvSpPr/>
          <p:nvPr/>
        </p:nvSpPr>
        <p:spPr>
          <a:xfrm>
            <a:off x="6263640" y="3886200"/>
            <a:ext cx="5212080" cy="1417320"/>
          </a:xfrm>
          <a:prstGeom prst="roundRect">
            <a:avLst>
              <a:gd name="adj" fmla="val 6452"/>
            </a:avLst>
          </a:prstGeom>
          <a:solidFill>
            <a:srgbClr val="0B3A5D"/>
          </a:solidFill>
          <a:ln/>
        </p:spPr>
        <p:txBody>
          <a:bodyPr/>
          <a:lstStyle/>
          <a:p>
            <a:endParaRPr lang="en-US"/>
          </a:p>
        </p:txBody>
      </p:sp>
      <p:sp>
        <p:nvSpPr>
          <p:cNvPr id="23" name="Text 20"/>
          <p:cNvSpPr/>
          <p:nvPr/>
        </p:nvSpPr>
        <p:spPr>
          <a:xfrm>
            <a:off x="6446520" y="3886200"/>
            <a:ext cx="4846320" cy="1417320"/>
          </a:xfrm>
          <a:prstGeom prst="rect">
            <a:avLst/>
          </a:prstGeom>
          <a:noFill/>
          <a:ln/>
        </p:spPr>
        <p:txBody>
          <a:bodyPr wrap="square" rtlCol="0" anchor="ctr"/>
          <a:lstStyle/>
          <a:p>
            <a:pPr marL="0" indent="0">
              <a:lnSpc>
                <a:spcPct val="120000"/>
              </a:lnSpc>
              <a:buNone/>
            </a:pPr>
            <a:r>
              <a:rPr lang="en-US" sz="1450" b="1" dirty="0">
                <a:solidFill>
                  <a:srgbClr val="FFFFFF"/>
                </a:solidFill>
                <a:latin typeface="Times New Roman" pitchFamily="34" charset="0"/>
                <a:ea typeface="Times New Roman" pitchFamily="34" charset="-122"/>
                <a:cs typeface="Times New Roman" pitchFamily="34" charset="-120"/>
              </a:rPr>
              <a:t>Yet clinicians still cannot fully trust these predictions.</a:t>
            </a:r>
            <a:endParaRPr lang="en-US" sz="1450" dirty="0"/>
          </a:p>
        </p:txBody>
      </p:sp>
      <p:sp>
        <p:nvSpPr>
          <p:cNvPr id="24" name="Text 21"/>
          <p:cNvSpPr/>
          <p:nvPr/>
        </p:nvSpPr>
        <p:spPr>
          <a:xfrm>
            <a:off x="685800" y="5532120"/>
            <a:ext cx="10817352" cy="502920"/>
          </a:xfrm>
          <a:prstGeom prst="rect">
            <a:avLst/>
          </a:prstGeom>
          <a:noFill/>
          <a:ln/>
        </p:spPr>
        <p:txBody>
          <a:bodyPr wrap="square" rtlCol="0" anchor="ctr"/>
          <a:lstStyle/>
          <a:p>
            <a:pPr marL="0" indent="0" algn="ctr">
              <a:buNone/>
            </a:pPr>
            <a:r>
              <a:rPr lang="en-US" sz="1900" b="1" i="1" dirty="0">
                <a:solidFill>
                  <a:srgbClr val="2E86AB"/>
                </a:solidFill>
                <a:latin typeface="Montserrat" pitchFamily="34" charset="0"/>
                <a:ea typeface="Montserrat" pitchFamily="34" charset="-122"/>
                <a:cs typeface="Montserrat" pitchFamily="34" charset="-120"/>
              </a:rPr>
              <a:t>Why does such an accurate model still remain difficult to trust?</a:t>
            </a:r>
            <a:endParaRPr lang="en-US" sz="1900" dirty="0"/>
          </a:p>
        </p:txBody>
      </p:sp>
      <p:sp>
        <p:nvSpPr>
          <p:cNvPr id="25" name="Text 22"/>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26" name="Text 23"/>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6</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PROBLEM STATEMENT</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The Black-Box Problem</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04 · Problem</a:t>
            </a:r>
            <a:endParaRPr lang="en-US" sz="1000" dirty="0"/>
          </a:p>
        </p:txBody>
      </p:sp>
      <p:sp>
        <p:nvSpPr>
          <p:cNvPr id="6" name="Text 4"/>
          <p:cNvSpPr/>
          <p:nvPr/>
        </p:nvSpPr>
        <p:spPr>
          <a:xfrm>
            <a:off x="548640" y="1234440"/>
            <a:ext cx="11064240" cy="457200"/>
          </a:xfrm>
          <a:prstGeom prst="rect">
            <a:avLst/>
          </a:prstGeom>
          <a:noFill/>
          <a:ln/>
        </p:spPr>
        <p:txBody>
          <a:bodyPr wrap="square" rtlCol="0" anchor="ctr"/>
          <a:lstStyle/>
          <a:p>
            <a:pPr marL="0" indent="0">
              <a:buNone/>
            </a:pPr>
            <a:r>
              <a:rPr lang="en-US" sz="1350" i="1" dirty="0">
                <a:solidFill>
                  <a:srgbClr val="1B2A38"/>
                </a:solidFill>
                <a:latin typeface="Times New Roman" pitchFamily="34" charset="0"/>
                <a:ea typeface="Times New Roman" pitchFamily="34" charset="-122"/>
                <a:cs typeface="Times New Roman" pitchFamily="34" charset="-120"/>
              </a:rPr>
              <a:t>A CNN can be extremely accurate and still be impossible to interrogate ; it gives an answer, not a reason.</a:t>
            </a:r>
            <a:endParaRPr lang="en-US" sz="1350" dirty="0"/>
          </a:p>
        </p:txBody>
      </p:sp>
      <p:sp>
        <p:nvSpPr>
          <p:cNvPr id="7" name="Shape 5"/>
          <p:cNvSpPr/>
          <p:nvPr/>
        </p:nvSpPr>
        <p:spPr>
          <a:xfrm>
            <a:off x="548640" y="1965960"/>
            <a:ext cx="3611880" cy="2331720"/>
          </a:xfrm>
          <a:prstGeom prst="roundRect">
            <a:avLst>
              <a:gd name="adj" fmla="val 3529"/>
            </a:avLst>
          </a:prstGeom>
          <a:solidFill>
            <a:srgbClr val="F4F8FB"/>
          </a:solidFill>
          <a:ln w="12700">
            <a:solidFill>
              <a:srgbClr val="DCE6EE"/>
            </a:solidFill>
            <a:prstDash val="solid"/>
          </a:ln>
        </p:spPr>
        <p:txBody>
          <a:bodyPr/>
          <a:lstStyle/>
          <a:p>
            <a:endParaRPr lang="en-US"/>
          </a:p>
        </p:txBody>
      </p:sp>
      <p:sp>
        <p:nvSpPr>
          <p:cNvPr id="8" name="Shape 6"/>
          <p:cNvSpPr/>
          <p:nvPr/>
        </p:nvSpPr>
        <p:spPr>
          <a:xfrm>
            <a:off x="777240" y="2194560"/>
            <a:ext cx="502920" cy="502920"/>
          </a:xfrm>
          <a:prstGeom prst="ellipse">
            <a:avLst/>
          </a:prstGeom>
          <a:solidFill>
            <a:srgbClr val="0F4C81"/>
          </a:solidFill>
          <a:ln/>
        </p:spPr>
        <p:txBody>
          <a:bodyPr/>
          <a:lstStyle/>
          <a:p>
            <a:endParaRPr lang="en-US"/>
          </a:p>
        </p:txBody>
      </p:sp>
      <p:sp>
        <p:nvSpPr>
          <p:cNvPr id="9" name="Text 7"/>
          <p:cNvSpPr/>
          <p:nvPr/>
        </p:nvSpPr>
        <p:spPr>
          <a:xfrm>
            <a:off x="777240" y="2194560"/>
            <a:ext cx="502920" cy="502920"/>
          </a:xfrm>
          <a:prstGeom prst="rect">
            <a:avLst/>
          </a:prstGeom>
          <a:no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10" name="Text 8"/>
          <p:cNvSpPr/>
          <p:nvPr/>
        </p:nvSpPr>
        <p:spPr>
          <a:xfrm>
            <a:off x="777240" y="2834640"/>
            <a:ext cx="3154680" cy="594360"/>
          </a:xfrm>
          <a:prstGeom prst="rect">
            <a:avLst/>
          </a:prstGeom>
          <a:noFill/>
          <a:ln/>
        </p:spPr>
        <p:txBody>
          <a:bodyPr wrap="square" rtlCol="0" anchor="ctr"/>
          <a:lstStyle/>
          <a:p>
            <a:pPr marL="0" indent="0">
              <a:lnSpc>
                <a:spcPct val="105000"/>
              </a:lnSpc>
              <a:buNone/>
            </a:pPr>
            <a:r>
              <a:rPr lang="en-US" sz="1450" b="1" dirty="0">
                <a:solidFill>
                  <a:srgbClr val="0B3A5D"/>
                </a:solidFill>
                <a:latin typeface="Times New Roman" pitchFamily="34" charset="0"/>
                <a:ea typeface="Times New Roman" pitchFamily="34" charset="-122"/>
                <a:cs typeface="Times New Roman" pitchFamily="34" charset="-120"/>
              </a:rPr>
              <a:t>Deep Learning is a</a:t>
            </a:r>
            <a:endParaRPr lang="en-US" sz="1450" dirty="0"/>
          </a:p>
          <a:p>
            <a:pPr marL="0" indent="0">
              <a:lnSpc>
                <a:spcPct val="105000"/>
              </a:lnSpc>
              <a:buNone/>
            </a:pPr>
            <a:r>
              <a:rPr lang="en-US" sz="1450" b="1" dirty="0">
                <a:solidFill>
                  <a:srgbClr val="0B3A5D"/>
                </a:solidFill>
                <a:latin typeface="Times New Roman" pitchFamily="34" charset="0"/>
                <a:ea typeface="Times New Roman" pitchFamily="34" charset="-122"/>
                <a:cs typeface="Times New Roman" pitchFamily="34" charset="-120"/>
              </a:rPr>
              <a:t>“Black Box”</a:t>
            </a:r>
            <a:endParaRPr lang="en-US" sz="1450" dirty="0"/>
          </a:p>
        </p:txBody>
      </p:sp>
      <p:sp>
        <p:nvSpPr>
          <p:cNvPr id="11" name="Text 9"/>
          <p:cNvSpPr/>
          <p:nvPr/>
        </p:nvSpPr>
        <p:spPr>
          <a:xfrm>
            <a:off x="777240" y="3447288"/>
            <a:ext cx="3154680" cy="777240"/>
          </a:xfrm>
          <a:prstGeom prst="rect">
            <a:avLst/>
          </a:prstGeom>
          <a:noFill/>
          <a:ln/>
        </p:spPr>
        <p:txBody>
          <a:bodyPr wrap="square" rtlCol="0" anchor="ctr"/>
          <a:lstStyle/>
          <a:p>
            <a:pPr marL="0" indent="0">
              <a:lnSpc>
                <a:spcPct val="115000"/>
              </a:lnSpc>
              <a:buNone/>
            </a:pPr>
            <a:r>
              <a:rPr lang="en-US" sz="1080" dirty="0">
                <a:solidFill>
                  <a:srgbClr val="1B2A38"/>
                </a:solidFill>
                <a:latin typeface="Times New Roman" pitchFamily="34" charset="0"/>
                <a:ea typeface="Times New Roman" pitchFamily="34" charset="-122"/>
                <a:cs typeface="Times New Roman" pitchFamily="34" charset="-120"/>
              </a:rPr>
              <a:t>The internal reasoning of a CNN is hidden. It predicts a disease class but does not explain which image features drove that decision .</a:t>
            </a:r>
            <a:endParaRPr lang="en-US" sz="1080" dirty="0"/>
          </a:p>
        </p:txBody>
      </p:sp>
      <p:sp>
        <p:nvSpPr>
          <p:cNvPr id="12" name="Shape 10"/>
          <p:cNvSpPr/>
          <p:nvPr/>
        </p:nvSpPr>
        <p:spPr>
          <a:xfrm>
            <a:off x="4379976" y="1965960"/>
            <a:ext cx="3611880" cy="2331720"/>
          </a:xfrm>
          <a:prstGeom prst="roundRect">
            <a:avLst>
              <a:gd name="adj" fmla="val 3529"/>
            </a:avLst>
          </a:prstGeom>
          <a:solidFill>
            <a:srgbClr val="F4F8FB"/>
          </a:solidFill>
          <a:ln w="12700">
            <a:solidFill>
              <a:srgbClr val="DCE6EE"/>
            </a:solidFill>
            <a:prstDash val="solid"/>
          </a:ln>
        </p:spPr>
        <p:txBody>
          <a:bodyPr/>
          <a:lstStyle/>
          <a:p>
            <a:endParaRPr lang="en-US"/>
          </a:p>
        </p:txBody>
      </p:sp>
      <p:sp>
        <p:nvSpPr>
          <p:cNvPr id="13" name="Shape 11"/>
          <p:cNvSpPr/>
          <p:nvPr/>
        </p:nvSpPr>
        <p:spPr>
          <a:xfrm>
            <a:off x="4608576" y="2194560"/>
            <a:ext cx="502920" cy="502920"/>
          </a:xfrm>
          <a:prstGeom prst="ellipse">
            <a:avLst/>
          </a:prstGeom>
          <a:solidFill>
            <a:srgbClr val="0F4C81"/>
          </a:solidFill>
          <a:ln/>
        </p:spPr>
        <p:txBody>
          <a:bodyPr/>
          <a:lstStyle/>
          <a:p>
            <a:endParaRPr lang="en-US"/>
          </a:p>
        </p:txBody>
      </p:sp>
      <p:sp>
        <p:nvSpPr>
          <p:cNvPr id="14" name="Text 12"/>
          <p:cNvSpPr/>
          <p:nvPr/>
        </p:nvSpPr>
        <p:spPr>
          <a:xfrm>
            <a:off x="4608576" y="2194560"/>
            <a:ext cx="502920" cy="502920"/>
          </a:xfrm>
          <a:prstGeom prst="rect">
            <a:avLst/>
          </a:prstGeom>
          <a:no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5" name="Text 13"/>
          <p:cNvSpPr/>
          <p:nvPr/>
        </p:nvSpPr>
        <p:spPr>
          <a:xfrm>
            <a:off x="4608576" y="2834640"/>
            <a:ext cx="3154680" cy="594360"/>
          </a:xfrm>
          <a:prstGeom prst="rect">
            <a:avLst/>
          </a:prstGeom>
          <a:noFill/>
          <a:ln/>
        </p:spPr>
        <p:txBody>
          <a:bodyPr wrap="square" rtlCol="0" anchor="ctr"/>
          <a:lstStyle/>
          <a:p>
            <a:pPr marL="0" indent="0">
              <a:lnSpc>
                <a:spcPct val="105000"/>
              </a:lnSpc>
              <a:buNone/>
            </a:pPr>
            <a:r>
              <a:rPr lang="en-US" sz="1450" b="1" dirty="0">
                <a:solidFill>
                  <a:srgbClr val="0B3A5D"/>
                </a:solidFill>
                <a:latin typeface="Times New Roman" pitchFamily="34" charset="0"/>
                <a:ea typeface="Times New Roman" pitchFamily="34" charset="-122"/>
                <a:cs typeface="Times New Roman" pitchFamily="34" charset="-120"/>
              </a:rPr>
              <a:t>Doctors Need</a:t>
            </a:r>
            <a:endParaRPr lang="en-US" sz="1450" dirty="0"/>
          </a:p>
          <a:p>
            <a:pPr marL="0" indent="0">
              <a:lnSpc>
                <a:spcPct val="105000"/>
              </a:lnSpc>
              <a:buNone/>
            </a:pPr>
            <a:r>
              <a:rPr lang="en-US" sz="1450" b="1" dirty="0">
                <a:solidFill>
                  <a:srgbClr val="0B3A5D"/>
                </a:solidFill>
                <a:latin typeface="Times New Roman" pitchFamily="34" charset="0"/>
                <a:ea typeface="Times New Roman" pitchFamily="34" charset="-122"/>
                <a:cs typeface="Times New Roman" pitchFamily="34" charset="-120"/>
              </a:rPr>
              <a:t>Explanations</a:t>
            </a:r>
            <a:endParaRPr lang="en-US" sz="1450" dirty="0"/>
          </a:p>
        </p:txBody>
      </p:sp>
      <p:sp>
        <p:nvSpPr>
          <p:cNvPr id="16" name="Text 14"/>
          <p:cNvSpPr/>
          <p:nvPr/>
        </p:nvSpPr>
        <p:spPr>
          <a:xfrm>
            <a:off x="4608576" y="3447288"/>
            <a:ext cx="3154680" cy="777240"/>
          </a:xfrm>
          <a:prstGeom prst="rect">
            <a:avLst/>
          </a:prstGeom>
          <a:noFill/>
          <a:ln/>
        </p:spPr>
        <p:txBody>
          <a:bodyPr wrap="square" rtlCol="0" anchor="ctr"/>
          <a:lstStyle/>
          <a:p>
            <a:pPr marL="0" indent="0">
              <a:lnSpc>
                <a:spcPct val="115000"/>
              </a:lnSpc>
              <a:buNone/>
            </a:pPr>
            <a:r>
              <a:rPr lang="en-US" sz="1080" dirty="0">
                <a:solidFill>
                  <a:srgbClr val="1B2A38"/>
                </a:solidFill>
                <a:latin typeface="Times New Roman" pitchFamily="34" charset="0"/>
                <a:ea typeface="Times New Roman" pitchFamily="34" charset="-122"/>
                <a:cs typeface="Times New Roman" pitchFamily="34" charset="-120"/>
              </a:rPr>
              <a:t>Clinicians are reluctant to act on a prediction they cannot independently verify ; trust requires transparency, not just accuracy.</a:t>
            </a:r>
            <a:endParaRPr lang="en-US" sz="1080" dirty="0"/>
          </a:p>
        </p:txBody>
      </p:sp>
      <p:sp>
        <p:nvSpPr>
          <p:cNvPr id="17" name="Shape 15"/>
          <p:cNvSpPr/>
          <p:nvPr/>
        </p:nvSpPr>
        <p:spPr>
          <a:xfrm>
            <a:off x="8211312" y="1965960"/>
            <a:ext cx="3611880" cy="2331720"/>
          </a:xfrm>
          <a:prstGeom prst="roundRect">
            <a:avLst>
              <a:gd name="adj" fmla="val 3529"/>
            </a:avLst>
          </a:prstGeom>
          <a:solidFill>
            <a:srgbClr val="F4F8FB"/>
          </a:solidFill>
          <a:ln w="12700">
            <a:solidFill>
              <a:srgbClr val="DCE6EE"/>
            </a:solidFill>
            <a:prstDash val="solid"/>
          </a:ln>
        </p:spPr>
        <p:txBody>
          <a:bodyPr/>
          <a:lstStyle/>
          <a:p>
            <a:endParaRPr lang="en-US"/>
          </a:p>
        </p:txBody>
      </p:sp>
      <p:sp>
        <p:nvSpPr>
          <p:cNvPr id="18" name="Shape 16"/>
          <p:cNvSpPr/>
          <p:nvPr/>
        </p:nvSpPr>
        <p:spPr>
          <a:xfrm>
            <a:off x="8439912" y="2194560"/>
            <a:ext cx="502920" cy="502920"/>
          </a:xfrm>
          <a:prstGeom prst="ellipse">
            <a:avLst/>
          </a:prstGeom>
          <a:solidFill>
            <a:srgbClr val="0F4C81"/>
          </a:solidFill>
          <a:ln/>
        </p:spPr>
        <p:txBody>
          <a:bodyPr/>
          <a:lstStyle/>
          <a:p>
            <a:endParaRPr lang="en-US"/>
          </a:p>
        </p:txBody>
      </p:sp>
      <p:sp>
        <p:nvSpPr>
          <p:cNvPr id="19" name="Text 17"/>
          <p:cNvSpPr/>
          <p:nvPr/>
        </p:nvSpPr>
        <p:spPr>
          <a:xfrm>
            <a:off x="8439912" y="2194560"/>
            <a:ext cx="502920" cy="502920"/>
          </a:xfrm>
          <a:prstGeom prst="rect">
            <a:avLst/>
          </a:prstGeom>
          <a:no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20" name="Text 18"/>
          <p:cNvSpPr/>
          <p:nvPr/>
        </p:nvSpPr>
        <p:spPr>
          <a:xfrm>
            <a:off x="8439912" y="2834640"/>
            <a:ext cx="3154680" cy="594360"/>
          </a:xfrm>
          <a:prstGeom prst="rect">
            <a:avLst/>
          </a:prstGeom>
          <a:noFill/>
          <a:ln/>
        </p:spPr>
        <p:txBody>
          <a:bodyPr wrap="square" rtlCol="0" anchor="ctr"/>
          <a:lstStyle/>
          <a:p>
            <a:pPr marL="0" indent="0">
              <a:lnSpc>
                <a:spcPct val="105000"/>
              </a:lnSpc>
              <a:buNone/>
            </a:pPr>
            <a:r>
              <a:rPr lang="en-US" sz="1450" b="1" dirty="0">
                <a:solidFill>
                  <a:srgbClr val="0B3A5D"/>
                </a:solidFill>
                <a:latin typeface="Times New Roman" pitchFamily="34" charset="0"/>
                <a:ea typeface="Times New Roman" pitchFamily="34" charset="-122"/>
                <a:cs typeface="Times New Roman" pitchFamily="34" charset="-120"/>
              </a:rPr>
              <a:t>Explainable AI</a:t>
            </a:r>
            <a:endParaRPr lang="en-US" sz="1450" dirty="0"/>
          </a:p>
          <a:p>
            <a:pPr marL="0" indent="0">
              <a:lnSpc>
                <a:spcPct val="105000"/>
              </a:lnSpc>
              <a:buNone/>
            </a:pPr>
            <a:r>
              <a:rPr lang="en-US" sz="1450" b="1" dirty="0">
                <a:solidFill>
                  <a:srgbClr val="0B3A5D"/>
                </a:solidFill>
                <a:latin typeface="Times New Roman" pitchFamily="34" charset="0"/>
                <a:ea typeface="Times New Roman" pitchFamily="34" charset="-122"/>
                <a:cs typeface="Times New Roman" pitchFamily="34" charset="-120"/>
              </a:rPr>
              <a:t>(XAI)</a:t>
            </a:r>
            <a:endParaRPr lang="en-US" sz="1450" dirty="0"/>
          </a:p>
        </p:txBody>
      </p:sp>
      <p:sp>
        <p:nvSpPr>
          <p:cNvPr id="21" name="Text 19"/>
          <p:cNvSpPr/>
          <p:nvPr/>
        </p:nvSpPr>
        <p:spPr>
          <a:xfrm>
            <a:off x="8439912" y="3447288"/>
            <a:ext cx="3154680" cy="777240"/>
          </a:xfrm>
          <a:prstGeom prst="rect">
            <a:avLst/>
          </a:prstGeom>
          <a:noFill/>
          <a:ln/>
        </p:spPr>
        <p:txBody>
          <a:bodyPr wrap="square" rtlCol="0" anchor="ctr"/>
          <a:lstStyle/>
          <a:p>
            <a:pPr marL="0" indent="0">
              <a:lnSpc>
                <a:spcPct val="115000"/>
              </a:lnSpc>
              <a:buNone/>
            </a:pPr>
            <a:r>
              <a:rPr lang="en-US" sz="1080" dirty="0">
                <a:solidFill>
                  <a:srgbClr val="1B2A38"/>
                </a:solidFill>
                <a:latin typeface="Times New Roman" pitchFamily="34" charset="0"/>
                <a:ea typeface="Times New Roman" pitchFamily="34" charset="-122"/>
                <a:cs typeface="Times New Roman" pitchFamily="34" charset="-120"/>
              </a:rPr>
              <a:t>XAI techniques convert opaque model predictions into visual explanations, highlighting the regions that influenced the decision.</a:t>
            </a:r>
            <a:endParaRPr lang="en-US" sz="1080" dirty="0"/>
          </a:p>
        </p:txBody>
      </p:sp>
      <p:sp>
        <p:nvSpPr>
          <p:cNvPr id="22" name="Shape 20"/>
          <p:cNvSpPr/>
          <p:nvPr/>
        </p:nvSpPr>
        <p:spPr>
          <a:xfrm>
            <a:off x="548640" y="4572000"/>
            <a:ext cx="11064240" cy="960120"/>
          </a:xfrm>
          <a:prstGeom prst="roundRect">
            <a:avLst>
              <a:gd name="adj" fmla="val 8571"/>
            </a:avLst>
          </a:prstGeom>
          <a:solidFill>
            <a:srgbClr val="0B3A5D"/>
          </a:solidFill>
          <a:ln/>
        </p:spPr>
        <p:txBody>
          <a:bodyPr/>
          <a:lstStyle/>
          <a:p>
            <a:endParaRPr lang="en-US"/>
          </a:p>
        </p:txBody>
      </p:sp>
      <p:sp>
        <p:nvSpPr>
          <p:cNvPr id="23" name="Text 21"/>
          <p:cNvSpPr/>
          <p:nvPr/>
        </p:nvSpPr>
        <p:spPr>
          <a:xfrm>
            <a:off x="822960" y="4572000"/>
            <a:ext cx="10515600" cy="960120"/>
          </a:xfrm>
          <a:prstGeom prst="rect">
            <a:avLst/>
          </a:prstGeom>
          <a:noFill/>
          <a:ln/>
        </p:spPr>
        <p:txBody>
          <a:bodyPr wrap="square" rtlCol="0" anchor="ctr"/>
          <a:lstStyle/>
          <a:p>
            <a:pPr marL="0" indent="0">
              <a:buNone/>
            </a:pPr>
            <a:r>
              <a:rPr lang="en-US" sz="1450" b="1" dirty="0">
                <a:solidFill>
                  <a:srgbClr val="FFFFFF"/>
                </a:solidFill>
                <a:latin typeface="Times New Roman" pitchFamily="34" charset="0"/>
                <a:ea typeface="Times New Roman" pitchFamily="34" charset="-122"/>
                <a:cs typeface="Times New Roman" pitchFamily="34" charset="-120"/>
              </a:rPr>
              <a:t>Among all XAI techniques, Grad-CAM remains the most widely used method for explaining CNN-based image classifiers.</a:t>
            </a:r>
            <a:endParaRPr lang="en-US" sz="1450" dirty="0"/>
          </a:p>
        </p:txBody>
      </p:sp>
      <p:sp>
        <p:nvSpPr>
          <p:cNvPr id="24" name="Text 22"/>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25" name="Text 23"/>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7</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PROBLEM STATEMENT</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IN" sz="3000" b="1" dirty="0">
                <a:solidFill>
                  <a:srgbClr val="0B3A5D"/>
                </a:solidFill>
                <a:latin typeface="Montserrat" pitchFamily="34" charset="0"/>
              </a:rPr>
              <a:t>G</a:t>
            </a:r>
            <a:r>
              <a:rPr lang="en-US" sz="3000" b="1" dirty="0">
                <a:solidFill>
                  <a:srgbClr val="0B3A5D"/>
                </a:solidFill>
                <a:latin typeface="Montserrat" pitchFamily="34" charset="0"/>
              </a:rPr>
              <a:t>rad-CAM</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04 · Problem</a:t>
            </a:r>
            <a:endParaRPr lang="en-US" sz="1000" dirty="0"/>
          </a:p>
        </p:txBody>
      </p:sp>
      <p:sp>
        <p:nvSpPr>
          <p:cNvPr id="6" name="Text 4"/>
          <p:cNvSpPr/>
          <p:nvPr/>
        </p:nvSpPr>
        <p:spPr>
          <a:xfrm>
            <a:off x="548640" y="1188720"/>
            <a:ext cx="11064240" cy="365760"/>
          </a:xfrm>
          <a:prstGeom prst="rect">
            <a:avLst/>
          </a:prstGeom>
          <a:noFill/>
          <a:ln/>
        </p:spPr>
        <p:txBody>
          <a:bodyPr wrap="square" rtlCol="0" anchor="ctr"/>
          <a:lstStyle/>
          <a:p>
            <a:pPr marL="0" indent="0">
              <a:buNone/>
            </a:pPr>
            <a:r>
              <a:rPr lang="en-US" sz="1350" i="1" dirty="0">
                <a:solidFill>
                  <a:srgbClr val="1B2A38"/>
                </a:solidFill>
                <a:latin typeface="Times New Roman" pitchFamily="34" charset="0"/>
                <a:ea typeface="Times New Roman" pitchFamily="34" charset="-122"/>
                <a:cs typeface="Times New Roman" pitchFamily="34" charset="-120"/>
              </a:rPr>
              <a:t>Among many XAI techniques, Grad-Cam is one of the most widely used methods for explaining CNN-based image classification.</a:t>
            </a:r>
            <a:endParaRPr lang="en-US" sz="1350" dirty="0"/>
          </a:p>
        </p:txBody>
      </p:sp>
      <p:sp>
        <p:nvSpPr>
          <p:cNvPr id="7" name="Shape 5"/>
          <p:cNvSpPr/>
          <p:nvPr/>
        </p:nvSpPr>
        <p:spPr>
          <a:xfrm>
            <a:off x="548640" y="1691640"/>
            <a:ext cx="2651760" cy="1691640"/>
          </a:xfrm>
          <a:prstGeom prst="roundRect">
            <a:avLst>
              <a:gd name="adj" fmla="val 4865"/>
            </a:avLst>
          </a:prstGeom>
          <a:solidFill>
            <a:srgbClr val="F4F8FB"/>
          </a:solidFill>
          <a:ln w="12700">
            <a:solidFill>
              <a:srgbClr val="DCE6EE"/>
            </a:solidFill>
            <a:prstDash val="solid"/>
          </a:ln>
        </p:spPr>
        <p:txBody>
          <a:bodyPr/>
          <a:lstStyle/>
          <a:p>
            <a:endParaRPr lang="en-US"/>
          </a:p>
        </p:txBody>
      </p:sp>
      <p:sp>
        <p:nvSpPr>
          <p:cNvPr id="8" name="Shape 6"/>
          <p:cNvSpPr/>
          <p:nvPr/>
        </p:nvSpPr>
        <p:spPr>
          <a:xfrm>
            <a:off x="731520" y="1874520"/>
            <a:ext cx="384048" cy="384048"/>
          </a:xfrm>
          <a:prstGeom prst="ellipse">
            <a:avLst/>
          </a:prstGeom>
          <a:solidFill>
            <a:srgbClr val="0F4C81"/>
          </a:solidFill>
          <a:ln/>
        </p:spPr>
        <p:txBody>
          <a:bodyPr/>
          <a:lstStyle/>
          <a:p>
            <a:endParaRPr lang="en-US"/>
          </a:p>
        </p:txBody>
      </p:sp>
      <p:sp>
        <p:nvSpPr>
          <p:cNvPr id="9" name="Text 7"/>
          <p:cNvSpPr/>
          <p:nvPr/>
        </p:nvSpPr>
        <p:spPr>
          <a:xfrm>
            <a:off x="731520" y="1874520"/>
            <a:ext cx="384048" cy="384048"/>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1</a:t>
            </a:r>
            <a:endParaRPr lang="en-US" sz="1500" dirty="0"/>
          </a:p>
        </p:txBody>
      </p:sp>
      <p:sp>
        <p:nvSpPr>
          <p:cNvPr id="10" name="Text 8"/>
          <p:cNvSpPr/>
          <p:nvPr/>
        </p:nvSpPr>
        <p:spPr>
          <a:xfrm>
            <a:off x="731520" y="2350008"/>
            <a:ext cx="2286000" cy="365760"/>
          </a:xfrm>
          <a:prstGeom prst="rect">
            <a:avLst/>
          </a:prstGeom>
          <a:noFill/>
          <a:ln/>
        </p:spPr>
        <p:txBody>
          <a:bodyPr wrap="square" rtlCol="0" anchor="ctr"/>
          <a:lstStyle/>
          <a:p>
            <a:pPr marL="0" indent="0">
              <a:buNone/>
            </a:pPr>
            <a:r>
              <a:rPr lang="en-US" sz="1300" b="1" dirty="0">
                <a:solidFill>
                  <a:srgbClr val="0B3A5D"/>
                </a:solidFill>
                <a:latin typeface="Montserrat" pitchFamily="34" charset="0"/>
                <a:ea typeface="Montserrat" pitchFamily="34" charset="-122"/>
                <a:cs typeface="Montserrat" pitchFamily="34" charset="-120"/>
              </a:rPr>
              <a:t>Forward Pass</a:t>
            </a:r>
            <a:endParaRPr lang="en-US" sz="1300" dirty="0"/>
          </a:p>
        </p:txBody>
      </p:sp>
      <p:sp>
        <p:nvSpPr>
          <p:cNvPr id="11" name="Text 9"/>
          <p:cNvSpPr/>
          <p:nvPr/>
        </p:nvSpPr>
        <p:spPr>
          <a:xfrm>
            <a:off x="731520" y="2697480"/>
            <a:ext cx="2286000" cy="640080"/>
          </a:xfrm>
          <a:prstGeom prst="rect">
            <a:avLst/>
          </a:prstGeom>
          <a:noFill/>
          <a:ln/>
        </p:spPr>
        <p:txBody>
          <a:bodyPr wrap="square" rtlCol="0" anchor="ctr"/>
          <a:lstStyle/>
          <a:p>
            <a:pPr marL="0" indent="0">
              <a:lnSpc>
                <a:spcPct val="116000"/>
              </a:lnSpc>
              <a:buNone/>
            </a:pPr>
            <a:r>
              <a:rPr lang="en-US" sz="1050" dirty="0">
                <a:solidFill>
                  <a:srgbClr val="1B2A38"/>
                </a:solidFill>
                <a:latin typeface="Times New Roman" pitchFamily="34" charset="0"/>
                <a:ea typeface="Times New Roman" pitchFamily="34" charset="-122"/>
                <a:cs typeface="Times New Roman" pitchFamily="34" charset="-120"/>
              </a:rPr>
              <a:t>The OCT image passes through the CNN; the last convolutional layer produces a set of feature maps.</a:t>
            </a:r>
            <a:endParaRPr lang="en-US" sz="1050" dirty="0"/>
          </a:p>
        </p:txBody>
      </p:sp>
      <p:sp>
        <p:nvSpPr>
          <p:cNvPr id="12" name="Shape 10"/>
          <p:cNvSpPr/>
          <p:nvPr/>
        </p:nvSpPr>
        <p:spPr>
          <a:xfrm>
            <a:off x="3218688" y="2350008"/>
            <a:ext cx="137160" cy="256032"/>
          </a:xfrm>
          <a:prstGeom prst="rightArrow">
            <a:avLst/>
          </a:prstGeom>
          <a:solidFill>
            <a:srgbClr val="2E86AB"/>
          </a:solidFill>
          <a:ln/>
        </p:spPr>
        <p:txBody>
          <a:bodyPr/>
          <a:lstStyle/>
          <a:p>
            <a:endParaRPr lang="en-US"/>
          </a:p>
        </p:txBody>
      </p:sp>
      <p:sp>
        <p:nvSpPr>
          <p:cNvPr id="13" name="Shape 11"/>
          <p:cNvSpPr/>
          <p:nvPr/>
        </p:nvSpPr>
        <p:spPr>
          <a:xfrm>
            <a:off x="3383280" y="1691640"/>
            <a:ext cx="2651760" cy="1691640"/>
          </a:xfrm>
          <a:prstGeom prst="roundRect">
            <a:avLst>
              <a:gd name="adj" fmla="val 4865"/>
            </a:avLst>
          </a:prstGeom>
          <a:solidFill>
            <a:srgbClr val="F4F8FB"/>
          </a:solidFill>
          <a:ln w="12700">
            <a:solidFill>
              <a:srgbClr val="DCE6EE"/>
            </a:solidFill>
            <a:prstDash val="solid"/>
          </a:ln>
        </p:spPr>
        <p:txBody>
          <a:bodyPr/>
          <a:lstStyle/>
          <a:p>
            <a:endParaRPr lang="en-US"/>
          </a:p>
        </p:txBody>
      </p:sp>
      <p:sp>
        <p:nvSpPr>
          <p:cNvPr id="14" name="Shape 12"/>
          <p:cNvSpPr/>
          <p:nvPr/>
        </p:nvSpPr>
        <p:spPr>
          <a:xfrm>
            <a:off x="3566160" y="1874520"/>
            <a:ext cx="384048" cy="384048"/>
          </a:xfrm>
          <a:prstGeom prst="ellipse">
            <a:avLst/>
          </a:prstGeom>
          <a:solidFill>
            <a:srgbClr val="0F4C81"/>
          </a:solidFill>
          <a:ln/>
        </p:spPr>
        <p:txBody>
          <a:bodyPr/>
          <a:lstStyle/>
          <a:p>
            <a:endParaRPr lang="en-US"/>
          </a:p>
        </p:txBody>
      </p:sp>
      <p:sp>
        <p:nvSpPr>
          <p:cNvPr id="15" name="Text 13"/>
          <p:cNvSpPr/>
          <p:nvPr/>
        </p:nvSpPr>
        <p:spPr>
          <a:xfrm>
            <a:off x="3566160" y="1874520"/>
            <a:ext cx="384048" cy="384048"/>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6" name="Text 14"/>
          <p:cNvSpPr/>
          <p:nvPr/>
        </p:nvSpPr>
        <p:spPr>
          <a:xfrm>
            <a:off x="3566160" y="2350008"/>
            <a:ext cx="2286000" cy="365760"/>
          </a:xfrm>
          <a:prstGeom prst="rect">
            <a:avLst/>
          </a:prstGeom>
          <a:noFill/>
          <a:ln/>
        </p:spPr>
        <p:txBody>
          <a:bodyPr wrap="square" rtlCol="0" anchor="ctr"/>
          <a:lstStyle/>
          <a:p>
            <a:pPr marL="0" indent="0">
              <a:buNone/>
            </a:pPr>
            <a:r>
              <a:rPr lang="en-US" sz="1300" b="1" dirty="0">
                <a:solidFill>
                  <a:srgbClr val="0B3A5D"/>
                </a:solidFill>
                <a:latin typeface="Montserrat" pitchFamily="34" charset="0"/>
                <a:ea typeface="Montserrat" pitchFamily="34" charset="-122"/>
                <a:cs typeface="Montserrat" pitchFamily="34" charset="-120"/>
              </a:rPr>
              <a:t>Compute Gradients</a:t>
            </a:r>
            <a:endParaRPr lang="en-US" sz="1300" dirty="0"/>
          </a:p>
        </p:txBody>
      </p:sp>
      <p:sp>
        <p:nvSpPr>
          <p:cNvPr id="17" name="Text 15"/>
          <p:cNvSpPr/>
          <p:nvPr/>
        </p:nvSpPr>
        <p:spPr>
          <a:xfrm>
            <a:off x="3566160" y="2697480"/>
            <a:ext cx="2286000" cy="640080"/>
          </a:xfrm>
          <a:prstGeom prst="rect">
            <a:avLst/>
          </a:prstGeom>
          <a:noFill/>
          <a:ln/>
        </p:spPr>
        <p:txBody>
          <a:bodyPr wrap="square" rtlCol="0" anchor="ctr"/>
          <a:lstStyle/>
          <a:p>
            <a:pPr>
              <a:lnSpc>
                <a:spcPct val="116000"/>
              </a:lnSpc>
            </a:pPr>
            <a:r>
              <a:rPr lang="en-US" sz="1050" dirty="0">
                <a:solidFill>
                  <a:srgbClr val="1B2A38"/>
                </a:solidFill>
                <a:latin typeface="Times New Roman" pitchFamily="34" charset="0"/>
                <a:ea typeface="Times New Roman" pitchFamily="34" charset="-122"/>
                <a:cs typeface="Times New Roman" pitchFamily="34" charset="-120"/>
              </a:rPr>
              <a:t>Grad-</a:t>
            </a:r>
            <a:r>
              <a:rPr lang="en-IN" sz="1050" dirty="0">
                <a:solidFill>
                  <a:srgbClr val="1B2A38"/>
                </a:solidFill>
                <a:latin typeface="Times New Roman" pitchFamily="34" charset="0"/>
                <a:ea typeface="Times New Roman" pitchFamily="34" charset="-122"/>
                <a:cs typeface="Times New Roman" pitchFamily="34" charset="-120"/>
              </a:rPr>
              <a:t>CAM computes the gradients of the predicted class with respect to each feature map.</a:t>
            </a:r>
            <a:endParaRPr lang="en-US" sz="1050" dirty="0"/>
          </a:p>
        </p:txBody>
      </p:sp>
      <p:sp>
        <p:nvSpPr>
          <p:cNvPr id="18" name="Shape 16"/>
          <p:cNvSpPr/>
          <p:nvPr/>
        </p:nvSpPr>
        <p:spPr>
          <a:xfrm>
            <a:off x="6053328" y="2350008"/>
            <a:ext cx="137160" cy="256032"/>
          </a:xfrm>
          <a:prstGeom prst="rightArrow">
            <a:avLst/>
          </a:prstGeom>
          <a:solidFill>
            <a:srgbClr val="2E86AB"/>
          </a:solidFill>
          <a:ln/>
        </p:spPr>
        <p:txBody>
          <a:bodyPr/>
          <a:lstStyle/>
          <a:p>
            <a:endParaRPr lang="en-US"/>
          </a:p>
        </p:txBody>
      </p:sp>
      <p:sp>
        <p:nvSpPr>
          <p:cNvPr id="19" name="Shape 17"/>
          <p:cNvSpPr/>
          <p:nvPr/>
        </p:nvSpPr>
        <p:spPr>
          <a:xfrm>
            <a:off x="6217920" y="1691640"/>
            <a:ext cx="2651760" cy="1691640"/>
          </a:xfrm>
          <a:prstGeom prst="roundRect">
            <a:avLst>
              <a:gd name="adj" fmla="val 4865"/>
            </a:avLst>
          </a:prstGeom>
          <a:solidFill>
            <a:srgbClr val="F4F8FB"/>
          </a:solidFill>
          <a:ln w="12700">
            <a:solidFill>
              <a:srgbClr val="DCE6EE"/>
            </a:solidFill>
            <a:prstDash val="solid"/>
          </a:ln>
        </p:spPr>
        <p:txBody>
          <a:bodyPr/>
          <a:lstStyle/>
          <a:p>
            <a:endParaRPr lang="en-US"/>
          </a:p>
        </p:txBody>
      </p:sp>
      <p:sp>
        <p:nvSpPr>
          <p:cNvPr id="20" name="Shape 18"/>
          <p:cNvSpPr/>
          <p:nvPr/>
        </p:nvSpPr>
        <p:spPr>
          <a:xfrm>
            <a:off x="6400800" y="1874520"/>
            <a:ext cx="384048" cy="384048"/>
          </a:xfrm>
          <a:prstGeom prst="ellipse">
            <a:avLst/>
          </a:prstGeom>
          <a:solidFill>
            <a:srgbClr val="0F4C81"/>
          </a:solidFill>
          <a:ln/>
        </p:spPr>
        <p:txBody>
          <a:bodyPr/>
          <a:lstStyle/>
          <a:p>
            <a:endParaRPr lang="en-US"/>
          </a:p>
        </p:txBody>
      </p:sp>
      <p:sp>
        <p:nvSpPr>
          <p:cNvPr id="21" name="Text 19"/>
          <p:cNvSpPr/>
          <p:nvPr/>
        </p:nvSpPr>
        <p:spPr>
          <a:xfrm>
            <a:off x="6400800" y="1874520"/>
            <a:ext cx="384048" cy="384048"/>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3</a:t>
            </a:r>
            <a:endParaRPr lang="en-US" sz="1500" dirty="0"/>
          </a:p>
        </p:txBody>
      </p:sp>
      <p:sp>
        <p:nvSpPr>
          <p:cNvPr id="22" name="Text 20"/>
          <p:cNvSpPr/>
          <p:nvPr/>
        </p:nvSpPr>
        <p:spPr>
          <a:xfrm>
            <a:off x="6400800" y="2350008"/>
            <a:ext cx="2286000" cy="365760"/>
          </a:xfrm>
          <a:prstGeom prst="rect">
            <a:avLst/>
          </a:prstGeom>
          <a:noFill/>
          <a:ln/>
        </p:spPr>
        <p:txBody>
          <a:bodyPr wrap="square" rtlCol="0" anchor="ctr"/>
          <a:lstStyle/>
          <a:p>
            <a:pPr marL="0" indent="0">
              <a:buNone/>
            </a:pPr>
            <a:r>
              <a:rPr lang="en-US" sz="1300" b="1" dirty="0">
                <a:solidFill>
                  <a:srgbClr val="0B3A5D"/>
                </a:solidFill>
                <a:latin typeface="Montserrat" pitchFamily="34" charset="0"/>
                <a:ea typeface="Montserrat" pitchFamily="34" charset="-122"/>
                <a:cs typeface="Montserrat" pitchFamily="34" charset="-120"/>
              </a:rPr>
              <a:t>Weight &amp; Sum</a:t>
            </a:r>
            <a:endParaRPr lang="en-US" sz="1300" dirty="0"/>
          </a:p>
        </p:txBody>
      </p:sp>
      <p:sp>
        <p:nvSpPr>
          <p:cNvPr id="23" name="Text 21"/>
          <p:cNvSpPr/>
          <p:nvPr/>
        </p:nvSpPr>
        <p:spPr>
          <a:xfrm>
            <a:off x="6400800" y="2697480"/>
            <a:ext cx="2286000" cy="640080"/>
          </a:xfrm>
          <a:prstGeom prst="rect">
            <a:avLst/>
          </a:prstGeom>
          <a:noFill/>
          <a:ln/>
        </p:spPr>
        <p:txBody>
          <a:bodyPr wrap="square" rtlCol="0" anchor="ctr"/>
          <a:lstStyle/>
          <a:p>
            <a:pPr marL="0" indent="0">
              <a:lnSpc>
                <a:spcPct val="116000"/>
              </a:lnSpc>
              <a:buNone/>
            </a:pPr>
            <a:r>
              <a:rPr lang="en-US" sz="1050" dirty="0">
                <a:solidFill>
                  <a:srgbClr val="1B2A38"/>
                </a:solidFill>
                <a:latin typeface="Times New Roman" pitchFamily="34" charset="0"/>
                <a:ea typeface="Times New Roman" pitchFamily="34" charset="-122"/>
                <a:cs typeface="Times New Roman" pitchFamily="34" charset="-120"/>
              </a:rPr>
              <a:t>Feature maps are combined using their gradient-based importance as weights.</a:t>
            </a:r>
            <a:endParaRPr lang="en-US" sz="1050" dirty="0"/>
          </a:p>
        </p:txBody>
      </p:sp>
      <p:sp>
        <p:nvSpPr>
          <p:cNvPr id="24" name="Shape 22"/>
          <p:cNvSpPr/>
          <p:nvPr/>
        </p:nvSpPr>
        <p:spPr>
          <a:xfrm>
            <a:off x="8887968" y="2350008"/>
            <a:ext cx="137160" cy="256032"/>
          </a:xfrm>
          <a:prstGeom prst="rightArrow">
            <a:avLst/>
          </a:prstGeom>
          <a:solidFill>
            <a:srgbClr val="2E86AB"/>
          </a:solidFill>
          <a:ln/>
        </p:spPr>
        <p:txBody>
          <a:bodyPr/>
          <a:lstStyle/>
          <a:p>
            <a:endParaRPr lang="en-US"/>
          </a:p>
        </p:txBody>
      </p:sp>
      <p:sp>
        <p:nvSpPr>
          <p:cNvPr id="25" name="Shape 23"/>
          <p:cNvSpPr/>
          <p:nvPr/>
        </p:nvSpPr>
        <p:spPr>
          <a:xfrm>
            <a:off x="9052560" y="1691640"/>
            <a:ext cx="2651760" cy="1691640"/>
          </a:xfrm>
          <a:prstGeom prst="roundRect">
            <a:avLst>
              <a:gd name="adj" fmla="val 4865"/>
            </a:avLst>
          </a:prstGeom>
          <a:solidFill>
            <a:srgbClr val="F4F8FB"/>
          </a:solidFill>
          <a:ln w="12700">
            <a:solidFill>
              <a:srgbClr val="DCE6EE"/>
            </a:solidFill>
            <a:prstDash val="solid"/>
          </a:ln>
        </p:spPr>
        <p:txBody>
          <a:bodyPr/>
          <a:lstStyle/>
          <a:p>
            <a:endParaRPr lang="en-US"/>
          </a:p>
        </p:txBody>
      </p:sp>
      <p:sp>
        <p:nvSpPr>
          <p:cNvPr id="26" name="Shape 24"/>
          <p:cNvSpPr/>
          <p:nvPr/>
        </p:nvSpPr>
        <p:spPr>
          <a:xfrm>
            <a:off x="9235440" y="1874520"/>
            <a:ext cx="384048" cy="384048"/>
          </a:xfrm>
          <a:prstGeom prst="ellipse">
            <a:avLst/>
          </a:prstGeom>
          <a:solidFill>
            <a:srgbClr val="0F4C81"/>
          </a:solidFill>
          <a:ln/>
        </p:spPr>
        <p:txBody>
          <a:bodyPr/>
          <a:lstStyle/>
          <a:p>
            <a:endParaRPr lang="en-US"/>
          </a:p>
        </p:txBody>
      </p:sp>
      <p:sp>
        <p:nvSpPr>
          <p:cNvPr id="27" name="Text 25"/>
          <p:cNvSpPr/>
          <p:nvPr/>
        </p:nvSpPr>
        <p:spPr>
          <a:xfrm>
            <a:off x="9235440" y="1874520"/>
            <a:ext cx="384048" cy="384048"/>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4</a:t>
            </a:r>
            <a:endParaRPr lang="en-US" sz="1500" dirty="0"/>
          </a:p>
        </p:txBody>
      </p:sp>
      <p:sp>
        <p:nvSpPr>
          <p:cNvPr id="28" name="Text 26"/>
          <p:cNvSpPr/>
          <p:nvPr/>
        </p:nvSpPr>
        <p:spPr>
          <a:xfrm>
            <a:off x="9235440" y="2350008"/>
            <a:ext cx="2286000" cy="365760"/>
          </a:xfrm>
          <a:prstGeom prst="rect">
            <a:avLst/>
          </a:prstGeom>
          <a:noFill/>
          <a:ln/>
        </p:spPr>
        <p:txBody>
          <a:bodyPr wrap="square" rtlCol="0" anchor="ctr"/>
          <a:lstStyle/>
          <a:p>
            <a:pPr marL="0" indent="0">
              <a:buNone/>
            </a:pPr>
            <a:r>
              <a:rPr lang="en-US" sz="1300" b="1" dirty="0">
                <a:solidFill>
                  <a:srgbClr val="0B3A5D"/>
                </a:solidFill>
                <a:latin typeface="Montserrat" pitchFamily="34" charset="0"/>
                <a:ea typeface="Montserrat" pitchFamily="34" charset="-122"/>
                <a:cs typeface="Montserrat" pitchFamily="34" charset="-120"/>
              </a:rPr>
              <a:t>Generate Heatmap</a:t>
            </a:r>
            <a:endParaRPr lang="en-US" sz="1300" dirty="0"/>
          </a:p>
        </p:txBody>
      </p:sp>
      <p:sp>
        <p:nvSpPr>
          <p:cNvPr id="29" name="Text 27"/>
          <p:cNvSpPr/>
          <p:nvPr/>
        </p:nvSpPr>
        <p:spPr>
          <a:xfrm>
            <a:off x="9144000" y="2681438"/>
            <a:ext cx="2576362" cy="640080"/>
          </a:xfrm>
          <a:prstGeom prst="rect">
            <a:avLst/>
          </a:prstGeom>
          <a:noFill/>
          <a:ln/>
        </p:spPr>
        <p:txBody>
          <a:bodyPr wrap="square" rtlCol="0" anchor="ctr"/>
          <a:lstStyle/>
          <a:p>
            <a:pPr marL="0" indent="0">
              <a:lnSpc>
                <a:spcPct val="116000"/>
              </a:lnSpc>
              <a:buNone/>
            </a:pPr>
            <a:r>
              <a:rPr lang="en-US" sz="1050" dirty="0">
                <a:solidFill>
                  <a:srgbClr val="1B2A38"/>
                </a:solidFill>
                <a:latin typeface="Times New Roman" pitchFamily="34" charset="0"/>
                <a:ea typeface="Times New Roman" pitchFamily="34" charset="-122"/>
                <a:cs typeface="Times New Roman" pitchFamily="34" charset="-120"/>
              </a:rPr>
              <a:t>A </a:t>
            </a:r>
            <a:r>
              <a:rPr lang="en-US" sz="1050" dirty="0" err="1">
                <a:solidFill>
                  <a:srgbClr val="1B2A38"/>
                </a:solidFill>
                <a:latin typeface="Times New Roman" pitchFamily="34" charset="0"/>
                <a:ea typeface="Times New Roman" pitchFamily="34" charset="-122"/>
                <a:cs typeface="Times New Roman" pitchFamily="34" charset="-120"/>
              </a:rPr>
              <a:t>ReLU</a:t>
            </a:r>
            <a:r>
              <a:rPr lang="en-US" sz="1050" dirty="0">
                <a:solidFill>
                  <a:srgbClr val="1B2A38"/>
                </a:solidFill>
                <a:latin typeface="Times New Roman" pitchFamily="34" charset="0"/>
                <a:ea typeface="Times New Roman" pitchFamily="34" charset="-122"/>
                <a:cs typeface="Times New Roman" pitchFamily="34" charset="-120"/>
              </a:rPr>
              <a:t> activation is applied to keep only the positive contributions, producing heatmap that highlights the Retinal regions that most influenced the model’s prediction.</a:t>
            </a:r>
            <a:endParaRPr lang="en-US" sz="1050" dirty="0"/>
          </a:p>
        </p:txBody>
      </p:sp>
      <p:sp>
        <p:nvSpPr>
          <p:cNvPr id="30" name="Shape 28"/>
          <p:cNvSpPr/>
          <p:nvPr/>
        </p:nvSpPr>
        <p:spPr>
          <a:xfrm>
            <a:off x="548640" y="3611880"/>
            <a:ext cx="11064240" cy="868680"/>
          </a:xfrm>
          <a:prstGeom prst="roundRect">
            <a:avLst>
              <a:gd name="adj" fmla="val 9474"/>
            </a:avLst>
          </a:prstGeom>
          <a:solidFill>
            <a:srgbClr val="0B3A5D"/>
          </a:solidFill>
          <a:ln/>
        </p:spPr>
        <p:txBody>
          <a:bodyPr/>
          <a:lstStyle/>
          <a:p>
            <a:endParaRPr lang="en-US" dirty="0"/>
          </a:p>
        </p:txBody>
      </p:sp>
      <p:sp>
        <p:nvSpPr>
          <p:cNvPr id="31" name="Text 29"/>
          <p:cNvSpPr/>
          <p:nvPr/>
        </p:nvSpPr>
        <p:spPr>
          <a:xfrm>
            <a:off x="822960" y="3657600"/>
            <a:ext cx="10515600" cy="365760"/>
          </a:xfrm>
          <a:prstGeom prst="rect">
            <a:avLst/>
          </a:prstGeom>
          <a:noFill/>
          <a:ln/>
        </p:spPr>
        <p:txBody>
          <a:bodyPr wrap="square" rtlCol="0" anchor="ctr"/>
          <a:lstStyle/>
          <a:p>
            <a:pPr marL="0" indent="0" algn="l">
              <a:buNone/>
            </a:pPr>
            <a:r>
              <a:rPr lang="en-US" sz="1250" b="1" dirty="0">
                <a:solidFill>
                  <a:srgbClr val="9FC3E0"/>
                </a:solidFill>
                <a:latin typeface="Times New Roman" pitchFamily="34" charset="0"/>
                <a:ea typeface="Times New Roman" pitchFamily="34" charset="-122"/>
                <a:cs typeface="Times New Roman" pitchFamily="34" charset="-120"/>
              </a:rPr>
              <a:t>Importance weight:   </a:t>
            </a:r>
            <a:r>
              <a:rPr lang="en-US" sz="1400" b="1" dirty="0">
                <a:solidFill>
                  <a:srgbClr val="FFFFFF"/>
                </a:solidFill>
                <a:latin typeface="Times New Roman" pitchFamily="34" charset="0"/>
                <a:ea typeface="Times New Roman" pitchFamily="34" charset="-122"/>
                <a:cs typeface="Times New Roman" pitchFamily="34" charset="-120"/>
              </a:rPr>
              <a:t> 	= average gradient of the class score over feature map k</a:t>
            </a:r>
            <a:endParaRPr lang="en-US" sz="1250" dirty="0"/>
          </a:p>
        </p:txBody>
      </p:sp>
      <p:sp>
        <p:nvSpPr>
          <p:cNvPr id="32" name="Text 30"/>
          <p:cNvSpPr/>
          <p:nvPr/>
        </p:nvSpPr>
        <p:spPr>
          <a:xfrm>
            <a:off x="822960" y="4041648"/>
            <a:ext cx="10515600" cy="365760"/>
          </a:xfrm>
          <a:prstGeom prst="rect">
            <a:avLst/>
          </a:prstGeom>
          <a:noFill/>
          <a:ln/>
        </p:spPr>
        <p:txBody>
          <a:bodyPr wrap="square" rtlCol="0" anchor="ctr"/>
          <a:lstStyle/>
          <a:p>
            <a:pPr marL="0" indent="0" algn="l">
              <a:buNone/>
            </a:pPr>
            <a:r>
              <a:rPr lang="en-US" sz="1250" b="1" dirty="0">
                <a:solidFill>
                  <a:srgbClr val="9FC3E0"/>
                </a:solidFill>
                <a:latin typeface="Times New Roman" pitchFamily="34" charset="0"/>
                <a:ea typeface="Times New Roman" pitchFamily="34" charset="-122"/>
                <a:cs typeface="Times New Roman" pitchFamily="34" charset="-120"/>
              </a:rPr>
              <a:t>Heatmap: </a:t>
            </a:r>
            <a:endParaRPr lang="en-US" sz="1250" dirty="0"/>
          </a:p>
        </p:txBody>
      </p:sp>
      <p:pic>
        <p:nvPicPr>
          <p:cNvPr id="33" name="Image 0" descr="/home/claude/build/assets/cnv_panel.png"/>
          <p:cNvPicPr>
            <a:picLocks noChangeAspect="1"/>
          </p:cNvPicPr>
          <p:nvPr/>
        </p:nvPicPr>
        <p:blipFill>
          <a:blip r:embed="rId3"/>
          <a:srcRect r="10072"/>
          <a:stretch>
            <a:fillRect/>
          </a:stretch>
        </p:blipFill>
        <p:spPr>
          <a:xfrm>
            <a:off x="8570259" y="4789484"/>
            <a:ext cx="3361765" cy="1691640"/>
          </a:xfrm>
          <a:prstGeom prst="rect">
            <a:avLst/>
          </a:prstGeom>
        </p:spPr>
      </p:pic>
      <p:sp>
        <p:nvSpPr>
          <p:cNvPr id="35" name="Text 32"/>
          <p:cNvSpPr/>
          <p:nvPr/>
        </p:nvSpPr>
        <p:spPr>
          <a:xfrm>
            <a:off x="182880" y="4773168"/>
            <a:ext cx="8961120" cy="1600200"/>
          </a:xfrm>
          <a:prstGeom prst="rect">
            <a:avLst/>
          </a:prstGeom>
          <a:noFill/>
          <a:ln/>
        </p:spPr>
        <p:txBody>
          <a:bodyPr wrap="square" rtlCol="0" anchor="ctr"/>
          <a:lstStyle/>
          <a:p>
            <a:pPr marL="0" indent="0">
              <a:lnSpc>
                <a:spcPct val="125000"/>
              </a:lnSpc>
              <a:buNone/>
            </a:pPr>
            <a:r>
              <a:rPr lang="en-US" sz="1250" i="1" dirty="0">
                <a:solidFill>
                  <a:srgbClr val="5C7080"/>
                </a:solidFill>
                <a:latin typeface="Times New Roman" pitchFamily="34" charset="0"/>
                <a:ea typeface="Times New Roman" pitchFamily="34" charset="-122"/>
                <a:cs typeface="Times New Roman" pitchFamily="34" charset="-120"/>
              </a:rPr>
              <a:t>The result: a heatmap overlaid on the OCT scan, highlighting the regions that most influenced the model's prediction — this is the explanation Grad-CAM provides.</a:t>
            </a:r>
            <a:endParaRPr lang="en-US" sz="1250" dirty="0"/>
          </a:p>
        </p:txBody>
      </p:sp>
      <p:sp>
        <p:nvSpPr>
          <p:cNvPr id="36" name="Text 33"/>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37" name="Text 34"/>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8</a:t>
            </a:r>
            <a:endParaRPr lang="en-US" sz="950" dirty="0"/>
          </a:p>
        </p:txBody>
      </p:sp>
      <p:pic>
        <p:nvPicPr>
          <p:cNvPr id="39" name="Picture 38">
            <a:extLst>
              <a:ext uri="{FF2B5EF4-FFF2-40B4-BE49-F238E27FC236}">
                <a16:creationId xmlns:a16="http://schemas.microsoft.com/office/drawing/2014/main" id="{84C93C64-788A-AD5B-0EF6-565AC7A97A27}"/>
              </a:ext>
            </a:extLst>
          </p:cNvPr>
          <p:cNvPicPr>
            <a:picLocks noChangeAspect="1"/>
          </p:cNvPicPr>
          <p:nvPr/>
        </p:nvPicPr>
        <p:blipFill>
          <a:blip r:embed="rId4"/>
          <a:stretch>
            <a:fillRect/>
          </a:stretch>
        </p:blipFill>
        <p:spPr>
          <a:xfrm>
            <a:off x="2329787" y="3698612"/>
            <a:ext cx="321973" cy="298975"/>
          </a:xfrm>
          <a:prstGeom prst="rect">
            <a:avLst/>
          </a:prstGeom>
        </p:spPr>
      </p:pic>
      <p:pic>
        <p:nvPicPr>
          <p:cNvPr id="41" name="Picture 40">
            <a:extLst>
              <a:ext uri="{FF2B5EF4-FFF2-40B4-BE49-F238E27FC236}">
                <a16:creationId xmlns:a16="http://schemas.microsoft.com/office/drawing/2014/main" id="{02C49E9F-4E74-5E9C-8BF6-91C170188E00}"/>
              </a:ext>
            </a:extLst>
          </p:cNvPr>
          <p:cNvPicPr>
            <a:picLocks noChangeAspect="1"/>
          </p:cNvPicPr>
          <p:nvPr/>
        </p:nvPicPr>
        <p:blipFill>
          <a:blip r:embed="rId5"/>
          <a:stretch>
            <a:fillRect/>
          </a:stretch>
        </p:blipFill>
        <p:spPr>
          <a:xfrm>
            <a:off x="1859280" y="4076700"/>
            <a:ext cx="2316480" cy="32487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9120" y="731520"/>
            <a:ext cx="9144000" cy="274320"/>
          </a:xfrm>
          <a:prstGeom prst="rect">
            <a:avLst/>
          </a:prstGeom>
          <a:noFill/>
          <a:ln/>
        </p:spPr>
        <p:txBody>
          <a:bodyPr wrap="square" rtlCol="0" anchor="ctr"/>
          <a:lstStyle/>
          <a:p>
            <a:pPr marL="0" indent="0">
              <a:buNone/>
            </a:pPr>
            <a:r>
              <a:rPr lang="en-US" sz="2000" b="1" kern="0" spc="200" dirty="0">
                <a:solidFill>
                  <a:srgbClr val="2E86AB"/>
                </a:solidFill>
                <a:latin typeface="Roboto" pitchFamily="34" charset="0"/>
                <a:ea typeface="Roboto" pitchFamily="34" charset="-122"/>
                <a:cs typeface="Roboto" pitchFamily="34" charset="-120"/>
              </a:rPr>
              <a:t>RESEARCH GAP</a:t>
            </a:r>
            <a:endParaRPr lang="en-US" sz="200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05·Research Gap</a:t>
            </a:r>
            <a:endParaRPr lang="en-US" sz="1000" dirty="0"/>
          </a:p>
        </p:txBody>
      </p:sp>
      <p:sp>
        <p:nvSpPr>
          <p:cNvPr id="6" name="Text 4"/>
          <p:cNvSpPr/>
          <p:nvPr/>
        </p:nvSpPr>
        <p:spPr>
          <a:xfrm>
            <a:off x="548640" y="1188720"/>
            <a:ext cx="11064240" cy="365760"/>
          </a:xfrm>
          <a:prstGeom prst="rect">
            <a:avLst/>
          </a:prstGeom>
          <a:noFill/>
          <a:ln/>
        </p:spPr>
        <p:txBody>
          <a:bodyPr wrap="square" rtlCol="0" anchor="ctr"/>
          <a:lstStyle/>
          <a:p>
            <a:pPr marL="0" indent="0">
              <a:buNone/>
            </a:pPr>
            <a:r>
              <a:rPr lang="en-IN" sz="1300" i="1" dirty="0">
                <a:solidFill>
                  <a:srgbClr val="1B2A38"/>
                </a:solidFill>
                <a:latin typeface="Times New Roman" pitchFamily="34" charset="0"/>
                <a:cs typeface="Times New Roman" pitchFamily="34" charset="-120"/>
              </a:rPr>
              <a:t>F</a:t>
            </a:r>
            <a:r>
              <a:rPr lang="en-US" sz="1300" i="1" dirty="0">
                <a:solidFill>
                  <a:srgbClr val="1B2A38"/>
                </a:solidFill>
                <a:latin typeface="Times New Roman" pitchFamily="34" charset="0"/>
                <a:cs typeface="Times New Roman" pitchFamily="34" charset="-120"/>
              </a:rPr>
              <a:t>rom the Systematic Literature Review , three major Research Gaps have been identified:</a:t>
            </a:r>
            <a:endParaRPr lang="en-US" sz="1300" i="1" dirty="0"/>
          </a:p>
        </p:txBody>
      </p:sp>
      <p:sp>
        <p:nvSpPr>
          <p:cNvPr id="7" name="Shape 5"/>
          <p:cNvSpPr/>
          <p:nvPr/>
        </p:nvSpPr>
        <p:spPr>
          <a:xfrm>
            <a:off x="1749911" y="1691640"/>
            <a:ext cx="7860254" cy="2286000"/>
          </a:xfrm>
          <a:prstGeom prst="roundRect">
            <a:avLst>
              <a:gd name="adj" fmla="val 3600"/>
            </a:avLst>
          </a:prstGeom>
          <a:solidFill>
            <a:srgbClr val="FFFFFF"/>
          </a:solidFill>
          <a:ln w="15875">
            <a:solidFill>
              <a:srgbClr val="0F4C81"/>
            </a:solidFill>
            <a:prstDash val="solid"/>
          </a:ln>
        </p:spPr>
        <p:txBody>
          <a:bodyPr/>
          <a:lstStyle/>
          <a:p>
            <a:endParaRPr lang="en-US"/>
          </a:p>
        </p:txBody>
      </p:sp>
      <p:sp>
        <p:nvSpPr>
          <p:cNvPr id="8" name="Shape 6"/>
          <p:cNvSpPr/>
          <p:nvPr/>
        </p:nvSpPr>
        <p:spPr>
          <a:xfrm>
            <a:off x="1978511" y="1920240"/>
            <a:ext cx="438912" cy="438912"/>
          </a:xfrm>
          <a:prstGeom prst="ellipse">
            <a:avLst/>
          </a:prstGeom>
          <a:solidFill>
            <a:srgbClr val="0F4C81"/>
          </a:solidFill>
          <a:ln/>
        </p:spPr>
        <p:txBody>
          <a:bodyPr/>
          <a:lstStyle/>
          <a:p>
            <a:endParaRPr lang="en-US"/>
          </a:p>
        </p:txBody>
      </p:sp>
      <p:sp>
        <p:nvSpPr>
          <p:cNvPr id="9" name="Text 7"/>
          <p:cNvSpPr/>
          <p:nvPr/>
        </p:nvSpPr>
        <p:spPr>
          <a:xfrm>
            <a:off x="1978511" y="1901952"/>
            <a:ext cx="438912" cy="438912"/>
          </a:xfrm>
          <a:prstGeom prst="rect">
            <a:avLst/>
          </a:prstGeom>
          <a:noFill/>
          <a:ln/>
        </p:spPr>
        <p:txBody>
          <a:bodyPr wrap="square"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10" name="Text 8"/>
          <p:cNvSpPr/>
          <p:nvPr/>
        </p:nvSpPr>
        <p:spPr>
          <a:xfrm>
            <a:off x="2572871" y="1929384"/>
            <a:ext cx="4389120" cy="457200"/>
          </a:xfrm>
          <a:prstGeom prst="rect">
            <a:avLst/>
          </a:prstGeom>
          <a:noFill/>
          <a:ln/>
        </p:spPr>
        <p:txBody>
          <a:bodyPr wrap="square" rtlCol="0" anchor="ctr"/>
          <a:lstStyle/>
          <a:p>
            <a:pPr marL="0" indent="0">
              <a:buNone/>
            </a:pPr>
            <a:r>
              <a:rPr lang="en-IN" sz="1600" b="1" dirty="0">
                <a:solidFill>
                  <a:srgbClr val="0B3A5D"/>
                </a:solidFill>
                <a:latin typeface="Montserrat" pitchFamily="34" charset="0"/>
              </a:rPr>
              <a:t>R</a:t>
            </a:r>
            <a:r>
              <a:rPr lang="en-US" sz="1600" b="1" dirty="0">
                <a:solidFill>
                  <a:srgbClr val="0B3A5D"/>
                </a:solidFill>
                <a:latin typeface="Montserrat" pitchFamily="34" charset="0"/>
              </a:rPr>
              <a:t>G1</a:t>
            </a:r>
            <a:endParaRPr lang="en-US" sz="1600" dirty="0"/>
          </a:p>
        </p:txBody>
      </p:sp>
      <p:sp>
        <p:nvSpPr>
          <p:cNvPr id="11" name="Text 9"/>
          <p:cNvSpPr/>
          <p:nvPr/>
        </p:nvSpPr>
        <p:spPr>
          <a:xfrm>
            <a:off x="2197967" y="2671100"/>
            <a:ext cx="7335818" cy="1280160"/>
          </a:xfrm>
          <a:prstGeom prst="rect">
            <a:avLst/>
          </a:prstGeom>
          <a:noFill/>
          <a:ln/>
        </p:spPr>
        <p:txBody>
          <a:bodyPr wrap="square" rtlCol="0" anchor="ctr"/>
          <a:lstStyle/>
          <a:p>
            <a:pPr>
              <a:lnSpc>
                <a:spcPct val="125000"/>
              </a:lnSpc>
            </a:pPr>
            <a:r>
              <a:rPr lang="en-US" sz="1200" dirty="0">
                <a:latin typeface="Times New Roman" panose="02020603050405020304" pitchFamily="18" charset="0"/>
                <a:ea typeface="Times New Roman" pitchFamily="34" charset="-122"/>
                <a:cs typeface="Times New Roman" panose="02020603050405020304" pitchFamily="18" charset="0"/>
              </a:rPr>
              <a:t>Grad-CAM heatmaps are inherently low-resolution: gradients are naturally sparse, and up-sampling small feature maps back to the image size further blurs spatial precision .Since, </a:t>
            </a:r>
            <a:r>
              <a:rPr lang="en-US" sz="1200" dirty="0">
                <a:latin typeface="Times New Roman" panose="02020603050405020304" pitchFamily="18" charset="0"/>
                <a:cs typeface="Times New Roman" panose="02020603050405020304" pitchFamily="18" charset="0"/>
              </a:rPr>
              <a:t> Standard Grad-CAM is computed exclusively from the network's last convolutional layer, discarding the fine-grained spatial detail present in shallower layers  exactly the information needed to trace a lesion's true edges.</a:t>
            </a:r>
          </a:p>
          <a:p>
            <a:pPr marL="0" indent="0">
              <a:lnSpc>
                <a:spcPct val="125000"/>
              </a:lnSpc>
              <a:buNone/>
            </a:pP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6400800" y="1920240"/>
            <a:ext cx="438912" cy="438912"/>
          </a:xfrm>
          <a:prstGeom prst="rect">
            <a:avLst/>
          </a:prstGeom>
          <a:noFill/>
          <a:ln/>
        </p:spPr>
        <p:txBody>
          <a:bodyPr wrap="square"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pic>
        <p:nvPicPr>
          <p:cNvPr id="17" name="Image 0" descr="/home/claude/build/assets/cnv_panel.png"/>
          <p:cNvPicPr>
            <a:picLocks noChangeAspect="1"/>
          </p:cNvPicPr>
          <p:nvPr/>
        </p:nvPicPr>
        <p:blipFill>
          <a:blip r:embed="rId3"/>
          <a:stretch>
            <a:fillRect/>
          </a:stretch>
        </p:blipFill>
        <p:spPr>
          <a:xfrm>
            <a:off x="8283388" y="4398264"/>
            <a:ext cx="3908612" cy="1874520"/>
          </a:xfrm>
          <a:prstGeom prst="rect">
            <a:avLst/>
          </a:prstGeom>
        </p:spPr>
      </p:pic>
      <p:sp>
        <p:nvSpPr>
          <p:cNvPr id="19" name="Text 16"/>
          <p:cNvSpPr/>
          <p:nvPr/>
        </p:nvSpPr>
        <p:spPr>
          <a:xfrm>
            <a:off x="383209" y="4489704"/>
            <a:ext cx="8595360" cy="1691640"/>
          </a:xfrm>
          <a:prstGeom prst="rect">
            <a:avLst/>
          </a:prstGeom>
          <a:noFill/>
          <a:ln/>
        </p:spPr>
        <p:txBody>
          <a:bodyPr wrap="square" rtlCol="0" anchor="ctr"/>
          <a:lstStyle/>
          <a:p>
            <a:pPr marL="0" indent="0">
              <a:lnSpc>
                <a:spcPct val="125000"/>
              </a:lnSpc>
              <a:buNone/>
            </a:pPr>
            <a:r>
              <a:rPr lang="en-US" sz="1300" i="1" dirty="0">
                <a:solidFill>
                  <a:srgbClr val="5C7080"/>
                </a:solidFill>
                <a:latin typeface="Times New Roman" pitchFamily="34" charset="0"/>
                <a:ea typeface="Times New Roman" pitchFamily="34" charset="-122"/>
                <a:cs typeface="Times New Roman" pitchFamily="34" charset="-120"/>
              </a:rPr>
              <a:t>A typical Grad-CAM heatmap: broad and diffuse, without tight lesion boundaries. </a:t>
            </a:r>
            <a:endParaRPr lang="en-US" sz="1300" dirty="0"/>
          </a:p>
        </p:txBody>
      </p:sp>
      <p:sp>
        <p:nvSpPr>
          <p:cNvPr id="20" name="Text 17"/>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21" name="Text 18"/>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9</a:t>
            </a:r>
            <a:endParaRPr lang="en-US" sz="950" dirty="0"/>
          </a:p>
        </p:txBody>
      </p:sp>
      <p:sp>
        <p:nvSpPr>
          <p:cNvPr id="22" name="TextBox 21">
            <a:extLst>
              <a:ext uri="{FF2B5EF4-FFF2-40B4-BE49-F238E27FC236}">
                <a16:creationId xmlns:a16="http://schemas.microsoft.com/office/drawing/2014/main" id="{649ECA8D-7557-A1EF-0C0F-461E86F74CEF}"/>
              </a:ext>
            </a:extLst>
          </p:cNvPr>
          <p:cNvSpPr txBox="1"/>
          <p:nvPr/>
        </p:nvSpPr>
        <p:spPr>
          <a:xfrm>
            <a:off x="2496491" y="2332546"/>
            <a:ext cx="2296668" cy="338554"/>
          </a:xfrm>
          <a:prstGeom prst="rect">
            <a:avLst/>
          </a:prstGeom>
          <a:noFill/>
        </p:spPr>
        <p:txBody>
          <a:bodyPr wrap="square" rtlCol="0">
            <a:spAutoFit/>
          </a:bodyPr>
          <a:lstStyle/>
          <a:p>
            <a:r>
              <a:rPr lang="en-IN" sz="1600" i="1" dirty="0">
                <a:latin typeface="Times New Roman" panose="02020603050405020304" pitchFamily="18" charset="0"/>
                <a:cs typeface="Times New Roman" panose="02020603050405020304" pitchFamily="18" charset="0"/>
              </a:rPr>
              <a:t>Coarse Heatmaps</a:t>
            </a:r>
            <a:endParaRPr lang="en-US" sz="1600" i="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5181" y="1051560"/>
            <a:ext cx="9144000" cy="274320"/>
          </a:xfrm>
          <a:prstGeom prst="rect">
            <a:avLst/>
          </a:prstGeom>
          <a:noFill/>
          <a:ln/>
        </p:spPr>
        <p:txBody>
          <a:bodyPr wrap="square" rtlCol="0" anchor="ctr"/>
          <a:lstStyle/>
          <a:p>
            <a:pPr marL="0" indent="0">
              <a:buNone/>
            </a:pPr>
            <a:r>
              <a:rPr lang="en-US" b="1" kern="0" spc="200" dirty="0">
                <a:solidFill>
                  <a:srgbClr val="2E86AB"/>
                </a:solidFill>
                <a:latin typeface="Roboto" pitchFamily="34" charset="0"/>
                <a:ea typeface="Roboto" pitchFamily="34" charset="-122"/>
                <a:cs typeface="Roboto" pitchFamily="34" charset="-120"/>
              </a:rPr>
              <a:t>RESEARCH GAP</a:t>
            </a:r>
            <a:endParaRPr lang="en-US"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05· Research Gap</a:t>
            </a:r>
            <a:endParaRPr lang="en-US" sz="1000" dirty="0"/>
          </a:p>
        </p:txBody>
      </p:sp>
      <p:sp>
        <p:nvSpPr>
          <p:cNvPr id="6" name="Text 4"/>
          <p:cNvSpPr/>
          <p:nvPr/>
        </p:nvSpPr>
        <p:spPr>
          <a:xfrm>
            <a:off x="548640" y="1188720"/>
            <a:ext cx="11064240" cy="365760"/>
          </a:xfrm>
          <a:prstGeom prst="rect">
            <a:avLst/>
          </a:prstGeom>
          <a:noFill/>
          <a:ln/>
        </p:spPr>
        <p:txBody>
          <a:bodyPr wrap="square" rtlCol="0" anchor="ctr"/>
          <a:lstStyle/>
          <a:p>
            <a:pPr marL="0" indent="0">
              <a:buNone/>
            </a:pPr>
            <a:endParaRPr lang="en-US" sz="1300" i="1" dirty="0"/>
          </a:p>
        </p:txBody>
      </p:sp>
      <p:sp>
        <p:nvSpPr>
          <p:cNvPr id="7" name="Shape 5"/>
          <p:cNvSpPr/>
          <p:nvPr/>
        </p:nvSpPr>
        <p:spPr>
          <a:xfrm>
            <a:off x="548640" y="1691640"/>
            <a:ext cx="5440680" cy="2286000"/>
          </a:xfrm>
          <a:prstGeom prst="roundRect">
            <a:avLst>
              <a:gd name="adj" fmla="val 3600"/>
            </a:avLst>
          </a:prstGeom>
          <a:solidFill>
            <a:srgbClr val="FFFFFF"/>
          </a:solidFill>
          <a:ln w="15875">
            <a:solidFill>
              <a:srgbClr val="0F4C81"/>
            </a:solidFill>
            <a:prstDash val="solid"/>
          </a:ln>
        </p:spPr>
        <p:txBody>
          <a:bodyPr/>
          <a:lstStyle/>
          <a:p>
            <a:endParaRPr lang="en-US"/>
          </a:p>
        </p:txBody>
      </p:sp>
      <p:sp>
        <p:nvSpPr>
          <p:cNvPr id="8" name="Shape 6"/>
          <p:cNvSpPr/>
          <p:nvPr/>
        </p:nvSpPr>
        <p:spPr>
          <a:xfrm>
            <a:off x="777240" y="1920240"/>
            <a:ext cx="438912" cy="438912"/>
          </a:xfrm>
          <a:prstGeom prst="ellipse">
            <a:avLst/>
          </a:prstGeom>
          <a:solidFill>
            <a:srgbClr val="0F4C81"/>
          </a:solidFill>
          <a:ln/>
        </p:spPr>
        <p:txBody>
          <a:bodyPr/>
          <a:lstStyle/>
          <a:p>
            <a:endParaRPr lang="en-US"/>
          </a:p>
        </p:txBody>
      </p:sp>
      <p:sp>
        <p:nvSpPr>
          <p:cNvPr id="9" name="Text 7"/>
          <p:cNvSpPr/>
          <p:nvPr/>
        </p:nvSpPr>
        <p:spPr>
          <a:xfrm>
            <a:off x="777240" y="1920240"/>
            <a:ext cx="438912" cy="438912"/>
          </a:xfrm>
          <a:prstGeom prst="rect">
            <a:avLst/>
          </a:prstGeom>
          <a:noFill/>
          <a:ln/>
        </p:spPr>
        <p:txBody>
          <a:bodyPr wrap="square" rtlCol="0" anchor="ctr"/>
          <a:lstStyle/>
          <a:p>
            <a:pPr marL="0" indent="0" algn="ctr">
              <a:buNone/>
            </a:pPr>
            <a:r>
              <a:rPr lang="en-US" sz="1600" b="1" dirty="0">
                <a:solidFill>
                  <a:srgbClr val="FFFFFF"/>
                </a:solidFill>
                <a:latin typeface="Montserrat" pitchFamily="34" charset="0"/>
              </a:rPr>
              <a:t>2</a:t>
            </a:r>
            <a:endParaRPr lang="en-US" sz="1600" dirty="0"/>
          </a:p>
        </p:txBody>
      </p:sp>
      <p:sp>
        <p:nvSpPr>
          <p:cNvPr id="10" name="Text 8"/>
          <p:cNvSpPr/>
          <p:nvPr/>
        </p:nvSpPr>
        <p:spPr>
          <a:xfrm>
            <a:off x="1371600" y="1929384"/>
            <a:ext cx="4389120" cy="457200"/>
          </a:xfrm>
          <a:prstGeom prst="rect">
            <a:avLst/>
          </a:prstGeom>
          <a:noFill/>
          <a:ln/>
        </p:spPr>
        <p:txBody>
          <a:bodyPr wrap="square" rtlCol="0" anchor="ctr"/>
          <a:lstStyle/>
          <a:p>
            <a:pPr marL="0" indent="0">
              <a:buNone/>
            </a:pPr>
            <a:r>
              <a:rPr lang="en-IN" sz="1600" b="1" dirty="0">
                <a:solidFill>
                  <a:srgbClr val="0B3A5D"/>
                </a:solidFill>
                <a:latin typeface="Montserrat" pitchFamily="34" charset="0"/>
              </a:rPr>
              <a:t>R</a:t>
            </a:r>
            <a:r>
              <a:rPr lang="en-US" sz="1600" b="1" dirty="0">
                <a:solidFill>
                  <a:srgbClr val="0B3A5D"/>
                </a:solidFill>
                <a:latin typeface="Montserrat" pitchFamily="34" charset="0"/>
              </a:rPr>
              <a:t>G2</a:t>
            </a:r>
            <a:endParaRPr lang="en-US" sz="1600" dirty="0"/>
          </a:p>
        </p:txBody>
      </p:sp>
      <p:sp>
        <p:nvSpPr>
          <p:cNvPr id="11" name="Text 9"/>
          <p:cNvSpPr/>
          <p:nvPr/>
        </p:nvSpPr>
        <p:spPr>
          <a:xfrm>
            <a:off x="822960" y="2642616"/>
            <a:ext cx="4983480" cy="1280160"/>
          </a:xfrm>
          <a:prstGeom prst="rect">
            <a:avLst/>
          </a:prstGeom>
          <a:noFill/>
          <a:ln/>
        </p:spPr>
        <p:txBody>
          <a:bodyPr wrap="square" rtlCol="0" anchor="ctr"/>
          <a:lstStyle/>
          <a:p>
            <a:pPr>
              <a:lnSpc>
                <a:spcPct val="125000"/>
              </a:lnSpc>
            </a:pPr>
            <a:r>
              <a:rPr lang="en-US" sz="1200" dirty="0">
                <a:latin typeface="Times New Roman" panose="02020603050405020304" pitchFamily="18" charset="0"/>
                <a:cs typeface="Times New Roman" panose="02020603050405020304" pitchFamily="18" charset="0"/>
              </a:rPr>
              <a:t>Because a heatmap reflects the model's overall prediction process rather than precise pixel segmentation, it cannot guarantee pixel-level boundary accuracy; a critical shortfall for lesions only a few pixels wide.</a:t>
            </a:r>
          </a:p>
          <a:p>
            <a:pPr marL="0" indent="0">
              <a:lnSpc>
                <a:spcPct val="125000"/>
              </a:lnSpc>
              <a:buNone/>
            </a:pP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6172200" y="1691640"/>
            <a:ext cx="5440680" cy="2286000"/>
          </a:xfrm>
          <a:prstGeom prst="roundRect">
            <a:avLst>
              <a:gd name="adj" fmla="val 3600"/>
            </a:avLst>
          </a:prstGeom>
          <a:solidFill>
            <a:srgbClr val="FFFFFF"/>
          </a:solidFill>
          <a:ln w="15875">
            <a:solidFill>
              <a:srgbClr val="0F4C81"/>
            </a:solidFill>
            <a:prstDash val="solid"/>
          </a:ln>
        </p:spPr>
        <p:txBody>
          <a:bodyPr/>
          <a:lstStyle/>
          <a:p>
            <a:endParaRPr lang="en-US"/>
          </a:p>
        </p:txBody>
      </p:sp>
      <p:sp>
        <p:nvSpPr>
          <p:cNvPr id="13" name="Shape 11"/>
          <p:cNvSpPr/>
          <p:nvPr/>
        </p:nvSpPr>
        <p:spPr>
          <a:xfrm>
            <a:off x="6400800" y="1920240"/>
            <a:ext cx="438912" cy="438912"/>
          </a:xfrm>
          <a:prstGeom prst="ellipse">
            <a:avLst/>
          </a:prstGeom>
          <a:solidFill>
            <a:srgbClr val="0F4C81"/>
          </a:solidFill>
          <a:ln/>
        </p:spPr>
        <p:txBody>
          <a:bodyPr/>
          <a:lstStyle/>
          <a:p>
            <a:endParaRPr lang="en-US"/>
          </a:p>
        </p:txBody>
      </p:sp>
      <p:sp>
        <p:nvSpPr>
          <p:cNvPr id="14" name="Text 12"/>
          <p:cNvSpPr/>
          <p:nvPr/>
        </p:nvSpPr>
        <p:spPr>
          <a:xfrm>
            <a:off x="6400800" y="1920240"/>
            <a:ext cx="438912" cy="438912"/>
          </a:xfrm>
          <a:prstGeom prst="rect">
            <a:avLst/>
          </a:prstGeom>
          <a:noFill/>
          <a:ln/>
        </p:spPr>
        <p:txBody>
          <a:bodyPr wrap="square" rtlCol="0" anchor="ctr"/>
          <a:lstStyle/>
          <a:p>
            <a:pPr marL="0" indent="0" algn="ctr">
              <a:buNone/>
            </a:pPr>
            <a:r>
              <a:rPr lang="en-US" sz="1600" b="1" dirty="0">
                <a:solidFill>
                  <a:srgbClr val="FFFFFF"/>
                </a:solidFill>
                <a:latin typeface="Montserrat" pitchFamily="34" charset="0"/>
              </a:rPr>
              <a:t>3</a:t>
            </a:r>
            <a:endParaRPr lang="en-US" sz="1600" dirty="0"/>
          </a:p>
        </p:txBody>
      </p:sp>
      <p:sp>
        <p:nvSpPr>
          <p:cNvPr id="15" name="Text 13"/>
          <p:cNvSpPr/>
          <p:nvPr/>
        </p:nvSpPr>
        <p:spPr>
          <a:xfrm>
            <a:off x="6995160" y="1929384"/>
            <a:ext cx="4389120" cy="457200"/>
          </a:xfrm>
          <a:prstGeom prst="rect">
            <a:avLst/>
          </a:prstGeom>
          <a:noFill/>
          <a:ln/>
        </p:spPr>
        <p:txBody>
          <a:bodyPr wrap="square" rtlCol="0" anchor="ctr"/>
          <a:lstStyle/>
          <a:p>
            <a:pPr marL="0" indent="0">
              <a:buNone/>
            </a:pPr>
            <a:r>
              <a:rPr lang="en-US" sz="1600" b="1" dirty="0">
                <a:solidFill>
                  <a:srgbClr val="0B3A5D"/>
                </a:solidFill>
                <a:latin typeface="Montserrat" pitchFamily="34" charset="0"/>
                <a:ea typeface="Montserrat" pitchFamily="34" charset="-122"/>
                <a:cs typeface="Montserrat" pitchFamily="34" charset="-120"/>
              </a:rPr>
              <a:t>RG3</a:t>
            </a:r>
            <a:endParaRPr lang="en-US" sz="1600" dirty="0"/>
          </a:p>
        </p:txBody>
      </p:sp>
      <p:sp>
        <p:nvSpPr>
          <p:cNvPr id="16" name="Text 14"/>
          <p:cNvSpPr/>
          <p:nvPr/>
        </p:nvSpPr>
        <p:spPr>
          <a:xfrm>
            <a:off x="6400800" y="2560320"/>
            <a:ext cx="4983480" cy="1280160"/>
          </a:xfrm>
          <a:prstGeom prst="rect">
            <a:avLst/>
          </a:prstGeom>
          <a:noFill/>
          <a:ln/>
        </p:spPr>
        <p:txBody>
          <a:bodyPr wrap="square" rtlCol="0" anchor="ctr"/>
          <a:lstStyle/>
          <a:p>
            <a:pPr marL="0" indent="0">
              <a:lnSpc>
                <a:spcPct val="125000"/>
              </a:lnSpc>
              <a:buNone/>
            </a:pPr>
            <a:r>
              <a:rPr lang="en-US" sz="1200" dirty="0">
                <a:latin typeface="Times New Roman" pitchFamily="34" charset="0"/>
                <a:ea typeface="Times New Roman" pitchFamily="34" charset="-122"/>
                <a:cs typeface="Times New Roman" pitchFamily="34" charset="-120"/>
              </a:rPr>
              <a:t>Because Grad-CAM relies on gradients, small and realistic input perturbations can introduce spatial noise that shifts the heatmap away from the true lesion, undermining its reliability as a clinical explanation.</a:t>
            </a:r>
            <a:endParaRPr lang="en-US" sz="1200" dirty="0"/>
          </a:p>
        </p:txBody>
      </p:sp>
      <p:sp>
        <p:nvSpPr>
          <p:cNvPr id="17" name="Shape 15"/>
          <p:cNvSpPr/>
          <p:nvPr/>
        </p:nvSpPr>
        <p:spPr>
          <a:xfrm>
            <a:off x="548640" y="4251960"/>
            <a:ext cx="11064240" cy="1051560"/>
          </a:xfrm>
          <a:prstGeom prst="roundRect">
            <a:avLst>
              <a:gd name="adj" fmla="val 7826"/>
            </a:avLst>
          </a:prstGeom>
          <a:solidFill>
            <a:srgbClr val="0B3A5D"/>
          </a:solidFill>
          <a:ln/>
        </p:spPr>
        <p:txBody>
          <a:bodyPr/>
          <a:lstStyle/>
          <a:p>
            <a:endParaRPr lang="en-US"/>
          </a:p>
        </p:txBody>
      </p:sp>
      <p:sp>
        <p:nvSpPr>
          <p:cNvPr id="18" name="Text 16"/>
          <p:cNvSpPr/>
          <p:nvPr/>
        </p:nvSpPr>
        <p:spPr>
          <a:xfrm>
            <a:off x="822960" y="4251960"/>
            <a:ext cx="10515600" cy="1051560"/>
          </a:xfrm>
          <a:prstGeom prst="rect">
            <a:avLst/>
          </a:prstGeom>
          <a:noFill/>
          <a:ln/>
        </p:spPr>
        <p:txBody>
          <a:bodyPr wrap="square" rtlCol="0" anchor="ctr"/>
          <a:lstStyle/>
          <a:p>
            <a:pPr marL="0" indent="0">
              <a:buNone/>
            </a:pPr>
            <a:r>
              <a:rPr lang="en-US" sz="1900" b="1" i="1" dirty="0">
                <a:solidFill>
                  <a:srgbClr val="FFFFFF"/>
                </a:solidFill>
                <a:latin typeface="Montserrat" pitchFamily="34" charset="0"/>
                <a:ea typeface="Montserrat" pitchFamily="34" charset="-122"/>
                <a:cs typeface="Montserrat" pitchFamily="34" charset="-120"/>
              </a:rPr>
              <a:t>A comprehensive solution is needed </a:t>
            </a:r>
            <a:r>
              <a:rPr lang="en-US" sz="1900" b="1" i="1">
                <a:solidFill>
                  <a:srgbClr val="FFFFFF"/>
                </a:solidFill>
                <a:latin typeface="Montserrat" pitchFamily="34" charset="0"/>
                <a:ea typeface="Montserrat" pitchFamily="34" charset="-122"/>
                <a:cs typeface="Montserrat" pitchFamily="34" charset="-120"/>
              </a:rPr>
              <a:t>to fill these gaps.</a:t>
            </a:r>
            <a:endParaRPr lang="en-US" sz="1900" dirty="0"/>
          </a:p>
        </p:txBody>
      </p:sp>
      <p:sp>
        <p:nvSpPr>
          <p:cNvPr id="19" name="Text 17"/>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20" name="Text 18"/>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10</a:t>
            </a:r>
            <a:endParaRPr lang="en-US" sz="950" dirty="0"/>
          </a:p>
        </p:txBody>
      </p:sp>
      <p:sp>
        <p:nvSpPr>
          <p:cNvPr id="21" name="TextBox 20">
            <a:extLst>
              <a:ext uri="{FF2B5EF4-FFF2-40B4-BE49-F238E27FC236}">
                <a16:creationId xmlns:a16="http://schemas.microsoft.com/office/drawing/2014/main" id="{C01D3EE4-E7FA-FF5E-2DB5-B74624A89E64}"/>
              </a:ext>
            </a:extLst>
          </p:cNvPr>
          <p:cNvSpPr txBox="1"/>
          <p:nvPr/>
        </p:nvSpPr>
        <p:spPr>
          <a:xfrm>
            <a:off x="1287780" y="2359152"/>
            <a:ext cx="2788920" cy="584775"/>
          </a:xfrm>
          <a:prstGeom prst="rect">
            <a:avLst/>
          </a:prstGeom>
          <a:noFill/>
        </p:spPr>
        <p:txBody>
          <a:bodyPr wrap="square" rtlCol="0">
            <a:spAutoFit/>
          </a:bodyPr>
          <a:lstStyle/>
          <a:p>
            <a:r>
              <a:rPr lang="en-IN" sz="1600" i="1" dirty="0">
                <a:latin typeface="Times New Roman" panose="02020603050405020304" pitchFamily="18" charset="0"/>
                <a:cs typeface="Times New Roman" panose="02020603050405020304" pitchFamily="18" charset="0"/>
              </a:rPr>
              <a:t>Poor Boundary Localization</a:t>
            </a:r>
            <a:endParaRPr lang="en-US" sz="1600" i="1" dirty="0">
              <a:latin typeface="Times New Roman" panose="02020603050405020304" pitchFamily="18" charset="0"/>
              <a:cs typeface="Times New Roman" panose="02020603050405020304" pitchFamily="18" charset="0"/>
            </a:endParaRPr>
          </a:p>
          <a:p>
            <a:endParaRPr lang="en-US" sz="1600" i="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E2B334A5-59BF-B360-1A95-F0F57B5F888B}"/>
              </a:ext>
            </a:extLst>
          </p:cNvPr>
          <p:cNvSpPr txBox="1"/>
          <p:nvPr/>
        </p:nvSpPr>
        <p:spPr>
          <a:xfrm>
            <a:off x="6728460" y="2407581"/>
            <a:ext cx="2232660" cy="338554"/>
          </a:xfrm>
          <a:prstGeom prst="rect">
            <a:avLst/>
          </a:prstGeom>
          <a:noFill/>
        </p:spPr>
        <p:txBody>
          <a:bodyPr wrap="square" rtlCol="0">
            <a:spAutoFit/>
          </a:bodyPr>
          <a:lstStyle/>
          <a:p>
            <a:r>
              <a:rPr lang="en-IN" sz="1600" i="1" dirty="0">
                <a:latin typeface="Times New Roman" panose="02020603050405020304" pitchFamily="18" charset="0"/>
                <a:cs typeface="Times New Roman" panose="02020603050405020304" pitchFamily="18" charset="0"/>
              </a:rPr>
              <a:t>Sensitive to  Noise</a:t>
            </a:r>
            <a:endParaRPr lang="en-US" sz="1600" i="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PROPOSED METHODOLOGY</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Multi-Layer Fused Grad-CAM</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06· Methodology</a:t>
            </a:r>
            <a:endParaRPr lang="en-US" sz="1000" dirty="0"/>
          </a:p>
        </p:txBody>
      </p:sp>
      <p:sp>
        <p:nvSpPr>
          <p:cNvPr id="6" name="Text 4"/>
          <p:cNvSpPr/>
          <p:nvPr/>
        </p:nvSpPr>
        <p:spPr>
          <a:xfrm>
            <a:off x="548640" y="1207008"/>
            <a:ext cx="11064240" cy="438912"/>
          </a:xfrm>
          <a:prstGeom prst="rect">
            <a:avLst/>
          </a:prstGeom>
          <a:noFill/>
          <a:ln/>
        </p:spPr>
        <p:txBody>
          <a:bodyPr wrap="square" rtlCol="0" anchor="ctr"/>
          <a:lstStyle/>
          <a:p>
            <a:pPr marL="0" indent="0">
              <a:buNone/>
            </a:pPr>
            <a:r>
              <a:rPr lang="en-US" sz="1250" dirty="0">
                <a:solidFill>
                  <a:srgbClr val="1B2A38"/>
                </a:solidFill>
                <a:latin typeface="Times New Roman" pitchFamily="34" charset="0"/>
                <a:ea typeface="Times New Roman" pitchFamily="34" charset="-122"/>
                <a:cs typeface="Times New Roman" pitchFamily="34" charset="-120"/>
              </a:rPr>
              <a:t>A four-stage framework that fuses explanations from multiple network depths, weighted by how much each one actually contributes to the prediction.</a:t>
            </a:r>
            <a:endParaRPr lang="en-US" sz="1250" dirty="0"/>
          </a:p>
        </p:txBody>
      </p:sp>
      <p:pic>
        <p:nvPicPr>
          <p:cNvPr id="7" name="Image 0" descr="/home/claude/build/assets/framework_diagram.png"/>
          <p:cNvPicPr>
            <a:picLocks noChangeAspect="1"/>
          </p:cNvPicPr>
          <p:nvPr/>
        </p:nvPicPr>
        <p:blipFill>
          <a:blip r:embed="rId3"/>
          <a:stretch>
            <a:fillRect/>
          </a:stretch>
        </p:blipFill>
        <p:spPr>
          <a:xfrm>
            <a:off x="457200" y="1783080"/>
            <a:ext cx="11274552" cy="3749040"/>
          </a:xfrm>
          <a:prstGeom prst="rect">
            <a:avLst/>
          </a:prstGeom>
        </p:spPr>
      </p:pic>
      <p:sp>
        <p:nvSpPr>
          <p:cNvPr id="8" name="Shape 5"/>
          <p:cNvSpPr/>
          <p:nvPr/>
        </p:nvSpPr>
        <p:spPr>
          <a:xfrm>
            <a:off x="457200" y="1783080"/>
            <a:ext cx="11274552" cy="3749040"/>
          </a:xfrm>
          <a:prstGeom prst="roundRect">
            <a:avLst/>
          </a:prstGeom>
          <a:ln w="12700">
            <a:solidFill>
              <a:srgbClr val="DCE6EE"/>
            </a:solidFill>
            <a:prstDash val="solid"/>
          </a:ln>
        </p:spPr>
        <p:txBody>
          <a:bodyPr/>
          <a:lstStyle/>
          <a:p>
            <a:endParaRPr lang="en-US"/>
          </a:p>
        </p:txBody>
      </p:sp>
      <p:sp>
        <p:nvSpPr>
          <p:cNvPr id="9" name="Text 6"/>
          <p:cNvSpPr/>
          <p:nvPr/>
        </p:nvSpPr>
        <p:spPr>
          <a:xfrm>
            <a:off x="548640" y="5687568"/>
            <a:ext cx="2724912" cy="274320"/>
          </a:xfrm>
          <a:prstGeom prst="rect">
            <a:avLst/>
          </a:prstGeom>
          <a:noFill/>
          <a:ln/>
        </p:spPr>
        <p:txBody>
          <a:bodyPr wrap="square" rtlCol="0" anchor="ctr"/>
          <a:lstStyle/>
          <a:p>
            <a:pPr marL="0" indent="0">
              <a:buNone/>
            </a:pPr>
            <a:r>
              <a:rPr lang="en-US" sz="1150" b="1" dirty="0">
                <a:solidFill>
                  <a:srgbClr val="0F4C81"/>
                </a:solidFill>
                <a:latin typeface="Times New Roman" pitchFamily="34" charset="0"/>
                <a:ea typeface="Times New Roman" pitchFamily="34" charset="-122"/>
                <a:cs typeface="Times New Roman" pitchFamily="34" charset="-120"/>
              </a:rPr>
              <a:t>A  </a:t>
            </a:r>
            <a:r>
              <a:rPr lang="en-US" sz="1150" b="1" dirty="0">
                <a:solidFill>
                  <a:srgbClr val="0B3A5D"/>
                </a:solidFill>
                <a:latin typeface="Times New Roman" pitchFamily="34" charset="0"/>
                <a:ea typeface="Times New Roman" pitchFamily="34" charset="-122"/>
                <a:cs typeface="Times New Roman" pitchFamily="34" charset="-120"/>
              </a:rPr>
              <a:t>Classification</a:t>
            </a:r>
            <a:endParaRPr lang="en-US" sz="1150" dirty="0"/>
          </a:p>
        </p:txBody>
      </p:sp>
      <p:sp>
        <p:nvSpPr>
          <p:cNvPr id="10" name="Text 7"/>
          <p:cNvSpPr/>
          <p:nvPr/>
        </p:nvSpPr>
        <p:spPr>
          <a:xfrm>
            <a:off x="548640" y="5943600"/>
            <a:ext cx="2724912" cy="457200"/>
          </a:xfrm>
          <a:prstGeom prst="rect">
            <a:avLst/>
          </a:prstGeom>
          <a:noFill/>
          <a:ln/>
        </p:spPr>
        <p:txBody>
          <a:bodyPr wrap="square" rtlCol="0" anchor="ctr"/>
          <a:lstStyle/>
          <a:p>
            <a:pPr marL="0" indent="0">
              <a:lnSpc>
                <a:spcPct val="110000"/>
              </a:lnSpc>
              <a:buNone/>
            </a:pPr>
            <a:r>
              <a:rPr lang="en-US" sz="980" dirty="0">
                <a:solidFill>
                  <a:srgbClr val="5C7080"/>
                </a:solidFill>
                <a:latin typeface="Times New Roman" pitchFamily="34" charset="0"/>
                <a:ea typeface="Times New Roman" pitchFamily="34" charset="-122"/>
                <a:cs typeface="Times New Roman" pitchFamily="34" charset="-120"/>
              </a:rPr>
              <a:t>ResNet50 CNN classifies the OCT scan</a:t>
            </a:r>
            <a:endParaRPr lang="en-US" sz="980" dirty="0"/>
          </a:p>
        </p:txBody>
      </p:sp>
      <p:sp>
        <p:nvSpPr>
          <p:cNvPr id="11" name="Text 8"/>
          <p:cNvSpPr/>
          <p:nvPr/>
        </p:nvSpPr>
        <p:spPr>
          <a:xfrm>
            <a:off x="3410712" y="5687568"/>
            <a:ext cx="2724912" cy="274320"/>
          </a:xfrm>
          <a:prstGeom prst="rect">
            <a:avLst/>
          </a:prstGeom>
          <a:noFill/>
          <a:ln/>
        </p:spPr>
        <p:txBody>
          <a:bodyPr wrap="square" rtlCol="0" anchor="ctr"/>
          <a:lstStyle/>
          <a:p>
            <a:pPr marL="0" indent="0">
              <a:buNone/>
            </a:pPr>
            <a:r>
              <a:rPr lang="en-US" sz="1150" b="1" dirty="0">
                <a:solidFill>
                  <a:srgbClr val="0F4C81"/>
                </a:solidFill>
                <a:latin typeface="Times New Roman" pitchFamily="34" charset="0"/>
                <a:ea typeface="Times New Roman" pitchFamily="34" charset="-122"/>
                <a:cs typeface="Times New Roman" pitchFamily="34" charset="-120"/>
              </a:rPr>
              <a:t>B  </a:t>
            </a:r>
            <a:r>
              <a:rPr lang="en-US" sz="1150" b="1" dirty="0">
                <a:solidFill>
                  <a:srgbClr val="0B3A5D"/>
                </a:solidFill>
                <a:latin typeface="Times New Roman" pitchFamily="34" charset="0"/>
                <a:ea typeface="Times New Roman" pitchFamily="34" charset="-122"/>
                <a:cs typeface="Times New Roman" pitchFamily="34" charset="-120"/>
              </a:rPr>
              <a:t>Multi-Layer Extraction</a:t>
            </a:r>
            <a:endParaRPr lang="en-US" sz="1150" dirty="0"/>
          </a:p>
        </p:txBody>
      </p:sp>
      <p:sp>
        <p:nvSpPr>
          <p:cNvPr id="12" name="Text 9"/>
          <p:cNvSpPr/>
          <p:nvPr/>
        </p:nvSpPr>
        <p:spPr>
          <a:xfrm>
            <a:off x="3410712" y="5943600"/>
            <a:ext cx="2724912" cy="457200"/>
          </a:xfrm>
          <a:prstGeom prst="rect">
            <a:avLst/>
          </a:prstGeom>
          <a:noFill/>
          <a:ln/>
        </p:spPr>
        <p:txBody>
          <a:bodyPr wrap="square" rtlCol="0" anchor="ctr"/>
          <a:lstStyle/>
          <a:p>
            <a:pPr marL="0" indent="0">
              <a:lnSpc>
                <a:spcPct val="110000"/>
              </a:lnSpc>
              <a:buNone/>
            </a:pPr>
            <a:r>
              <a:rPr lang="en-US" sz="980" dirty="0">
                <a:solidFill>
                  <a:srgbClr val="5C7080"/>
                </a:solidFill>
                <a:latin typeface="Times New Roman" pitchFamily="34" charset="0"/>
                <a:ea typeface="Times New Roman" pitchFamily="34" charset="-122"/>
                <a:cs typeface="Times New Roman" pitchFamily="34" charset="-120"/>
              </a:rPr>
              <a:t>Grad-CAM pulled from 3 network depths</a:t>
            </a:r>
            <a:endParaRPr lang="en-US" sz="980" dirty="0"/>
          </a:p>
        </p:txBody>
      </p:sp>
      <p:sp>
        <p:nvSpPr>
          <p:cNvPr id="13" name="Text 10"/>
          <p:cNvSpPr/>
          <p:nvPr/>
        </p:nvSpPr>
        <p:spPr>
          <a:xfrm>
            <a:off x="6272784" y="5687568"/>
            <a:ext cx="2724912" cy="274320"/>
          </a:xfrm>
          <a:prstGeom prst="rect">
            <a:avLst/>
          </a:prstGeom>
          <a:noFill/>
          <a:ln/>
        </p:spPr>
        <p:txBody>
          <a:bodyPr wrap="square" rtlCol="0" anchor="ctr"/>
          <a:lstStyle/>
          <a:p>
            <a:pPr marL="0" indent="0">
              <a:buNone/>
            </a:pPr>
            <a:r>
              <a:rPr lang="en-US" sz="1150" b="1" dirty="0">
                <a:solidFill>
                  <a:srgbClr val="0F4C81"/>
                </a:solidFill>
                <a:latin typeface="Times New Roman" pitchFamily="34" charset="0"/>
                <a:ea typeface="Times New Roman" pitchFamily="34" charset="-122"/>
                <a:cs typeface="Times New Roman" pitchFamily="34" charset="-120"/>
              </a:rPr>
              <a:t>C  </a:t>
            </a:r>
            <a:r>
              <a:rPr lang="en-US" sz="1150" b="1" dirty="0">
                <a:solidFill>
                  <a:srgbClr val="0B3A5D"/>
                </a:solidFill>
                <a:latin typeface="Times New Roman" pitchFamily="34" charset="0"/>
                <a:ea typeface="Times New Roman" pitchFamily="34" charset="-122"/>
                <a:cs typeface="Times New Roman" pitchFamily="34" charset="-120"/>
              </a:rPr>
              <a:t>Confidence-Weighted Fusion</a:t>
            </a:r>
            <a:endParaRPr lang="en-US" sz="1150" dirty="0"/>
          </a:p>
        </p:txBody>
      </p:sp>
      <p:sp>
        <p:nvSpPr>
          <p:cNvPr id="14" name="Text 11"/>
          <p:cNvSpPr/>
          <p:nvPr/>
        </p:nvSpPr>
        <p:spPr>
          <a:xfrm>
            <a:off x="6272784" y="5943600"/>
            <a:ext cx="2724912" cy="457200"/>
          </a:xfrm>
          <a:prstGeom prst="rect">
            <a:avLst/>
          </a:prstGeom>
          <a:noFill/>
          <a:ln/>
        </p:spPr>
        <p:txBody>
          <a:bodyPr wrap="square" rtlCol="0" anchor="ctr"/>
          <a:lstStyle/>
          <a:p>
            <a:pPr marL="0" indent="0">
              <a:lnSpc>
                <a:spcPct val="110000"/>
              </a:lnSpc>
              <a:buNone/>
            </a:pPr>
            <a:r>
              <a:rPr lang="en-US" sz="980" dirty="0">
                <a:solidFill>
                  <a:srgbClr val="5C7080"/>
                </a:solidFill>
                <a:latin typeface="Times New Roman" pitchFamily="34" charset="0"/>
                <a:ea typeface="Times New Roman" pitchFamily="34" charset="-122"/>
                <a:cs typeface="Times New Roman" pitchFamily="34" charset="-120"/>
              </a:rPr>
              <a:t>Layers combined by evidence strength</a:t>
            </a:r>
            <a:endParaRPr lang="en-US" sz="980" dirty="0"/>
          </a:p>
        </p:txBody>
      </p:sp>
      <p:sp>
        <p:nvSpPr>
          <p:cNvPr id="15" name="Text 12"/>
          <p:cNvSpPr/>
          <p:nvPr/>
        </p:nvSpPr>
        <p:spPr>
          <a:xfrm>
            <a:off x="9134856" y="5687568"/>
            <a:ext cx="2724912" cy="274320"/>
          </a:xfrm>
          <a:prstGeom prst="rect">
            <a:avLst/>
          </a:prstGeom>
          <a:noFill/>
          <a:ln/>
        </p:spPr>
        <p:txBody>
          <a:bodyPr wrap="square" rtlCol="0" anchor="ctr"/>
          <a:lstStyle/>
          <a:p>
            <a:pPr marL="0" indent="0">
              <a:buNone/>
            </a:pPr>
            <a:r>
              <a:rPr lang="en-US" sz="1150" b="1" dirty="0">
                <a:solidFill>
                  <a:srgbClr val="0F4C81"/>
                </a:solidFill>
                <a:latin typeface="Times New Roman" pitchFamily="34" charset="0"/>
                <a:ea typeface="Times New Roman" pitchFamily="34" charset="-122"/>
                <a:cs typeface="Times New Roman" pitchFamily="34" charset="-120"/>
              </a:rPr>
              <a:t>D  </a:t>
            </a:r>
            <a:r>
              <a:rPr lang="en-US" sz="1150" b="1" dirty="0">
                <a:solidFill>
                  <a:srgbClr val="0B3A5D"/>
                </a:solidFill>
                <a:latin typeface="Times New Roman" pitchFamily="34" charset="0"/>
                <a:ea typeface="Times New Roman" pitchFamily="34" charset="-122"/>
                <a:cs typeface="Times New Roman" pitchFamily="34" charset="-120"/>
              </a:rPr>
              <a:t>Robustness Testing</a:t>
            </a:r>
            <a:endParaRPr lang="en-US" sz="1150" dirty="0"/>
          </a:p>
        </p:txBody>
      </p:sp>
      <p:sp>
        <p:nvSpPr>
          <p:cNvPr id="16" name="Text 13"/>
          <p:cNvSpPr/>
          <p:nvPr/>
        </p:nvSpPr>
        <p:spPr>
          <a:xfrm>
            <a:off x="9134856" y="5943600"/>
            <a:ext cx="2724912" cy="457200"/>
          </a:xfrm>
          <a:prstGeom prst="rect">
            <a:avLst/>
          </a:prstGeom>
          <a:noFill/>
          <a:ln/>
        </p:spPr>
        <p:txBody>
          <a:bodyPr wrap="square" rtlCol="0" anchor="ctr"/>
          <a:lstStyle/>
          <a:p>
            <a:pPr marL="0" indent="0">
              <a:lnSpc>
                <a:spcPct val="110000"/>
              </a:lnSpc>
              <a:buNone/>
            </a:pPr>
            <a:r>
              <a:rPr lang="en-US" sz="980" dirty="0">
                <a:solidFill>
                  <a:srgbClr val="5C7080"/>
                </a:solidFill>
                <a:latin typeface="Times New Roman" pitchFamily="34" charset="0"/>
                <a:ea typeface="Times New Roman" pitchFamily="34" charset="-122"/>
                <a:cs typeface="Times New Roman" pitchFamily="34" charset="-120"/>
              </a:rPr>
              <a:t>Stability verified under noise (SSIM)</a:t>
            </a:r>
            <a:endParaRPr lang="en-US" sz="980" dirty="0"/>
          </a:p>
        </p:txBody>
      </p:sp>
      <p:sp>
        <p:nvSpPr>
          <p:cNvPr id="17" name="Text 14"/>
          <p:cNvSpPr/>
          <p:nvPr/>
        </p:nvSpPr>
        <p:spPr>
          <a:xfrm>
            <a:off x="457200" y="6473952"/>
            <a:ext cx="8686800" cy="274320"/>
          </a:xfrm>
          <a:prstGeom prst="rect">
            <a:avLst/>
          </a:prstGeom>
          <a:noFill/>
          <a:ln/>
        </p:spPr>
        <p:txBody>
          <a:bodyPr wrap="square" rtlCol="0" anchor="ctr"/>
          <a:lstStyle/>
          <a:p>
            <a:pPr marL="0" indent="0" algn="l">
              <a:buNone/>
            </a:pPr>
            <a:r>
              <a:rPr lang="en-US" sz="950" dirty="0">
                <a:solidFill>
                  <a:srgbClr val="5C7080"/>
                </a:solidFill>
                <a:latin typeface="Roboto" pitchFamily="34" charset="0"/>
                <a:ea typeface="Roboto" pitchFamily="34" charset="-122"/>
                <a:cs typeface="Roboto" pitchFamily="34" charset="-120"/>
              </a:rPr>
              <a:t>\</a:t>
            </a:r>
            <a:endParaRPr lang="en-US" sz="950" dirty="0"/>
          </a:p>
        </p:txBody>
      </p:sp>
      <p:sp>
        <p:nvSpPr>
          <p:cNvPr id="18" name="Text 15"/>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12</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PROPOSED METHODOLOGY</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Classification &amp; Multi-Layer Extraction</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06 · Methodology</a:t>
            </a:r>
            <a:endParaRPr lang="en-US" sz="1000" dirty="0"/>
          </a:p>
        </p:txBody>
      </p:sp>
      <p:sp>
        <p:nvSpPr>
          <p:cNvPr id="6" name="Shape 4"/>
          <p:cNvSpPr/>
          <p:nvPr/>
        </p:nvSpPr>
        <p:spPr>
          <a:xfrm>
            <a:off x="548640" y="1417320"/>
            <a:ext cx="5120640" cy="4343400"/>
          </a:xfrm>
          <a:prstGeom prst="roundRect">
            <a:avLst>
              <a:gd name="adj" fmla="val 1895"/>
            </a:avLst>
          </a:prstGeom>
          <a:solidFill>
            <a:srgbClr val="F4F8FB"/>
          </a:solidFill>
          <a:ln w="12700">
            <a:solidFill>
              <a:srgbClr val="DCE6EE"/>
            </a:solidFill>
            <a:prstDash val="solid"/>
          </a:ln>
        </p:spPr>
        <p:txBody>
          <a:bodyPr/>
          <a:lstStyle/>
          <a:p>
            <a:endParaRPr lang="en-US"/>
          </a:p>
        </p:txBody>
      </p:sp>
      <p:sp>
        <p:nvSpPr>
          <p:cNvPr id="7" name="Text 5"/>
          <p:cNvSpPr/>
          <p:nvPr/>
        </p:nvSpPr>
        <p:spPr>
          <a:xfrm>
            <a:off x="777240" y="1600200"/>
            <a:ext cx="4663440" cy="365760"/>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Stage A — CNN Classification</a:t>
            </a:r>
            <a:endParaRPr lang="en-US" sz="1500" dirty="0"/>
          </a:p>
        </p:txBody>
      </p:sp>
      <p:sp>
        <p:nvSpPr>
          <p:cNvPr id="8" name="Shape 6"/>
          <p:cNvSpPr/>
          <p:nvPr/>
        </p:nvSpPr>
        <p:spPr>
          <a:xfrm>
            <a:off x="868680" y="2167128"/>
            <a:ext cx="82296" cy="82296"/>
          </a:xfrm>
          <a:prstGeom prst="ellipse">
            <a:avLst/>
          </a:prstGeom>
          <a:solidFill>
            <a:srgbClr val="0F4C81"/>
          </a:solidFill>
          <a:ln/>
        </p:spPr>
        <p:txBody>
          <a:bodyPr/>
          <a:lstStyle/>
          <a:p>
            <a:endParaRPr lang="en-US"/>
          </a:p>
        </p:txBody>
      </p:sp>
      <p:sp>
        <p:nvSpPr>
          <p:cNvPr id="9" name="Text 7"/>
          <p:cNvSpPr/>
          <p:nvPr/>
        </p:nvSpPr>
        <p:spPr>
          <a:xfrm>
            <a:off x="1078992" y="2029968"/>
            <a:ext cx="4434840" cy="457200"/>
          </a:xfrm>
          <a:prstGeom prst="rect">
            <a:avLst/>
          </a:prstGeom>
          <a:noFill/>
          <a:ln/>
        </p:spPr>
        <p:txBody>
          <a:bodyPr wrap="square" rtlCol="0" anchor="ctr"/>
          <a:lstStyle/>
          <a:p>
            <a:pPr marL="0" indent="0">
              <a:lnSpc>
                <a:spcPct val="115000"/>
              </a:lnSpc>
              <a:buNone/>
            </a:pPr>
            <a:r>
              <a:rPr lang="en-US" sz="1200" dirty="0">
                <a:solidFill>
                  <a:srgbClr val="1B2A38"/>
                </a:solidFill>
                <a:latin typeface="Times New Roman" pitchFamily="34" charset="0"/>
                <a:ea typeface="Times New Roman" pitchFamily="34" charset="-122"/>
                <a:cs typeface="Times New Roman" pitchFamily="34" charset="-120"/>
              </a:rPr>
              <a:t>Backbone: ResNet50, pre-trained on ImageNet</a:t>
            </a:r>
            <a:endParaRPr lang="en-US" sz="1200" dirty="0"/>
          </a:p>
        </p:txBody>
      </p:sp>
      <p:sp>
        <p:nvSpPr>
          <p:cNvPr id="10" name="Shape 8"/>
          <p:cNvSpPr/>
          <p:nvPr/>
        </p:nvSpPr>
        <p:spPr>
          <a:xfrm>
            <a:off x="868680" y="2734056"/>
            <a:ext cx="82296" cy="82296"/>
          </a:xfrm>
          <a:prstGeom prst="ellipse">
            <a:avLst/>
          </a:prstGeom>
          <a:solidFill>
            <a:srgbClr val="0F4C81"/>
          </a:solidFill>
          <a:ln/>
        </p:spPr>
        <p:txBody>
          <a:bodyPr/>
          <a:lstStyle/>
          <a:p>
            <a:endParaRPr lang="en-US"/>
          </a:p>
        </p:txBody>
      </p:sp>
      <p:sp>
        <p:nvSpPr>
          <p:cNvPr id="11" name="Text 9"/>
          <p:cNvSpPr/>
          <p:nvPr/>
        </p:nvSpPr>
        <p:spPr>
          <a:xfrm>
            <a:off x="1078992" y="2596896"/>
            <a:ext cx="4434840" cy="457200"/>
          </a:xfrm>
          <a:prstGeom prst="rect">
            <a:avLst/>
          </a:prstGeom>
          <a:noFill/>
          <a:ln/>
        </p:spPr>
        <p:txBody>
          <a:bodyPr wrap="square" rtlCol="0" anchor="ctr"/>
          <a:lstStyle/>
          <a:p>
            <a:pPr marL="0" indent="0">
              <a:lnSpc>
                <a:spcPct val="115000"/>
              </a:lnSpc>
              <a:buNone/>
            </a:pPr>
            <a:r>
              <a:rPr lang="en-US" sz="1200" dirty="0">
                <a:solidFill>
                  <a:srgbClr val="1B2A38"/>
                </a:solidFill>
                <a:latin typeface="Times New Roman" pitchFamily="34" charset="0"/>
                <a:ea typeface="Times New Roman" pitchFamily="34" charset="-122"/>
                <a:cs typeface="Times New Roman" pitchFamily="34" charset="-120"/>
              </a:rPr>
              <a:t>Dataset: OCT2017 — CNV, DME, DRUSEN, NORMAL</a:t>
            </a:r>
            <a:endParaRPr lang="en-US" sz="1200" dirty="0"/>
          </a:p>
        </p:txBody>
      </p:sp>
      <p:sp>
        <p:nvSpPr>
          <p:cNvPr id="12" name="Shape 10"/>
          <p:cNvSpPr/>
          <p:nvPr/>
        </p:nvSpPr>
        <p:spPr>
          <a:xfrm>
            <a:off x="868680" y="3300984"/>
            <a:ext cx="82296" cy="82296"/>
          </a:xfrm>
          <a:prstGeom prst="ellipse">
            <a:avLst/>
          </a:prstGeom>
          <a:solidFill>
            <a:srgbClr val="0F4C81"/>
          </a:solidFill>
          <a:ln/>
        </p:spPr>
        <p:txBody>
          <a:bodyPr/>
          <a:lstStyle/>
          <a:p>
            <a:endParaRPr lang="en-US"/>
          </a:p>
        </p:txBody>
      </p:sp>
      <p:sp>
        <p:nvSpPr>
          <p:cNvPr id="13" name="Text 11"/>
          <p:cNvSpPr/>
          <p:nvPr/>
        </p:nvSpPr>
        <p:spPr>
          <a:xfrm>
            <a:off x="1078992" y="3163824"/>
            <a:ext cx="4434840" cy="457200"/>
          </a:xfrm>
          <a:prstGeom prst="rect">
            <a:avLst/>
          </a:prstGeom>
          <a:noFill/>
          <a:ln/>
        </p:spPr>
        <p:txBody>
          <a:bodyPr wrap="square" rtlCol="0" anchor="ctr"/>
          <a:lstStyle/>
          <a:p>
            <a:pPr marL="0" indent="0">
              <a:lnSpc>
                <a:spcPct val="115000"/>
              </a:lnSpc>
              <a:buNone/>
            </a:pPr>
            <a:r>
              <a:rPr lang="en-US" sz="1200" dirty="0">
                <a:solidFill>
                  <a:srgbClr val="1B2A38"/>
                </a:solidFill>
                <a:latin typeface="Times New Roman" pitchFamily="34" charset="0"/>
                <a:ea typeface="Times New Roman" pitchFamily="34" charset="-122"/>
                <a:cs typeface="Times New Roman" pitchFamily="34" charset="-120"/>
              </a:rPr>
              <a:t>Images resized to 224×224 and normalized</a:t>
            </a:r>
            <a:endParaRPr lang="en-US" sz="1200" dirty="0"/>
          </a:p>
        </p:txBody>
      </p:sp>
      <p:sp>
        <p:nvSpPr>
          <p:cNvPr id="14" name="Shape 12"/>
          <p:cNvSpPr/>
          <p:nvPr/>
        </p:nvSpPr>
        <p:spPr>
          <a:xfrm>
            <a:off x="868680" y="3867912"/>
            <a:ext cx="82296" cy="82296"/>
          </a:xfrm>
          <a:prstGeom prst="ellipse">
            <a:avLst/>
          </a:prstGeom>
          <a:solidFill>
            <a:srgbClr val="0F4C81"/>
          </a:solidFill>
          <a:ln/>
        </p:spPr>
        <p:txBody>
          <a:bodyPr/>
          <a:lstStyle/>
          <a:p>
            <a:endParaRPr lang="en-US"/>
          </a:p>
        </p:txBody>
      </p:sp>
      <p:sp>
        <p:nvSpPr>
          <p:cNvPr id="15" name="Text 13"/>
          <p:cNvSpPr/>
          <p:nvPr/>
        </p:nvSpPr>
        <p:spPr>
          <a:xfrm>
            <a:off x="1078992" y="3730752"/>
            <a:ext cx="4434840" cy="457200"/>
          </a:xfrm>
          <a:prstGeom prst="rect">
            <a:avLst/>
          </a:prstGeom>
          <a:noFill/>
          <a:ln/>
        </p:spPr>
        <p:txBody>
          <a:bodyPr wrap="square" rtlCol="0" anchor="ctr"/>
          <a:lstStyle/>
          <a:p>
            <a:pPr marL="0" indent="0">
              <a:lnSpc>
                <a:spcPct val="115000"/>
              </a:lnSpc>
              <a:buNone/>
            </a:pPr>
            <a:r>
              <a:rPr lang="en-US" sz="1200" dirty="0">
                <a:solidFill>
                  <a:srgbClr val="1B2A38"/>
                </a:solidFill>
                <a:latin typeface="Times New Roman" pitchFamily="34" charset="0"/>
                <a:ea typeface="Times New Roman" pitchFamily="34" charset="-122"/>
                <a:cs typeface="Times New Roman" pitchFamily="34" charset="-120"/>
              </a:rPr>
              <a:t>Achieves ~98% overall classification accuracy</a:t>
            </a:r>
            <a:endParaRPr lang="en-US" sz="1200" dirty="0"/>
          </a:p>
        </p:txBody>
      </p:sp>
      <p:sp>
        <p:nvSpPr>
          <p:cNvPr id="16" name="Shape 14"/>
          <p:cNvSpPr/>
          <p:nvPr/>
        </p:nvSpPr>
        <p:spPr>
          <a:xfrm>
            <a:off x="777240" y="4480560"/>
            <a:ext cx="4663440" cy="777240"/>
          </a:xfrm>
          <a:prstGeom prst="roundRect">
            <a:avLst>
              <a:gd name="adj" fmla="val 9412"/>
            </a:avLst>
          </a:prstGeom>
          <a:solidFill>
            <a:srgbClr val="0F4C81"/>
          </a:solidFill>
          <a:ln/>
        </p:spPr>
        <p:txBody>
          <a:bodyPr/>
          <a:lstStyle/>
          <a:p>
            <a:endParaRPr lang="en-US"/>
          </a:p>
        </p:txBody>
      </p:sp>
      <p:sp>
        <p:nvSpPr>
          <p:cNvPr id="17" name="Text 15"/>
          <p:cNvSpPr/>
          <p:nvPr/>
        </p:nvSpPr>
        <p:spPr>
          <a:xfrm>
            <a:off x="960120" y="4480560"/>
            <a:ext cx="4297680" cy="777240"/>
          </a:xfrm>
          <a:prstGeom prst="rect">
            <a:avLst/>
          </a:prstGeom>
          <a:noFill/>
          <a:ln/>
        </p:spPr>
        <p:txBody>
          <a:bodyPr wrap="square" rtlCol="0" anchor="ctr"/>
          <a:lstStyle/>
          <a:p>
            <a:pPr marL="0" indent="0">
              <a:buNone/>
            </a:pPr>
            <a:r>
              <a:rPr lang="en-US" sz="1100" i="1" dirty="0">
                <a:solidFill>
                  <a:srgbClr val="FFFFFF"/>
                </a:solidFill>
                <a:latin typeface="Times New Roman" pitchFamily="34" charset="0"/>
                <a:ea typeface="Times New Roman" pitchFamily="34" charset="-122"/>
                <a:cs typeface="Times New Roman" pitchFamily="34" charset="-120"/>
              </a:rPr>
              <a:t>A trustworthy, high-accuracy model is the necessary starting point for a meaningful explanation.</a:t>
            </a:r>
            <a:endParaRPr lang="en-US" sz="1100" dirty="0"/>
          </a:p>
        </p:txBody>
      </p:sp>
      <p:sp>
        <p:nvSpPr>
          <p:cNvPr id="18" name="Shape 16"/>
          <p:cNvSpPr/>
          <p:nvPr/>
        </p:nvSpPr>
        <p:spPr>
          <a:xfrm>
            <a:off x="5897880" y="1417320"/>
            <a:ext cx="5742432" cy="4343400"/>
          </a:xfrm>
          <a:prstGeom prst="roundRect">
            <a:avLst>
              <a:gd name="adj" fmla="val 1895"/>
            </a:avLst>
          </a:prstGeom>
          <a:solidFill>
            <a:srgbClr val="F4F8FB"/>
          </a:solidFill>
          <a:ln w="12700">
            <a:solidFill>
              <a:srgbClr val="DCE6EE"/>
            </a:solidFill>
            <a:prstDash val="solid"/>
          </a:ln>
        </p:spPr>
        <p:txBody>
          <a:bodyPr/>
          <a:lstStyle/>
          <a:p>
            <a:endParaRPr lang="en-US"/>
          </a:p>
        </p:txBody>
      </p:sp>
      <p:sp>
        <p:nvSpPr>
          <p:cNvPr id="19" name="Text 17"/>
          <p:cNvSpPr/>
          <p:nvPr/>
        </p:nvSpPr>
        <p:spPr>
          <a:xfrm>
            <a:off x="6126480" y="1600200"/>
            <a:ext cx="5303520" cy="365760"/>
          </a:xfrm>
          <a:prstGeom prst="rect">
            <a:avLst/>
          </a:prstGeom>
          <a:noFill/>
          <a:ln/>
        </p:spPr>
        <p:txBody>
          <a:bodyPr wrap="square" rtlCol="0" anchor="ctr"/>
          <a:lstStyle/>
          <a:p>
            <a:pPr marL="0" indent="0">
              <a:buNone/>
            </a:pPr>
            <a:r>
              <a:rPr lang="en-US" sz="1500" b="1" dirty="0">
                <a:solidFill>
                  <a:srgbClr val="0B3A5D"/>
                </a:solidFill>
                <a:latin typeface="Times New Roman" pitchFamily="34" charset="0"/>
                <a:ea typeface="Times New Roman" pitchFamily="34" charset="-122"/>
                <a:cs typeface="Times New Roman" pitchFamily="34" charset="-120"/>
              </a:rPr>
              <a:t>Stage B — Multi-Layer Grad-CAM Extraction</a:t>
            </a:r>
            <a:endParaRPr lang="en-US" sz="1500" dirty="0"/>
          </a:p>
        </p:txBody>
      </p:sp>
      <p:sp>
        <p:nvSpPr>
          <p:cNvPr id="20" name="Text 18"/>
          <p:cNvSpPr/>
          <p:nvPr/>
        </p:nvSpPr>
        <p:spPr>
          <a:xfrm>
            <a:off x="6126480" y="1993392"/>
            <a:ext cx="5303520" cy="502920"/>
          </a:xfrm>
          <a:prstGeom prst="rect">
            <a:avLst/>
          </a:prstGeom>
          <a:noFill/>
          <a:ln/>
        </p:spPr>
        <p:txBody>
          <a:bodyPr wrap="square" rtlCol="0" anchor="ctr"/>
          <a:lstStyle/>
          <a:p>
            <a:pPr marL="0" indent="0">
              <a:lnSpc>
                <a:spcPct val="115000"/>
              </a:lnSpc>
              <a:buNone/>
            </a:pPr>
            <a:r>
              <a:rPr lang="en-US" sz="1150" dirty="0">
                <a:solidFill>
                  <a:srgbClr val="1B2A38"/>
                </a:solidFill>
                <a:latin typeface="Times New Roman" pitchFamily="34" charset="0"/>
                <a:ea typeface="Times New Roman" pitchFamily="34" charset="-122"/>
                <a:cs typeface="Times New Roman" pitchFamily="34" charset="-120"/>
              </a:rPr>
              <a:t>Standard Grad-CAM uses only the final layer. This method extracts heatmaps from three depths instead:</a:t>
            </a:r>
            <a:endParaRPr lang="en-US" sz="1150" dirty="0"/>
          </a:p>
        </p:txBody>
      </p:sp>
      <p:sp>
        <p:nvSpPr>
          <p:cNvPr id="21" name="Shape 19"/>
          <p:cNvSpPr/>
          <p:nvPr/>
        </p:nvSpPr>
        <p:spPr>
          <a:xfrm>
            <a:off x="6126480" y="2514600"/>
            <a:ext cx="5303520" cy="749808"/>
          </a:xfrm>
          <a:prstGeom prst="roundRect">
            <a:avLst>
              <a:gd name="adj" fmla="val 9756"/>
            </a:avLst>
          </a:prstGeom>
          <a:solidFill>
            <a:srgbClr val="FFFFFF"/>
          </a:solidFill>
          <a:ln w="12700">
            <a:solidFill>
              <a:srgbClr val="DCE6EE"/>
            </a:solidFill>
            <a:prstDash val="solid"/>
          </a:ln>
        </p:spPr>
        <p:txBody>
          <a:bodyPr/>
          <a:lstStyle/>
          <a:p>
            <a:endParaRPr lang="en-US" dirty="0"/>
          </a:p>
        </p:txBody>
      </p:sp>
      <p:sp>
        <p:nvSpPr>
          <p:cNvPr id="22" name="Text 20"/>
          <p:cNvSpPr/>
          <p:nvPr/>
        </p:nvSpPr>
        <p:spPr>
          <a:xfrm>
            <a:off x="6263640" y="2514600"/>
            <a:ext cx="914400" cy="749808"/>
          </a:xfrm>
          <a:prstGeom prst="rect">
            <a:avLst/>
          </a:prstGeom>
          <a:noFill/>
          <a:ln/>
        </p:spPr>
        <p:txBody>
          <a:bodyPr wrap="square" rtlCol="0" anchor="ctr"/>
          <a:lstStyle/>
          <a:p>
            <a:pPr marL="0" indent="0">
              <a:buNone/>
            </a:pPr>
            <a:r>
              <a:rPr lang="en-US" sz="2200" b="1" dirty="0">
                <a:solidFill>
                  <a:srgbClr val="0F4C81"/>
                </a:solidFill>
                <a:latin typeface="Montserrat" pitchFamily="34" charset="0"/>
                <a:ea typeface="Montserrat" pitchFamily="34" charset="-122"/>
                <a:cs typeface="Montserrat" pitchFamily="34" charset="-120"/>
              </a:rPr>
              <a:t>L2</a:t>
            </a:r>
            <a:endParaRPr lang="en-US" sz="2200" dirty="0"/>
          </a:p>
        </p:txBody>
      </p:sp>
      <p:sp>
        <p:nvSpPr>
          <p:cNvPr id="23" name="Text 21"/>
          <p:cNvSpPr/>
          <p:nvPr/>
        </p:nvSpPr>
        <p:spPr>
          <a:xfrm>
            <a:off x="7178040" y="2606040"/>
            <a:ext cx="1554480" cy="292608"/>
          </a:xfrm>
          <a:prstGeom prst="rect">
            <a:avLst/>
          </a:prstGeom>
          <a:noFill/>
          <a:ln/>
        </p:spPr>
        <p:txBody>
          <a:bodyPr wrap="square" rtlCol="0" anchor="ctr"/>
          <a:lstStyle/>
          <a:p>
            <a:pPr marL="0" indent="0">
              <a:buNone/>
            </a:pPr>
            <a:r>
              <a:rPr lang="en-US" sz="1300" b="1" dirty="0">
                <a:solidFill>
                  <a:srgbClr val="0B3A5D"/>
                </a:solidFill>
                <a:latin typeface="Times New Roman" pitchFamily="34" charset="0"/>
                <a:ea typeface="Times New Roman" pitchFamily="34" charset="-122"/>
                <a:cs typeface="Times New Roman" pitchFamily="34" charset="-120"/>
              </a:rPr>
              <a:t>28 × 28</a:t>
            </a:r>
            <a:endParaRPr lang="en-US" sz="1300" dirty="0"/>
          </a:p>
        </p:txBody>
      </p:sp>
      <p:sp>
        <p:nvSpPr>
          <p:cNvPr id="24" name="Text 22"/>
          <p:cNvSpPr/>
          <p:nvPr/>
        </p:nvSpPr>
        <p:spPr>
          <a:xfrm>
            <a:off x="7178040" y="2898648"/>
            <a:ext cx="4114800" cy="292608"/>
          </a:xfrm>
          <a:prstGeom prst="rect">
            <a:avLst/>
          </a:prstGeom>
          <a:noFill/>
          <a:ln/>
        </p:spPr>
        <p:txBody>
          <a:bodyPr wrap="square" rtlCol="0" anchor="ctr"/>
          <a:lstStyle/>
          <a:p>
            <a:pPr marL="0" indent="0">
              <a:buNone/>
            </a:pPr>
            <a:r>
              <a:rPr lang="en-US" sz="1100" dirty="0">
                <a:solidFill>
                  <a:srgbClr val="5C7080"/>
                </a:solidFill>
                <a:latin typeface="Times New Roman" pitchFamily="34" charset="0"/>
                <a:ea typeface="Times New Roman" pitchFamily="34" charset="-122"/>
                <a:cs typeface="Times New Roman" pitchFamily="34" charset="-120"/>
              </a:rPr>
              <a:t>Fine retinal structures</a:t>
            </a:r>
            <a:endParaRPr lang="en-US" sz="1100" dirty="0"/>
          </a:p>
        </p:txBody>
      </p:sp>
      <p:sp>
        <p:nvSpPr>
          <p:cNvPr id="25" name="Shape 23"/>
          <p:cNvSpPr/>
          <p:nvPr/>
        </p:nvSpPr>
        <p:spPr>
          <a:xfrm>
            <a:off x="6126480" y="3383280"/>
            <a:ext cx="5303520" cy="749808"/>
          </a:xfrm>
          <a:prstGeom prst="roundRect">
            <a:avLst>
              <a:gd name="adj" fmla="val 9756"/>
            </a:avLst>
          </a:prstGeom>
          <a:solidFill>
            <a:srgbClr val="FFFFFF"/>
          </a:solidFill>
          <a:ln w="12700">
            <a:solidFill>
              <a:srgbClr val="DCE6EE"/>
            </a:solidFill>
            <a:prstDash val="solid"/>
          </a:ln>
        </p:spPr>
        <p:txBody>
          <a:bodyPr/>
          <a:lstStyle/>
          <a:p>
            <a:endParaRPr lang="en-US"/>
          </a:p>
        </p:txBody>
      </p:sp>
      <p:sp>
        <p:nvSpPr>
          <p:cNvPr id="26" name="Text 24"/>
          <p:cNvSpPr/>
          <p:nvPr/>
        </p:nvSpPr>
        <p:spPr>
          <a:xfrm>
            <a:off x="6263640" y="3383280"/>
            <a:ext cx="914400" cy="749808"/>
          </a:xfrm>
          <a:prstGeom prst="rect">
            <a:avLst/>
          </a:prstGeom>
          <a:noFill/>
          <a:ln/>
        </p:spPr>
        <p:txBody>
          <a:bodyPr wrap="square" rtlCol="0" anchor="ctr"/>
          <a:lstStyle/>
          <a:p>
            <a:pPr marL="0" indent="0">
              <a:buNone/>
            </a:pPr>
            <a:r>
              <a:rPr lang="en-US" sz="2200" b="1" dirty="0">
                <a:solidFill>
                  <a:srgbClr val="0F4C81"/>
                </a:solidFill>
                <a:latin typeface="Montserrat" pitchFamily="34" charset="0"/>
                <a:ea typeface="Montserrat" pitchFamily="34" charset="-122"/>
                <a:cs typeface="Montserrat" pitchFamily="34" charset="-120"/>
              </a:rPr>
              <a:t>L3</a:t>
            </a:r>
            <a:endParaRPr lang="en-US" sz="2200" dirty="0"/>
          </a:p>
        </p:txBody>
      </p:sp>
      <p:sp>
        <p:nvSpPr>
          <p:cNvPr id="27" name="Text 25"/>
          <p:cNvSpPr/>
          <p:nvPr/>
        </p:nvSpPr>
        <p:spPr>
          <a:xfrm>
            <a:off x="7178040" y="3474720"/>
            <a:ext cx="1554480" cy="292608"/>
          </a:xfrm>
          <a:prstGeom prst="rect">
            <a:avLst/>
          </a:prstGeom>
          <a:noFill/>
          <a:ln/>
        </p:spPr>
        <p:txBody>
          <a:bodyPr wrap="square" rtlCol="0" anchor="ctr"/>
          <a:lstStyle/>
          <a:p>
            <a:pPr marL="0" indent="0">
              <a:buNone/>
            </a:pPr>
            <a:r>
              <a:rPr lang="en-US" sz="1300" b="1" dirty="0">
                <a:solidFill>
                  <a:srgbClr val="0B3A5D"/>
                </a:solidFill>
                <a:latin typeface="Times New Roman" pitchFamily="34" charset="0"/>
                <a:ea typeface="Times New Roman" pitchFamily="34" charset="-122"/>
                <a:cs typeface="Times New Roman" pitchFamily="34" charset="-120"/>
              </a:rPr>
              <a:t>14 × 14</a:t>
            </a:r>
            <a:endParaRPr lang="en-US" sz="1300" dirty="0"/>
          </a:p>
        </p:txBody>
      </p:sp>
      <p:sp>
        <p:nvSpPr>
          <p:cNvPr id="28" name="Text 26"/>
          <p:cNvSpPr/>
          <p:nvPr/>
        </p:nvSpPr>
        <p:spPr>
          <a:xfrm>
            <a:off x="7178040" y="3767328"/>
            <a:ext cx="4114800" cy="292608"/>
          </a:xfrm>
          <a:prstGeom prst="rect">
            <a:avLst/>
          </a:prstGeom>
          <a:noFill/>
          <a:ln/>
        </p:spPr>
        <p:txBody>
          <a:bodyPr wrap="square" rtlCol="0" anchor="ctr"/>
          <a:lstStyle/>
          <a:p>
            <a:pPr marL="0" indent="0">
              <a:buNone/>
            </a:pPr>
            <a:r>
              <a:rPr lang="en-US" sz="1100" dirty="0">
                <a:solidFill>
                  <a:srgbClr val="5C7080"/>
                </a:solidFill>
                <a:latin typeface="Times New Roman" pitchFamily="34" charset="0"/>
                <a:ea typeface="Times New Roman" pitchFamily="34" charset="-122"/>
                <a:cs typeface="Times New Roman" pitchFamily="34" charset="-120"/>
              </a:rPr>
              <a:t>Mid-level structural patterns of retina</a:t>
            </a:r>
            <a:endParaRPr lang="en-US" sz="1100" dirty="0"/>
          </a:p>
        </p:txBody>
      </p:sp>
      <p:sp>
        <p:nvSpPr>
          <p:cNvPr id="29" name="Shape 27"/>
          <p:cNvSpPr/>
          <p:nvPr/>
        </p:nvSpPr>
        <p:spPr>
          <a:xfrm>
            <a:off x="5989320" y="4233672"/>
            <a:ext cx="5303520" cy="749808"/>
          </a:xfrm>
          <a:prstGeom prst="roundRect">
            <a:avLst>
              <a:gd name="adj" fmla="val 9756"/>
            </a:avLst>
          </a:prstGeom>
          <a:solidFill>
            <a:srgbClr val="FFFFFF"/>
          </a:solidFill>
          <a:ln w="12700">
            <a:solidFill>
              <a:srgbClr val="DCE6EE"/>
            </a:solidFill>
            <a:prstDash val="solid"/>
          </a:ln>
        </p:spPr>
        <p:txBody>
          <a:bodyPr/>
          <a:lstStyle/>
          <a:p>
            <a:endParaRPr lang="en-US"/>
          </a:p>
        </p:txBody>
      </p:sp>
      <p:sp>
        <p:nvSpPr>
          <p:cNvPr id="30" name="Text 28"/>
          <p:cNvSpPr/>
          <p:nvPr/>
        </p:nvSpPr>
        <p:spPr>
          <a:xfrm>
            <a:off x="6263640" y="4251960"/>
            <a:ext cx="914400" cy="749808"/>
          </a:xfrm>
          <a:prstGeom prst="rect">
            <a:avLst/>
          </a:prstGeom>
          <a:noFill/>
          <a:ln/>
        </p:spPr>
        <p:txBody>
          <a:bodyPr wrap="square" rtlCol="0" anchor="ctr"/>
          <a:lstStyle/>
          <a:p>
            <a:pPr marL="0" indent="0">
              <a:buNone/>
            </a:pPr>
            <a:r>
              <a:rPr lang="en-US" sz="2200" b="1" dirty="0">
                <a:solidFill>
                  <a:srgbClr val="0F4C81"/>
                </a:solidFill>
                <a:latin typeface="Montserrat" pitchFamily="34" charset="0"/>
                <a:ea typeface="Montserrat" pitchFamily="34" charset="-122"/>
                <a:cs typeface="Montserrat" pitchFamily="34" charset="-120"/>
              </a:rPr>
              <a:t>L4</a:t>
            </a:r>
            <a:endParaRPr lang="en-US" sz="2200" dirty="0"/>
          </a:p>
        </p:txBody>
      </p:sp>
      <p:sp>
        <p:nvSpPr>
          <p:cNvPr id="31" name="Text 29"/>
          <p:cNvSpPr/>
          <p:nvPr/>
        </p:nvSpPr>
        <p:spPr>
          <a:xfrm>
            <a:off x="7178040" y="4343400"/>
            <a:ext cx="1554480" cy="292608"/>
          </a:xfrm>
          <a:prstGeom prst="rect">
            <a:avLst/>
          </a:prstGeom>
          <a:noFill/>
          <a:ln/>
        </p:spPr>
        <p:txBody>
          <a:bodyPr wrap="square" rtlCol="0" anchor="ctr"/>
          <a:lstStyle/>
          <a:p>
            <a:pPr marL="0" indent="0">
              <a:buNone/>
            </a:pPr>
            <a:r>
              <a:rPr lang="en-US" sz="1300" b="1" dirty="0">
                <a:solidFill>
                  <a:srgbClr val="0B3A5D"/>
                </a:solidFill>
                <a:latin typeface="Times New Roman" pitchFamily="34" charset="0"/>
                <a:ea typeface="Times New Roman" pitchFamily="34" charset="-122"/>
                <a:cs typeface="Times New Roman" pitchFamily="34" charset="-120"/>
              </a:rPr>
              <a:t>7 × 7</a:t>
            </a:r>
            <a:endParaRPr lang="en-US" sz="1300" dirty="0"/>
          </a:p>
        </p:txBody>
      </p:sp>
      <p:sp>
        <p:nvSpPr>
          <p:cNvPr id="32" name="Text 30"/>
          <p:cNvSpPr/>
          <p:nvPr/>
        </p:nvSpPr>
        <p:spPr>
          <a:xfrm>
            <a:off x="7178040" y="4636008"/>
            <a:ext cx="4114800" cy="292608"/>
          </a:xfrm>
          <a:prstGeom prst="rect">
            <a:avLst/>
          </a:prstGeom>
          <a:noFill/>
          <a:ln/>
        </p:spPr>
        <p:txBody>
          <a:bodyPr wrap="square" rtlCol="0" anchor="ctr"/>
          <a:lstStyle/>
          <a:p>
            <a:pPr marL="0" indent="0">
              <a:buNone/>
            </a:pPr>
            <a:r>
              <a:rPr lang="en-US" sz="1100" dirty="0">
                <a:solidFill>
                  <a:srgbClr val="5C7080"/>
                </a:solidFill>
                <a:latin typeface="Times New Roman" pitchFamily="34" charset="0"/>
                <a:ea typeface="Times New Roman" pitchFamily="34" charset="-122"/>
                <a:cs typeface="Times New Roman" pitchFamily="34" charset="-120"/>
              </a:rPr>
              <a:t>High-level semantic features of the disease</a:t>
            </a:r>
            <a:endParaRPr lang="en-US" sz="1100" dirty="0"/>
          </a:p>
        </p:txBody>
      </p:sp>
      <p:sp>
        <p:nvSpPr>
          <p:cNvPr id="33" name="Text 31"/>
          <p:cNvSpPr/>
          <p:nvPr/>
        </p:nvSpPr>
        <p:spPr>
          <a:xfrm>
            <a:off x="6126480" y="5148072"/>
            <a:ext cx="5303520" cy="411480"/>
          </a:xfrm>
          <a:prstGeom prst="rect">
            <a:avLst/>
          </a:prstGeom>
          <a:noFill/>
          <a:ln/>
        </p:spPr>
        <p:txBody>
          <a:bodyPr wrap="square" rtlCol="0" anchor="ctr"/>
          <a:lstStyle/>
          <a:p>
            <a:pPr marL="0" indent="0">
              <a:lnSpc>
                <a:spcPct val="112000"/>
              </a:lnSpc>
              <a:buNone/>
            </a:pPr>
            <a:r>
              <a:rPr lang="en-US" sz="1050" i="1" dirty="0">
                <a:solidFill>
                  <a:srgbClr val="5C7080"/>
                </a:solidFill>
                <a:latin typeface="Times New Roman" pitchFamily="34" charset="0"/>
                <a:ea typeface="Times New Roman" pitchFamily="34" charset="-122"/>
                <a:cs typeface="Times New Roman" pitchFamily="34" charset="-120"/>
              </a:rPr>
              <a:t>Running Grad-CAM at each depth separately produces three layer-specific activation maps.</a:t>
            </a:r>
            <a:endParaRPr lang="en-US" sz="1050" dirty="0"/>
          </a:p>
        </p:txBody>
      </p:sp>
      <p:sp>
        <p:nvSpPr>
          <p:cNvPr id="34" name="Text 32"/>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35" name="Text 33"/>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13</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PROPOSED METHODOLOGY</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Confidence-Based Fusion</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06· Methodology</a:t>
            </a:r>
            <a:endParaRPr lang="en-US" sz="1000" dirty="0"/>
          </a:p>
        </p:txBody>
      </p:sp>
      <p:sp>
        <p:nvSpPr>
          <p:cNvPr id="6" name="Text 4"/>
          <p:cNvSpPr/>
          <p:nvPr/>
        </p:nvSpPr>
        <p:spPr>
          <a:xfrm>
            <a:off x="548640" y="1225296"/>
            <a:ext cx="11064240" cy="457200"/>
          </a:xfrm>
          <a:prstGeom prst="rect">
            <a:avLst/>
          </a:prstGeom>
          <a:noFill/>
          <a:ln/>
        </p:spPr>
        <p:txBody>
          <a:bodyPr wrap="square" rtlCol="0" anchor="ctr"/>
          <a:lstStyle/>
          <a:p>
            <a:pPr marL="0" indent="0">
              <a:buNone/>
            </a:pPr>
            <a:r>
              <a:rPr lang="en-US" sz="1250" dirty="0">
                <a:solidFill>
                  <a:srgbClr val="1B2A38"/>
                </a:solidFill>
                <a:latin typeface="Times New Roman" pitchFamily="34" charset="0"/>
                <a:ea typeface="Times New Roman" pitchFamily="34" charset="-122"/>
                <a:cs typeface="Times New Roman" pitchFamily="34" charset="-120"/>
              </a:rPr>
              <a:t>A simple average would ignore that some layers matter more than others for a given image. Instead, each layer earns its weight empirically.</a:t>
            </a:r>
            <a:endParaRPr lang="en-US" sz="1250" dirty="0"/>
          </a:p>
        </p:txBody>
      </p:sp>
      <p:sp>
        <p:nvSpPr>
          <p:cNvPr id="7" name="Shape 5"/>
          <p:cNvSpPr/>
          <p:nvPr/>
        </p:nvSpPr>
        <p:spPr>
          <a:xfrm>
            <a:off x="548640" y="1874520"/>
            <a:ext cx="2651760" cy="1965960"/>
          </a:xfrm>
          <a:prstGeom prst="roundRect">
            <a:avLst>
              <a:gd name="adj" fmla="val 4186"/>
            </a:avLst>
          </a:prstGeom>
          <a:solidFill>
            <a:srgbClr val="F4F8FB"/>
          </a:solidFill>
          <a:ln w="12700">
            <a:solidFill>
              <a:srgbClr val="DCE6EE"/>
            </a:solidFill>
            <a:prstDash val="solid"/>
          </a:ln>
        </p:spPr>
        <p:txBody>
          <a:bodyPr/>
          <a:lstStyle/>
          <a:p>
            <a:endParaRPr lang="en-US"/>
          </a:p>
        </p:txBody>
      </p:sp>
      <p:sp>
        <p:nvSpPr>
          <p:cNvPr id="8" name="Shape 6"/>
          <p:cNvSpPr/>
          <p:nvPr/>
        </p:nvSpPr>
        <p:spPr>
          <a:xfrm>
            <a:off x="1618488" y="2057400"/>
            <a:ext cx="512064" cy="512064"/>
          </a:xfrm>
          <a:prstGeom prst="ellipse">
            <a:avLst/>
          </a:prstGeom>
          <a:solidFill>
            <a:srgbClr val="0F4C81"/>
          </a:solidFill>
          <a:ln/>
        </p:spPr>
        <p:txBody>
          <a:bodyPr/>
          <a:lstStyle/>
          <a:p>
            <a:endParaRPr lang="en-US"/>
          </a:p>
        </p:txBody>
      </p:sp>
      <p:sp>
        <p:nvSpPr>
          <p:cNvPr id="9" name="Text 7"/>
          <p:cNvSpPr/>
          <p:nvPr/>
        </p:nvSpPr>
        <p:spPr>
          <a:xfrm>
            <a:off x="1618488" y="2057400"/>
            <a:ext cx="512064" cy="512064"/>
          </a:xfrm>
          <a:prstGeom prst="rect">
            <a:avLst/>
          </a:prstGeom>
          <a:no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10" name="Text 8"/>
          <p:cNvSpPr/>
          <p:nvPr/>
        </p:nvSpPr>
        <p:spPr>
          <a:xfrm>
            <a:off x="685800" y="2660904"/>
            <a:ext cx="2377440" cy="292608"/>
          </a:xfrm>
          <a:prstGeom prst="rect">
            <a:avLst/>
          </a:prstGeom>
          <a:noFill/>
          <a:ln/>
        </p:spPr>
        <p:txBody>
          <a:bodyPr wrap="square" rtlCol="0" anchor="ctr"/>
          <a:lstStyle/>
          <a:p>
            <a:pPr marL="0" indent="0" algn="ctr">
              <a:buNone/>
            </a:pPr>
            <a:r>
              <a:rPr lang="en-US" sz="1350" b="1" dirty="0">
                <a:solidFill>
                  <a:srgbClr val="0B3A5D"/>
                </a:solidFill>
                <a:latin typeface="Times New Roman" pitchFamily="34" charset="0"/>
                <a:ea typeface="Times New Roman" pitchFamily="34" charset="-122"/>
                <a:cs typeface="Times New Roman" pitchFamily="34" charset="-120"/>
              </a:rPr>
              <a:t>Mask</a:t>
            </a:r>
            <a:endParaRPr lang="en-US" sz="1350" dirty="0"/>
          </a:p>
        </p:txBody>
      </p:sp>
      <p:sp>
        <p:nvSpPr>
          <p:cNvPr id="11" name="Text 9"/>
          <p:cNvSpPr/>
          <p:nvPr/>
        </p:nvSpPr>
        <p:spPr>
          <a:xfrm>
            <a:off x="685800" y="2971800"/>
            <a:ext cx="2377440" cy="822960"/>
          </a:xfrm>
          <a:prstGeom prst="rect">
            <a:avLst/>
          </a:prstGeom>
          <a:noFill/>
          <a:ln/>
        </p:spPr>
        <p:txBody>
          <a:bodyPr wrap="square" rtlCol="0" anchor="ctr"/>
          <a:lstStyle/>
          <a:p>
            <a:pPr marL="0" indent="0" algn="ctr">
              <a:lnSpc>
                <a:spcPct val="115000"/>
              </a:lnSpc>
              <a:buNone/>
            </a:pPr>
            <a:r>
              <a:rPr lang="en-US" sz="1000" dirty="0">
                <a:solidFill>
                  <a:srgbClr val="1B2A38"/>
                </a:solidFill>
                <a:latin typeface="Times New Roman" pitchFamily="34" charset="0"/>
                <a:ea typeface="Times New Roman" pitchFamily="34" charset="-122"/>
                <a:cs typeface="Times New Roman" pitchFamily="34" charset="-120"/>
              </a:rPr>
              <a:t>Each layer's heatmap is turned into a mask that blocks out everything it did NOT highlight.</a:t>
            </a:r>
            <a:endParaRPr lang="en-US" sz="1000" dirty="0"/>
          </a:p>
        </p:txBody>
      </p:sp>
      <p:sp>
        <p:nvSpPr>
          <p:cNvPr id="12" name="Shape 10"/>
          <p:cNvSpPr/>
          <p:nvPr/>
        </p:nvSpPr>
        <p:spPr>
          <a:xfrm>
            <a:off x="3218688" y="2697480"/>
            <a:ext cx="137160" cy="256032"/>
          </a:xfrm>
          <a:prstGeom prst="rightArrow">
            <a:avLst/>
          </a:prstGeom>
          <a:solidFill>
            <a:srgbClr val="2E86AB"/>
          </a:solidFill>
          <a:ln/>
        </p:spPr>
        <p:txBody>
          <a:bodyPr/>
          <a:lstStyle/>
          <a:p>
            <a:endParaRPr lang="en-US"/>
          </a:p>
        </p:txBody>
      </p:sp>
      <p:sp>
        <p:nvSpPr>
          <p:cNvPr id="13" name="Shape 11"/>
          <p:cNvSpPr/>
          <p:nvPr/>
        </p:nvSpPr>
        <p:spPr>
          <a:xfrm>
            <a:off x="3374136" y="1874520"/>
            <a:ext cx="2651760" cy="1965960"/>
          </a:xfrm>
          <a:prstGeom prst="roundRect">
            <a:avLst>
              <a:gd name="adj" fmla="val 4186"/>
            </a:avLst>
          </a:prstGeom>
          <a:solidFill>
            <a:srgbClr val="F4F8FB"/>
          </a:solidFill>
          <a:ln w="12700">
            <a:solidFill>
              <a:srgbClr val="DCE6EE"/>
            </a:solidFill>
            <a:prstDash val="solid"/>
          </a:ln>
        </p:spPr>
        <p:txBody>
          <a:bodyPr/>
          <a:lstStyle/>
          <a:p>
            <a:endParaRPr lang="en-US"/>
          </a:p>
        </p:txBody>
      </p:sp>
      <p:sp>
        <p:nvSpPr>
          <p:cNvPr id="14" name="Shape 12"/>
          <p:cNvSpPr/>
          <p:nvPr/>
        </p:nvSpPr>
        <p:spPr>
          <a:xfrm>
            <a:off x="4443984" y="2057400"/>
            <a:ext cx="512064" cy="512064"/>
          </a:xfrm>
          <a:prstGeom prst="ellipse">
            <a:avLst/>
          </a:prstGeom>
          <a:solidFill>
            <a:srgbClr val="0F4C81"/>
          </a:solidFill>
          <a:ln/>
        </p:spPr>
        <p:txBody>
          <a:bodyPr/>
          <a:lstStyle/>
          <a:p>
            <a:endParaRPr lang="en-US"/>
          </a:p>
        </p:txBody>
      </p:sp>
      <p:sp>
        <p:nvSpPr>
          <p:cNvPr id="15" name="Text 13"/>
          <p:cNvSpPr/>
          <p:nvPr/>
        </p:nvSpPr>
        <p:spPr>
          <a:xfrm>
            <a:off x="4443984" y="2057400"/>
            <a:ext cx="512064" cy="512064"/>
          </a:xfrm>
          <a:prstGeom prst="rect">
            <a:avLst/>
          </a:prstGeom>
          <a:no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6" name="Text 14"/>
          <p:cNvSpPr/>
          <p:nvPr/>
        </p:nvSpPr>
        <p:spPr>
          <a:xfrm>
            <a:off x="3511296" y="2660904"/>
            <a:ext cx="2377440" cy="292608"/>
          </a:xfrm>
          <a:prstGeom prst="rect">
            <a:avLst/>
          </a:prstGeom>
          <a:noFill/>
          <a:ln/>
        </p:spPr>
        <p:txBody>
          <a:bodyPr wrap="square" rtlCol="0" anchor="ctr"/>
          <a:lstStyle/>
          <a:p>
            <a:pPr marL="0" indent="0" algn="ctr">
              <a:buNone/>
            </a:pPr>
            <a:r>
              <a:rPr lang="en-US" sz="1350" b="1" dirty="0">
                <a:solidFill>
                  <a:srgbClr val="0B3A5D"/>
                </a:solidFill>
                <a:latin typeface="Times New Roman" pitchFamily="34" charset="0"/>
                <a:ea typeface="Times New Roman" pitchFamily="34" charset="-122"/>
                <a:cs typeface="Times New Roman" pitchFamily="34" charset="-120"/>
              </a:rPr>
              <a:t>Re-test</a:t>
            </a:r>
            <a:endParaRPr lang="en-US" sz="1350" dirty="0"/>
          </a:p>
        </p:txBody>
      </p:sp>
      <p:sp>
        <p:nvSpPr>
          <p:cNvPr id="17" name="Text 15"/>
          <p:cNvSpPr/>
          <p:nvPr/>
        </p:nvSpPr>
        <p:spPr>
          <a:xfrm>
            <a:off x="3511296" y="2971800"/>
            <a:ext cx="2377440" cy="822960"/>
          </a:xfrm>
          <a:prstGeom prst="rect">
            <a:avLst/>
          </a:prstGeom>
          <a:noFill/>
          <a:ln/>
        </p:spPr>
        <p:txBody>
          <a:bodyPr wrap="square" rtlCol="0" anchor="ctr"/>
          <a:lstStyle/>
          <a:p>
            <a:pPr marL="0" indent="0" algn="ctr">
              <a:lnSpc>
                <a:spcPct val="115000"/>
              </a:lnSpc>
              <a:buNone/>
            </a:pPr>
            <a:r>
              <a:rPr lang="en-US" sz="1000" dirty="0">
                <a:solidFill>
                  <a:srgbClr val="1B2A38"/>
                </a:solidFill>
                <a:latin typeface="Times New Roman" pitchFamily="34" charset="0"/>
                <a:ea typeface="Times New Roman" pitchFamily="34" charset="-122"/>
                <a:cs typeface="Times New Roman" pitchFamily="34" charset="-120"/>
              </a:rPr>
              <a:t>The masked image is passed back through the CNN, and the retained class confidence is recorded.</a:t>
            </a:r>
            <a:endParaRPr lang="en-US" sz="1000" dirty="0"/>
          </a:p>
        </p:txBody>
      </p:sp>
      <p:sp>
        <p:nvSpPr>
          <p:cNvPr id="18" name="Shape 16"/>
          <p:cNvSpPr/>
          <p:nvPr/>
        </p:nvSpPr>
        <p:spPr>
          <a:xfrm>
            <a:off x="6044184" y="2697480"/>
            <a:ext cx="137160" cy="256032"/>
          </a:xfrm>
          <a:prstGeom prst="rightArrow">
            <a:avLst/>
          </a:prstGeom>
          <a:solidFill>
            <a:srgbClr val="2E86AB"/>
          </a:solidFill>
          <a:ln/>
        </p:spPr>
        <p:txBody>
          <a:bodyPr/>
          <a:lstStyle/>
          <a:p>
            <a:endParaRPr lang="en-US"/>
          </a:p>
        </p:txBody>
      </p:sp>
      <p:sp>
        <p:nvSpPr>
          <p:cNvPr id="19" name="Shape 17"/>
          <p:cNvSpPr/>
          <p:nvPr/>
        </p:nvSpPr>
        <p:spPr>
          <a:xfrm>
            <a:off x="6199632" y="1874520"/>
            <a:ext cx="2651760" cy="1965960"/>
          </a:xfrm>
          <a:prstGeom prst="roundRect">
            <a:avLst>
              <a:gd name="adj" fmla="val 4186"/>
            </a:avLst>
          </a:prstGeom>
          <a:solidFill>
            <a:srgbClr val="F4F8FB"/>
          </a:solidFill>
          <a:ln w="12700">
            <a:solidFill>
              <a:srgbClr val="DCE6EE"/>
            </a:solidFill>
            <a:prstDash val="solid"/>
          </a:ln>
        </p:spPr>
        <p:txBody>
          <a:bodyPr/>
          <a:lstStyle/>
          <a:p>
            <a:endParaRPr lang="en-US"/>
          </a:p>
        </p:txBody>
      </p:sp>
      <p:sp>
        <p:nvSpPr>
          <p:cNvPr id="20" name="Shape 18"/>
          <p:cNvSpPr/>
          <p:nvPr/>
        </p:nvSpPr>
        <p:spPr>
          <a:xfrm>
            <a:off x="7269480" y="2057400"/>
            <a:ext cx="512064" cy="512064"/>
          </a:xfrm>
          <a:prstGeom prst="ellipse">
            <a:avLst/>
          </a:prstGeom>
          <a:solidFill>
            <a:srgbClr val="0F4C81"/>
          </a:solidFill>
          <a:ln/>
        </p:spPr>
        <p:txBody>
          <a:bodyPr/>
          <a:lstStyle/>
          <a:p>
            <a:endParaRPr lang="en-US"/>
          </a:p>
        </p:txBody>
      </p:sp>
      <p:sp>
        <p:nvSpPr>
          <p:cNvPr id="21" name="Text 19"/>
          <p:cNvSpPr/>
          <p:nvPr/>
        </p:nvSpPr>
        <p:spPr>
          <a:xfrm>
            <a:off x="7269480" y="2057400"/>
            <a:ext cx="512064" cy="512064"/>
          </a:xfrm>
          <a:prstGeom prst="rect">
            <a:avLst/>
          </a:prstGeom>
          <a:no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22" name="Text 20"/>
          <p:cNvSpPr/>
          <p:nvPr/>
        </p:nvSpPr>
        <p:spPr>
          <a:xfrm>
            <a:off x="6336792" y="2660904"/>
            <a:ext cx="2377440" cy="292608"/>
          </a:xfrm>
          <a:prstGeom prst="rect">
            <a:avLst/>
          </a:prstGeom>
          <a:noFill/>
          <a:ln/>
        </p:spPr>
        <p:txBody>
          <a:bodyPr wrap="square" rtlCol="0" anchor="ctr"/>
          <a:lstStyle/>
          <a:p>
            <a:pPr marL="0" indent="0" algn="ctr">
              <a:buNone/>
            </a:pPr>
            <a:r>
              <a:rPr lang="en-US" sz="1350" b="1" dirty="0">
                <a:solidFill>
                  <a:srgbClr val="0B3A5D"/>
                </a:solidFill>
                <a:latin typeface="Times New Roman" pitchFamily="34" charset="0"/>
                <a:ea typeface="Times New Roman" pitchFamily="34" charset="-122"/>
                <a:cs typeface="Times New Roman" pitchFamily="34" charset="-120"/>
              </a:rPr>
              <a:t>Weight</a:t>
            </a:r>
            <a:endParaRPr lang="en-US" sz="1350" dirty="0"/>
          </a:p>
        </p:txBody>
      </p:sp>
      <p:sp>
        <p:nvSpPr>
          <p:cNvPr id="23" name="Text 21"/>
          <p:cNvSpPr/>
          <p:nvPr/>
        </p:nvSpPr>
        <p:spPr>
          <a:xfrm>
            <a:off x="6336792" y="2971800"/>
            <a:ext cx="2377440" cy="822960"/>
          </a:xfrm>
          <a:prstGeom prst="rect">
            <a:avLst/>
          </a:prstGeom>
          <a:noFill/>
          <a:ln/>
        </p:spPr>
        <p:txBody>
          <a:bodyPr wrap="square" rtlCol="0" anchor="ctr"/>
          <a:lstStyle/>
          <a:p>
            <a:pPr marL="0" indent="0" algn="ctr">
              <a:lnSpc>
                <a:spcPct val="115000"/>
              </a:lnSpc>
              <a:buNone/>
            </a:pPr>
            <a:r>
              <a:rPr lang="en-US" sz="1000" dirty="0">
                <a:solidFill>
                  <a:srgbClr val="1B2A38"/>
                </a:solidFill>
                <a:latin typeface="Times New Roman" pitchFamily="34" charset="0"/>
                <a:ea typeface="Times New Roman" pitchFamily="34" charset="-122"/>
                <a:cs typeface="Times New Roman" pitchFamily="34" charset="-120"/>
              </a:rPr>
              <a:t>Layers that preserve high confidence after masking are judged more informative  and weighted higher.</a:t>
            </a:r>
            <a:endParaRPr lang="en-US" sz="1000" dirty="0"/>
          </a:p>
        </p:txBody>
      </p:sp>
      <p:sp>
        <p:nvSpPr>
          <p:cNvPr id="24" name="Shape 22"/>
          <p:cNvSpPr/>
          <p:nvPr/>
        </p:nvSpPr>
        <p:spPr>
          <a:xfrm>
            <a:off x="8869680" y="2697480"/>
            <a:ext cx="137160" cy="256032"/>
          </a:xfrm>
          <a:prstGeom prst="rightArrow">
            <a:avLst/>
          </a:prstGeom>
          <a:solidFill>
            <a:srgbClr val="2E86AB"/>
          </a:solidFill>
          <a:ln/>
        </p:spPr>
        <p:txBody>
          <a:bodyPr/>
          <a:lstStyle/>
          <a:p>
            <a:endParaRPr lang="en-US"/>
          </a:p>
        </p:txBody>
      </p:sp>
      <p:sp>
        <p:nvSpPr>
          <p:cNvPr id="25" name="Shape 23"/>
          <p:cNvSpPr/>
          <p:nvPr/>
        </p:nvSpPr>
        <p:spPr>
          <a:xfrm>
            <a:off x="9025128" y="1874520"/>
            <a:ext cx="2651760" cy="1965960"/>
          </a:xfrm>
          <a:prstGeom prst="roundRect">
            <a:avLst>
              <a:gd name="adj" fmla="val 4186"/>
            </a:avLst>
          </a:prstGeom>
          <a:solidFill>
            <a:srgbClr val="F4F8FB"/>
          </a:solidFill>
          <a:ln w="12700">
            <a:solidFill>
              <a:srgbClr val="DCE6EE"/>
            </a:solidFill>
            <a:prstDash val="solid"/>
          </a:ln>
        </p:spPr>
        <p:txBody>
          <a:bodyPr/>
          <a:lstStyle/>
          <a:p>
            <a:endParaRPr lang="en-US"/>
          </a:p>
        </p:txBody>
      </p:sp>
      <p:sp>
        <p:nvSpPr>
          <p:cNvPr id="26" name="Shape 24"/>
          <p:cNvSpPr/>
          <p:nvPr/>
        </p:nvSpPr>
        <p:spPr>
          <a:xfrm>
            <a:off x="10094976" y="2057400"/>
            <a:ext cx="512064" cy="512064"/>
          </a:xfrm>
          <a:prstGeom prst="ellipse">
            <a:avLst/>
          </a:prstGeom>
          <a:solidFill>
            <a:srgbClr val="0F4C81"/>
          </a:solidFill>
          <a:ln/>
        </p:spPr>
        <p:txBody>
          <a:bodyPr/>
          <a:lstStyle/>
          <a:p>
            <a:endParaRPr lang="en-US"/>
          </a:p>
        </p:txBody>
      </p:sp>
      <p:sp>
        <p:nvSpPr>
          <p:cNvPr id="27" name="Text 25"/>
          <p:cNvSpPr/>
          <p:nvPr/>
        </p:nvSpPr>
        <p:spPr>
          <a:xfrm>
            <a:off x="10094976" y="2057400"/>
            <a:ext cx="512064" cy="512064"/>
          </a:xfrm>
          <a:prstGeom prst="rect">
            <a:avLst/>
          </a:prstGeom>
          <a:noFill/>
          <a:ln/>
        </p:spPr>
        <p:txBody>
          <a:bodyPr wrap="square"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28" name="Text 26"/>
          <p:cNvSpPr/>
          <p:nvPr/>
        </p:nvSpPr>
        <p:spPr>
          <a:xfrm>
            <a:off x="9162288" y="2660904"/>
            <a:ext cx="2377440" cy="292608"/>
          </a:xfrm>
          <a:prstGeom prst="rect">
            <a:avLst/>
          </a:prstGeom>
          <a:noFill/>
          <a:ln/>
        </p:spPr>
        <p:txBody>
          <a:bodyPr wrap="square" rtlCol="0" anchor="ctr"/>
          <a:lstStyle/>
          <a:p>
            <a:pPr marL="0" indent="0" algn="ctr">
              <a:buNone/>
            </a:pPr>
            <a:r>
              <a:rPr lang="en-US" sz="1350" b="1" dirty="0">
                <a:solidFill>
                  <a:srgbClr val="0B3A5D"/>
                </a:solidFill>
                <a:latin typeface="Times New Roman" pitchFamily="34" charset="0"/>
                <a:ea typeface="Times New Roman" pitchFamily="34" charset="-122"/>
                <a:cs typeface="Times New Roman" pitchFamily="34" charset="-120"/>
              </a:rPr>
              <a:t>Fuse</a:t>
            </a:r>
            <a:endParaRPr lang="en-US" sz="1350" dirty="0"/>
          </a:p>
        </p:txBody>
      </p:sp>
      <p:sp>
        <p:nvSpPr>
          <p:cNvPr id="29" name="Text 27"/>
          <p:cNvSpPr/>
          <p:nvPr/>
        </p:nvSpPr>
        <p:spPr>
          <a:xfrm>
            <a:off x="9162288" y="2971800"/>
            <a:ext cx="2377440" cy="822960"/>
          </a:xfrm>
          <a:prstGeom prst="rect">
            <a:avLst/>
          </a:prstGeom>
          <a:noFill/>
          <a:ln/>
        </p:spPr>
        <p:txBody>
          <a:bodyPr wrap="square" rtlCol="0" anchor="ctr"/>
          <a:lstStyle/>
          <a:p>
            <a:pPr marL="0" indent="0" algn="ctr">
              <a:lnSpc>
                <a:spcPct val="115000"/>
              </a:lnSpc>
              <a:buNone/>
            </a:pPr>
            <a:r>
              <a:rPr lang="en-US" sz="1000" dirty="0">
                <a:solidFill>
                  <a:srgbClr val="1B2A38"/>
                </a:solidFill>
                <a:latin typeface="Times New Roman" pitchFamily="34" charset="0"/>
                <a:ea typeface="Times New Roman" pitchFamily="34" charset="-122"/>
                <a:cs typeface="Times New Roman" pitchFamily="34" charset="-120"/>
              </a:rPr>
              <a:t>The three-layer maps are combined using these confidence-based weights into one fused heatmap.</a:t>
            </a:r>
            <a:endParaRPr lang="en-US" sz="1000" dirty="0"/>
          </a:p>
        </p:txBody>
      </p:sp>
      <p:sp>
        <p:nvSpPr>
          <p:cNvPr id="30" name="Shape 28"/>
          <p:cNvSpPr/>
          <p:nvPr/>
        </p:nvSpPr>
        <p:spPr>
          <a:xfrm>
            <a:off x="548640" y="4160520"/>
            <a:ext cx="11064240" cy="1051560"/>
          </a:xfrm>
          <a:prstGeom prst="roundRect">
            <a:avLst>
              <a:gd name="adj" fmla="val 7826"/>
            </a:avLst>
          </a:prstGeom>
          <a:solidFill>
            <a:srgbClr val="0B3A5D"/>
          </a:solidFill>
          <a:ln/>
        </p:spPr>
        <p:txBody>
          <a:bodyPr/>
          <a:lstStyle/>
          <a:p>
            <a:endParaRPr lang="en-US" dirty="0"/>
          </a:p>
        </p:txBody>
      </p:sp>
      <p:sp>
        <p:nvSpPr>
          <p:cNvPr id="31" name="Text 29"/>
          <p:cNvSpPr/>
          <p:nvPr/>
        </p:nvSpPr>
        <p:spPr>
          <a:xfrm>
            <a:off x="822960" y="4160520"/>
            <a:ext cx="10515600" cy="548640"/>
          </a:xfrm>
          <a:prstGeom prst="rect">
            <a:avLst/>
          </a:prstGeom>
          <a:noFill/>
          <a:ln/>
        </p:spPr>
        <p:txBody>
          <a:bodyPr wrap="square" rtlCol="0" anchor="ctr"/>
          <a:lstStyle/>
          <a:p>
            <a:pPr marL="0" indent="0" algn="l">
              <a:buNone/>
            </a:pPr>
            <a:r>
              <a:rPr lang="en-US" sz="1300" b="1" dirty="0">
                <a:solidFill>
                  <a:srgbClr val="9FC3E0"/>
                </a:solidFill>
                <a:latin typeface="Times New Roman" pitchFamily="34" charset="0"/>
                <a:ea typeface="Times New Roman" pitchFamily="34" charset="-122"/>
                <a:cs typeface="Times New Roman" pitchFamily="34" charset="-120"/>
              </a:rPr>
              <a:t>		Fused heatmap:</a:t>
            </a:r>
            <a:endParaRPr lang="en-US" sz="1300" dirty="0"/>
          </a:p>
        </p:txBody>
      </p:sp>
      <p:sp>
        <p:nvSpPr>
          <p:cNvPr id="32" name="Text 30"/>
          <p:cNvSpPr/>
          <p:nvPr/>
        </p:nvSpPr>
        <p:spPr>
          <a:xfrm>
            <a:off x="822960" y="4709160"/>
            <a:ext cx="10515600" cy="365760"/>
          </a:xfrm>
          <a:prstGeom prst="rect">
            <a:avLst/>
          </a:prstGeom>
          <a:noFill/>
          <a:ln/>
        </p:spPr>
        <p:txBody>
          <a:bodyPr wrap="square" rtlCol="0" anchor="ctr"/>
          <a:lstStyle/>
          <a:p>
            <a:pPr marL="0" indent="0">
              <a:buNone/>
            </a:pPr>
            <a:r>
              <a:rPr lang="en-IN" sz="1100" i="1" dirty="0">
                <a:solidFill>
                  <a:srgbClr val="CFE0EE"/>
                </a:solidFill>
                <a:latin typeface="Times New Roman" pitchFamily="34" charset="0"/>
                <a:cs typeface="Times New Roman" pitchFamily="34" charset="-120"/>
              </a:rPr>
              <a:t>Wx</a:t>
            </a:r>
            <a:r>
              <a:rPr lang="en-US" sz="1100" i="1" dirty="0">
                <a:solidFill>
                  <a:srgbClr val="CFE0EE"/>
                </a:solidFill>
                <a:latin typeface="Times New Roman" pitchFamily="34" charset="0"/>
                <a:cs typeface="Times New Roman" pitchFamily="34" charset="-120"/>
              </a:rPr>
              <a:t> is the retention score of the Layer x and Lx is the Layer X</a:t>
            </a:r>
            <a:endParaRPr lang="en-US" sz="1100" dirty="0"/>
          </a:p>
        </p:txBody>
      </p:sp>
      <p:sp>
        <p:nvSpPr>
          <p:cNvPr id="33" name="Text 31"/>
          <p:cNvSpPr/>
          <p:nvPr/>
        </p:nvSpPr>
        <p:spPr>
          <a:xfrm>
            <a:off x="548640" y="5440680"/>
            <a:ext cx="11064240" cy="457200"/>
          </a:xfrm>
          <a:prstGeom prst="rect">
            <a:avLst/>
          </a:prstGeom>
          <a:noFill/>
          <a:ln/>
        </p:spPr>
        <p:txBody>
          <a:bodyPr wrap="square" rtlCol="0" anchor="ctr"/>
          <a:lstStyle/>
          <a:p>
            <a:pPr marL="0" indent="0" algn="ctr">
              <a:buNone/>
            </a:pPr>
            <a:r>
              <a:rPr lang="en-US" sz="1550" b="1" i="1" dirty="0">
                <a:solidFill>
                  <a:srgbClr val="0F4C81"/>
                </a:solidFill>
                <a:latin typeface="Montserrat" pitchFamily="34" charset="0"/>
                <a:ea typeface="Montserrat" pitchFamily="34" charset="-122"/>
                <a:cs typeface="Montserrat" pitchFamily="34" charset="-120"/>
              </a:rPr>
              <a:t>Result: an explanation grounded in what the model actually uses — not a uniform, arbitrary blend.</a:t>
            </a:r>
            <a:endParaRPr lang="en-US" sz="1550" dirty="0"/>
          </a:p>
        </p:txBody>
      </p:sp>
      <p:sp>
        <p:nvSpPr>
          <p:cNvPr id="34" name="Text 32"/>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35" name="Text 33"/>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14</a:t>
            </a:r>
            <a:endParaRPr lang="en-US" sz="950" dirty="0"/>
          </a:p>
        </p:txBody>
      </p:sp>
      <p:pic>
        <p:nvPicPr>
          <p:cNvPr id="39" name="Picture 38">
            <a:extLst>
              <a:ext uri="{FF2B5EF4-FFF2-40B4-BE49-F238E27FC236}">
                <a16:creationId xmlns:a16="http://schemas.microsoft.com/office/drawing/2014/main" id="{0B8FC56F-8E6D-9877-1323-A0CA3A23C53B}"/>
              </a:ext>
            </a:extLst>
          </p:cNvPr>
          <p:cNvPicPr>
            <a:picLocks noChangeAspect="1"/>
          </p:cNvPicPr>
          <p:nvPr/>
        </p:nvPicPr>
        <p:blipFill>
          <a:blip r:embed="rId3"/>
          <a:stretch>
            <a:fillRect/>
          </a:stretch>
        </p:blipFill>
        <p:spPr>
          <a:xfrm>
            <a:off x="4191911" y="4279545"/>
            <a:ext cx="2940162" cy="32887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RESULTS &amp; EVALUATION</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Testing for Robustness</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07 · Results</a:t>
            </a:r>
            <a:endParaRPr lang="en-US" sz="1000" dirty="0"/>
          </a:p>
        </p:txBody>
      </p:sp>
      <p:sp>
        <p:nvSpPr>
          <p:cNvPr id="6" name="Shape 4"/>
          <p:cNvSpPr/>
          <p:nvPr/>
        </p:nvSpPr>
        <p:spPr>
          <a:xfrm>
            <a:off x="548640" y="1371600"/>
            <a:ext cx="5029200" cy="2331720"/>
          </a:xfrm>
          <a:prstGeom prst="roundRect">
            <a:avLst>
              <a:gd name="adj" fmla="val 3529"/>
            </a:avLst>
          </a:prstGeom>
          <a:solidFill>
            <a:srgbClr val="F4F8FB"/>
          </a:solidFill>
          <a:ln w="12700">
            <a:solidFill>
              <a:srgbClr val="DCE6EE"/>
            </a:solidFill>
            <a:prstDash val="solid"/>
          </a:ln>
        </p:spPr>
        <p:txBody>
          <a:bodyPr/>
          <a:lstStyle/>
          <a:p>
            <a:endParaRPr lang="en-US"/>
          </a:p>
        </p:txBody>
      </p:sp>
      <p:sp>
        <p:nvSpPr>
          <p:cNvPr id="7" name="Text 5"/>
          <p:cNvSpPr/>
          <p:nvPr/>
        </p:nvSpPr>
        <p:spPr>
          <a:xfrm>
            <a:off x="777240" y="1508760"/>
            <a:ext cx="4572000" cy="320040"/>
          </a:xfrm>
          <a:prstGeom prst="rect">
            <a:avLst/>
          </a:prstGeom>
          <a:noFill/>
          <a:ln/>
        </p:spPr>
        <p:txBody>
          <a:bodyPr wrap="square" rtlCol="0" anchor="ctr"/>
          <a:lstStyle/>
          <a:p>
            <a:pPr marL="0" indent="0">
              <a:buNone/>
            </a:pPr>
            <a:r>
              <a:rPr lang="en-US" sz="1450" b="1" dirty="0">
                <a:solidFill>
                  <a:srgbClr val="0B3A5D"/>
                </a:solidFill>
                <a:latin typeface="Times New Roman" pitchFamily="34" charset="0"/>
                <a:ea typeface="Times New Roman" pitchFamily="34" charset="-122"/>
                <a:cs typeface="Times New Roman" pitchFamily="34" charset="-120"/>
              </a:rPr>
              <a:t>Why evaluate?</a:t>
            </a:r>
            <a:endParaRPr lang="en-US" sz="1450" dirty="0"/>
          </a:p>
        </p:txBody>
      </p:sp>
      <p:sp>
        <p:nvSpPr>
          <p:cNvPr id="8" name="Text 6"/>
          <p:cNvSpPr/>
          <p:nvPr/>
        </p:nvSpPr>
        <p:spPr>
          <a:xfrm>
            <a:off x="777240" y="1828800"/>
            <a:ext cx="4572000" cy="868680"/>
          </a:xfrm>
          <a:prstGeom prst="rect">
            <a:avLst/>
          </a:prstGeom>
          <a:noFill/>
          <a:ln/>
        </p:spPr>
        <p:txBody>
          <a:bodyPr wrap="square" rtlCol="0" anchor="ctr"/>
          <a:lstStyle/>
          <a:p>
            <a:pPr marL="0" indent="0">
              <a:lnSpc>
                <a:spcPct val="120000"/>
              </a:lnSpc>
              <a:buNone/>
            </a:pPr>
            <a:r>
              <a:rPr lang="en-US" sz="1150" dirty="0">
                <a:solidFill>
                  <a:srgbClr val="1B2A38"/>
                </a:solidFill>
                <a:latin typeface="Times New Roman" pitchFamily="34" charset="0"/>
                <a:ea typeface="Times New Roman" pitchFamily="34" charset="-122"/>
                <a:cs typeface="Times New Roman" pitchFamily="34" charset="-120"/>
              </a:rPr>
              <a:t>A more localized-looking heatmap doesn’t mean it is necessarily stable. The fused method needed to be tested against realistic conditions, not just visual inspection.</a:t>
            </a:r>
            <a:endParaRPr lang="en-US" sz="1150" dirty="0"/>
          </a:p>
        </p:txBody>
      </p:sp>
      <p:sp>
        <p:nvSpPr>
          <p:cNvPr id="9" name="Shape 7"/>
          <p:cNvSpPr/>
          <p:nvPr/>
        </p:nvSpPr>
        <p:spPr>
          <a:xfrm>
            <a:off x="777240" y="2761488"/>
            <a:ext cx="4572000" cy="0"/>
          </a:xfrm>
          <a:prstGeom prst="line">
            <a:avLst/>
          </a:prstGeom>
          <a:noFill/>
          <a:ln w="12700">
            <a:solidFill>
              <a:srgbClr val="DCE6EE"/>
            </a:solidFill>
            <a:prstDash val="solid"/>
          </a:ln>
        </p:spPr>
        <p:txBody>
          <a:bodyPr/>
          <a:lstStyle/>
          <a:p>
            <a:endParaRPr lang="en-US"/>
          </a:p>
        </p:txBody>
      </p:sp>
      <p:sp>
        <p:nvSpPr>
          <p:cNvPr id="10" name="Text 8"/>
          <p:cNvSpPr/>
          <p:nvPr/>
        </p:nvSpPr>
        <p:spPr>
          <a:xfrm>
            <a:off x="777240" y="2834640"/>
            <a:ext cx="4572000" cy="292608"/>
          </a:xfrm>
          <a:prstGeom prst="rect">
            <a:avLst/>
          </a:prstGeom>
          <a:noFill/>
          <a:ln/>
        </p:spPr>
        <p:txBody>
          <a:bodyPr wrap="square" rtlCol="0" anchor="ctr"/>
          <a:lstStyle/>
          <a:p>
            <a:pPr marL="0" indent="0">
              <a:buNone/>
            </a:pPr>
            <a:r>
              <a:rPr lang="en-US" sz="1300" b="1" dirty="0">
                <a:solidFill>
                  <a:srgbClr val="0B3A5D"/>
                </a:solidFill>
                <a:latin typeface="Times New Roman" pitchFamily="34" charset="0"/>
                <a:ea typeface="Times New Roman" pitchFamily="34" charset="-122"/>
                <a:cs typeface="Times New Roman" pitchFamily="34" charset="-120"/>
              </a:rPr>
              <a:t>SSIM (Structural Similarity Index)</a:t>
            </a:r>
            <a:endParaRPr lang="en-US" sz="1300" dirty="0"/>
          </a:p>
        </p:txBody>
      </p:sp>
      <p:sp>
        <p:nvSpPr>
          <p:cNvPr id="11" name="Text 9"/>
          <p:cNvSpPr/>
          <p:nvPr/>
        </p:nvSpPr>
        <p:spPr>
          <a:xfrm>
            <a:off x="777240" y="3127248"/>
            <a:ext cx="4572000" cy="548640"/>
          </a:xfrm>
          <a:prstGeom prst="rect">
            <a:avLst/>
          </a:prstGeom>
          <a:noFill/>
          <a:ln/>
        </p:spPr>
        <p:txBody>
          <a:bodyPr wrap="square" rtlCol="0" anchor="ctr"/>
          <a:lstStyle/>
          <a:p>
            <a:pPr marL="0" indent="0">
              <a:lnSpc>
                <a:spcPct val="120000"/>
              </a:lnSpc>
              <a:buNone/>
            </a:pPr>
            <a:r>
              <a:rPr lang="en-US" sz="1150" dirty="0">
                <a:solidFill>
                  <a:srgbClr val="1B2A38"/>
                </a:solidFill>
                <a:latin typeface="Times New Roman" pitchFamily="34" charset="0"/>
                <a:ea typeface="Times New Roman" pitchFamily="34" charset="-122"/>
                <a:cs typeface="Times New Roman" pitchFamily="34" charset="-120"/>
              </a:rPr>
              <a:t>Measures how similar two images are. A score near 1.0 means the heatmap barely changed  i.e., the explanation is stable.</a:t>
            </a:r>
            <a:endParaRPr lang="en-US" sz="1150" dirty="0"/>
          </a:p>
        </p:txBody>
      </p:sp>
      <p:sp>
        <p:nvSpPr>
          <p:cNvPr id="12" name="Shape 10"/>
          <p:cNvSpPr/>
          <p:nvPr/>
        </p:nvSpPr>
        <p:spPr>
          <a:xfrm>
            <a:off x="548640" y="3840480"/>
            <a:ext cx="5029200" cy="1920240"/>
          </a:xfrm>
          <a:prstGeom prst="roundRect">
            <a:avLst>
              <a:gd name="adj" fmla="val 4286"/>
            </a:avLst>
          </a:prstGeom>
          <a:solidFill>
            <a:srgbClr val="0B3A5D"/>
          </a:solidFill>
          <a:ln/>
        </p:spPr>
        <p:txBody>
          <a:bodyPr/>
          <a:lstStyle/>
          <a:p>
            <a:endParaRPr lang="en-US"/>
          </a:p>
        </p:txBody>
      </p:sp>
      <p:sp>
        <p:nvSpPr>
          <p:cNvPr id="13" name="Text 11"/>
          <p:cNvSpPr/>
          <p:nvPr/>
        </p:nvSpPr>
        <p:spPr>
          <a:xfrm>
            <a:off x="777240" y="3977640"/>
            <a:ext cx="4572000" cy="292608"/>
          </a:xfrm>
          <a:prstGeom prst="rect">
            <a:avLst/>
          </a:prstGeom>
          <a:noFill/>
          <a:ln/>
        </p:spPr>
        <p:txBody>
          <a:bodyPr wrap="square"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Method: Gaussian Noise Test</a:t>
            </a:r>
            <a:endParaRPr lang="en-US" sz="1300" dirty="0"/>
          </a:p>
        </p:txBody>
      </p:sp>
      <p:sp>
        <p:nvSpPr>
          <p:cNvPr id="14" name="Text 12"/>
          <p:cNvSpPr/>
          <p:nvPr/>
        </p:nvSpPr>
        <p:spPr>
          <a:xfrm>
            <a:off x="777240" y="4279392"/>
            <a:ext cx="4572000" cy="1371600"/>
          </a:xfrm>
          <a:prstGeom prst="rect">
            <a:avLst/>
          </a:prstGeom>
          <a:noFill/>
          <a:ln/>
        </p:spPr>
        <p:txBody>
          <a:bodyPr wrap="square" rtlCol="0" anchor="ctr"/>
          <a:lstStyle/>
          <a:p>
            <a:pPr marL="0" indent="0">
              <a:lnSpc>
                <a:spcPct val="125000"/>
              </a:lnSpc>
              <a:buNone/>
            </a:pPr>
            <a:r>
              <a:rPr lang="en-US" sz="1130" dirty="0">
                <a:solidFill>
                  <a:srgbClr val="D8E8F5"/>
                </a:solidFill>
                <a:latin typeface="Times New Roman" pitchFamily="34" charset="0"/>
                <a:ea typeface="Times New Roman" pitchFamily="34" charset="-122"/>
                <a:cs typeface="Times New Roman" pitchFamily="34" charset="-120"/>
              </a:rPr>
              <a:t>Controlled noise was added to both Standard and Fused heatmaps at three levels — σ = 0.007, 0.008, 0.009 — then compared to the clean version using SSIM, across all four disease classes.</a:t>
            </a:r>
            <a:endParaRPr lang="en-US" sz="1130" dirty="0"/>
          </a:p>
        </p:txBody>
      </p:sp>
      <p:sp>
        <p:nvSpPr>
          <p:cNvPr id="15" name="Text 13"/>
          <p:cNvSpPr/>
          <p:nvPr/>
        </p:nvSpPr>
        <p:spPr>
          <a:xfrm>
            <a:off x="5897880" y="1371600"/>
            <a:ext cx="5760720" cy="274320"/>
          </a:xfrm>
          <a:prstGeom prst="rect">
            <a:avLst/>
          </a:prstGeom>
          <a:noFill/>
          <a:ln/>
        </p:spPr>
        <p:txBody>
          <a:bodyPr wrap="square" rtlCol="0" anchor="ctr"/>
          <a:lstStyle/>
          <a:p>
            <a:pPr marL="0" indent="0" algn="ctr">
              <a:buNone/>
            </a:pPr>
            <a:r>
              <a:rPr lang="en-US" sz="1250" b="1" dirty="0">
                <a:solidFill>
                  <a:srgbClr val="5C7080"/>
                </a:solidFill>
                <a:latin typeface="Times New Roman" pitchFamily="34" charset="0"/>
                <a:ea typeface="Times New Roman" pitchFamily="34" charset="-122"/>
                <a:cs typeface="Times New Roman" pitchFamily="34" charset="-120"/>
              </a:rPr>
              <a:t>Standard Grad-CAM</a:t>
            </a:r>
            <a:endParaRPr lang="en-US" sz="1250" dirty="0"/>
          </a:p>
        </p:txBody>
      </p:sp>
      <p:pic>
        <p:nvPicPr>
          <p:cNvPr id="16" name="Image 0" descr="/home/claude/build/assets/cnv_panel.png"/>
          <p:cNvPicPr>
            <a:picLocks noChangeAspect="1"/>
          </p:cNvPicPr>
          <p:nvPr/>
        </p:nvPicPr>
        <p:blipFill>
          <a:blip r:embed="rId3"/>
          <a:stretch>
            <a:fillRect/>
          </a:stretch>
        </p:blipFill>
        <p:spPr>
          <a:xfrm>
            <a:off x="5897880" y="1664208"/>
            <a:ext cx="1371600" cy="1051560"/>
          </a:xfrm>
          <a:prstGeom prst="rect">
            <a:avLst/>
          </a:prstGeom>
        </p:spPr>
      </p:pic>
      <p:pic>
        <p:nvPicPr>
          <p:cNvPr id="17" name="Image 1" descr="/home/claude/build/assets/dme_panel.png"/>
          <p:cNvPicPr>
            <a:picLocks noChangeAspect="1"/>
          </p:cNvPicPr>
          <p:nvPr/>
        </p:nvPicPr>
        <p:blipFill>
          <a:blip r:embed="rId4"/>
          <a:stretch>
            <a:fillRect/>
          </a:stretch>
        </p:blipFill>
        <p:spPr>
          <a:xfrm>
            <a:off x="7315200" y="1664208"/>
            <a:ext cx="1371600" cy="1051560"/>
          </a:xfrm>
          <a:prstGeom prst="rect">
            <a:avLst/>
          </a:prstGeom>
        </p:spPr>
      </p:pic>
      <p:pic>
        <p:nvPicPr>
          <p:cNvPr id="18" name="Image 2" descr="/home/claude/build/assets/drusen_panel.png"/>
          <p:cNvPicPr>
            <a:picLocks noChangeAspect="1"/>
          </p:cNvPicPr>
          <p:nvPr/>
        </p:nvPicPr>
        <p:blipFill>
          <a:blip r:embed="rId5"/>
          <a:stretch>
            <a:fillRect/>
          </a:stretch>
        </p:blipFill>
        <p:spPr>
          <a:xfrm>
            <a:off x="8732520" y="1664208"/>
            <a:ext cx="1371600" cy="1051560"/>
          </a:xfrm>
          <a:prstGeom prst="rect">
            <a:avLst/>
          </a:prstGeom>
        </p:spPr>
      </p:pic>
      <p:pic>
        <p:nvPicPr>
          <p:cNvPr id="19" name="Image 3" descr="/home/claude/build/assets/normal_panel.png"/>
          <p:cNvPicPr>
            <a:picLocks noChangeAspect="1"/>
          </p:cNvPicPr>
          <p:nvPr/>
        </p:nvPicPr>
        <p:blipFill>
          <a:blip r:embed="rId6"/>
          <a:stretch>
            <a:fillRect/>
          </a:stretch>
        </p:blipFill>
        <p:spPr>
          <a:xfrm>
            <a:off x="10149840" y="1664208"/>
            <a:ext cx="1371600" cy="1051560"/>
          </a:xfrm>
          <a:prstGeom prst="rect">
            <a:avLst/>
          </a:prstGeom>
        </p:spPr>
      </p:pic>
      <p:sp>
        <p:nvSpPr>
          <p:cNvPr id="20" name="Text 14"/>
          <p:cNvSpPr/>
          <p:nvPr/>
        </p:nvSpPr>
        <p:spPr>
          <a:xfrm>
            <a:off x="5897880" y="2770632"/>
            <a:ext cx="5760720" cy="292608"/>
          </a:xfrm>
          <a:prstGeom prst="rect">
            <a:avLst/>
          </a:prstGeom>
          <a:noFill/>
          <a:ln/>
        </p:spPr>
        <p:txBody>
          <a:bodyPr wrap="square" rtlCol="0" anchor="ctr"/>
          <a:lstStyle/>
          <a:p>
            <a:pPr marL="0" indent="0" algn="ctr">
              <a:buNone/>
            </a:pPr>
            <a:r>
              <a:rPr lang="en-US" sz="1000" i="1" dirty="0">
                <a:solidFill>
                  <a:srgbClr val="5C7080"/>
                </a:solidFill>
                <a:latin typeface="Times New Roman" pitchFamily="34" charset="0"/>
                <a:ea typeface="Times New Roman" pitchFamily="34" charset="-122"/>
                <a:cs typeface="Times New Roman" pitchFamily="34" charset="-120"/>
              </a:rPr>
              <a:t>Broad, diffuse activation — spreads beyond the true lesion</a:t>
            </a:r>
            <a:endParaRPr lang="en-US" sz="1000" dirty="0"/>
          </a:p>
        </p:txBody>
      </p:sp>
      <p:sp>
        <p:nvSpPr>
          <p:cNvPr id="21" name="Text 15"/>
          <p:cNvSpPr/>
          <p:nvPr/>
        </p:nvSpPr>
        <p:spPr>
          <a:xfrm>
            <a:off x="5897880" y="3246120"/>
            <a:ext cx="5760720" cy="274320"/>
          </a:xfrm>
          <a:prstGeom prst="rect">
            <a:avLst/>
          </a:prstGeom>
          <a:noFill/>
          <a:ln/>
        </p:spPr>
        <p:txBody>
          <a:bodyPr wrap="square" rtlCol="0" anchor="ctr"/>
          <a:lstStyle/>
          <a:p>
            <a:pPr marL="0" indent="0" algn="ctr">
              <a:buNone/>
            </a:pPr>
            <a:r>
              <a:rPr lang="en-US" sz="1250" b="1" dirty="0">
                <a:solidFill>
                  <a:srgbClr val="0F4C81"/>
                </a:solidFill>
                <a:latin typeface="Times New Roman" pitchFamily="34" charset="0"/>
                <a:ea typeface="Times New Roman" pitchFamily="34" charset="-122"/>
                <a:cs typeface="Times New Roman" pitchFamily="34" charset="-120"/>
              </a:rPr>
              <a:t>Multi-Layer Fused Grad-CAM (Proposed)</a:t>
            </a:r>
            <a:endParaRPr lang="en-US" sz="1250" dirty="0"/>
          </a:p>
        </p:txBody>
      </p:sp>
      <p:pic>
        <p:nvPicPr>
          <p:cNvPr id="22" name="Image 4" descr="/home/claude/build/assets/fused_cnv.png"/>
          <p:cNvPicPr>
            <a:picLocks noChangeAspect="1"/>
          </p:cNvPicPr>
          <p:nvPr/>
        </p:nvPicPr>
        <p:blipFill>
          <a:blip r:embed="rId7"/>
          <a:stretch>
            <a:fillRect/>
          </a:stretch>
        </p:blipFill>
        <p:spPr>
          <a:xfrm>
            <a:off x="5897880" y="3538728"/>
            <a:ext cx="1371600" cy="1051560"/>
          </a:xfrm>
          <a:prstGeom prst="rect">
            <a:avLst/>
          </a:prstGeom>
        </p:spPr>
      </p:pic>
      <p:pic>
        <p:nvPicPr>
          <p:cNvPr id="23" name="Image 5" descr="/home/claude/build/assets/fused_dme.png"/>
          <p:cNvPicPr>
            <a:picLocks noChangeAspect="1"/>
          </p:cNvPicPr>
          <p:nvPr/>
        </p:nvPicPr>
        <p:blipFill>
          <a:blip r:embed="rId8"/>
          <a:stretch>
            <a:fillRect/>
          </a:stretch>
        </p:blipFill>
        <p:spPr>
          <a:xfrm>
            <a:off x="7315200" y="3538728"/>
            <a:ext cx="1371600" cy="1051560"/>
          </a:xfrm>
          <a:prstGeom prst="rect">
            <a:avLst/>
          </a:prstGeom>
        </p:spPr>
      </p:pic>
      <p:pic>
        <p:nvPicPr>
          <p:cNvPr id="24" name="Image 6" descr="/home/claude/build/assets/fused_drusen.png"/>
          <p:cNvPicPr>
            <a:picLocks noChangeAspect="1"/>
          </p:cNvPicPr>
          <p:nvPr/>
        </p:nvPicPr>
        <p:blipFill>
          <a:blip r:embed="rId9"/>
          <a:stretch>
            <a:fillRect/>
          </a:stretch>
        </p:blipFill>
        <p:spPr>
          <a:xfrm>
            <a:off x="8732520" y="3538728"/>
            <a:ext cx="1371600" cy="1051560"/>
          </a:xfrm>
          <a:prstGeom prst="rect">
            <a:avLst/>
          </a:prstGeom>
        </p:spPr>
      </p:pic>
      <p:pic>
        <p:nvPicPr>
          <p:cNvPr id="25" name="Image 7" descr="/home/claude/build/assets/fused_normal.png"/>
          <p:cNvPicPr>
            <a:picLocks noChangeAspect="1"/>
          </p:cNvPicPr>
          <p:nvPr/>
        </p:nvPicPr>
        <p:blipFill>
          <a:blip r:embed="rId10"/>
          <a:stretch>
            <a:fillRect/>
          </a:stretch>
        </p:blipFill>
        <p:spPr>
          <a:xfrm>
            <a:off x="10149840" y="3538728"/>
            <a:ext cx="1371600" cy="1051560"/>
          </a:xfrm>
          <a:prstGeom prst="rect">
            <a:avLst/>
          </a:prstGeom>
        </p:spPr>
      </p:pic>
      <p:sp>
        <p:nvSpPr>
          <p:cNvPr id="26" name="Shape 16"/>
          <p:cNvSpPr/>
          <p:nvPr/>
        </p:nvSpPr>
        <p:spPr>
          <a:xfrm>
            <a:off x="5870448" y="3511296"/>
            <a:ext cx="5678424" cy="1106424"/>
          </a:xfrm>
          <a:prstGeom prst="roundRect">
            <a:avLst/>
          </a:prstGeom>
          <a:ln w="19050">
            <a:solidFill>
              <a:srgbClr val="0F4C81"/>
            </a:solidFill>
            <a:prstDash val="solid"/>
          </a:ln>
        </p:spPr>
        <p:txBody>
          <a:bodyPr/>
          <a:lstStyle/>
          <a:p>
            <a:endParaRPr lang="en-US"/>
          </a:p>
        </p:txBody>
      </p:sp>
      <p:sp>
        <p:nvSpPr>
          <p:cNvPr id="27" name="Text 17"/>
          <p:cNvSpPr/>
          <p:nvPr/>
        </p:nvSpPr>
        <p:spPr>
          <a:xfrm>
            <a:off x="5897880" y="4672584"/>
            <a:ext cx="5760720" cy="292608"/>
          </a:xfrm>
          <a:prstGeom prst="rect">
            <a:avLst/>
          </a:prstGeom>
          <a:noFill/>
          <a:ln/>
        </p:spPr>
        <p:txBody>
          <a:bodyPr wrap="square" rtlCol="0" anchor="ctr"/>
          <a:lstStyle/>
          <a:p>
            <a:pPr marL="0" indent="0" algn="ctr">
              <a:buNone/>
            </a:pPr>
            <a:r>
              <a:rPr lang="en-US" sz="1000" i="1" dirty="0">
                <a:solidFill>
                  <a:srgbClr val="0F4C81"/>
                </a:solidFill>
                <a:latin typeface="Times New Roman" pitchFamily="34" charset="0"/>
                <a:ea typeface="Times New Roman" pitchFamily="34" charset="-122"/>
                <a:cs typeface="Times New Roman" pitchFamily="34" charset="-120"/>
              </a:rPr>
              <a:t>Tighter, more anatomically-focused localization</a:t>
            </a:r>
            <a:endParaRPr lang="en-US" sz="1000" dirty="0"/>
          </a:p>
        </p:txBody>
      </p:sp>
      <p:sp>
        <p:nvSpPr>
          <p:cNvPr id="28" name="Text 18"/>
          <p:cNvSpPr/>
          <p:nvPr/>
        </p:nvSpPr>
        <p:spPr>
          <a:xfrm>
            <a:off x="5897880" y="4956048"/>
            <a:ext cx="5760720" cy="274320"/>
          </a:xfrm>
          <a:prstGeom prst="rect">
            <a:avLst/>
          </a:prstGeom>
          <a:noFill/>
          <a:ln/>
        </p:spPr>
        <p:txBody>
          <a:bodyPr wrap="square" rtlCol="0" anchor="ctr"/>
          <a:lstStyle/>
          <a:p>
            <a:pPr marL="0" indent="0" algn="ctr">
              <a:buNone/>
            </a:pPr>
            <a:r>
              <a:rPr lang="en-US" sz="1000" dirty="0">
                <a:solidFill>
                  <a:srgbClr val="5C7080"/>
                </a:solidFill>
                <a:latin typeface="Times New Roman" pitchFamily="34" charset="0"/>
                <a:ea typeface="Times New Roman" pitchFamily="34" charset="-122"/>
                <a:cs typeface="Times New Roman" pitchFamily="34" charset="-120"/>
              </a:rPr>
              <a:t>CNV · DME · DRUSEN · NORMAL</a:t>
            </a:r>
            <a:endParaRPr lang="en-US" sz="1000" dirty="0"/>
          </a:p>
        </p:txBody>
      </p:sp>
      <p:sp>
        <p:nvSpPr>
          <p:cNvPr id="29" name="Text 19"/>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30" name="Text 20"/>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15</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RESULTS &amp; EVALUATION</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Robustness Results</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07· Results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416052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20040">
                <a:tc>
                  <a:txBody>
                    <a:bodyPr/>
                    <a:lstStyle/>
                    <a:p>
                      <a:pPr marL="0" indent="0" algn="ctr">
                        <a:buNone/>
                      </a:pPr>
                      <a:r>
                        <a:rPr lang="en-US" sz="1020" b="1" dirty="0">
                          <a:solidFill>
                            <a:srgbClr val="FFFFFF"/>
                          </a:solidFill>
                          <a:latin typeface="Times New Roman" pitchFamily="34" charset="0"/>
                          <a:ea typeface="Times New Roman" pitchFamily="34" charset="-122"/>
                          <a:cs typeface="Times New Roman" pitchFamily="34" charset="-120"/>
                        </a:rPr>
                        <a:t>σ</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0B3A5D"/>
                    </a:solidFill>
                  </a:tcPr>
                </a:tc>
                <a:tc>
                  <a:txBody>
                    <a:bodyPr/>
                    <a:lstStyle/>
                    <a:p>
                      <a:pPr marL="0" indent="0" algn="ctr">
                        <a:buNone/>
                      </a:pPr>
                      <a:r>
                        <a:rPr lang="en-US" sz="1020" b="1" dirty="0">
                          <a:solidFill>
                            <a:srgbClr val="FFFFFF"/>
                          </a:solidFill>
                          <a:latin typeface="Times New Roman" pitchFamily="34" charset="0"/>
                          <a:ea typeface="Times New Roman" pitchFamily="34" charset="-122"/>
                          <a:cs typeface="Times New Roman" pitchFamily="34" charset="-120"/>
                        </a:rPr>
                        <a:t>Class</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0B3A5D"/>
                    </a:solidFill>
                  </a:tcPr>
                </a:tc>
                <a:tc>
                  <a:txBody>
                    <a:bodyPr/>
                    <a:lstStyle/>
                    <a:p>
                      <a:pPr marL="0" indent="0" algn="ctr">
                        <a:buNone/>
                      </a:pPr>
                      <a:r>
                        <a:rPr lang="en-US" sz="1020" b="1" dirty="0">
                          <a:solidFill>
                            <a:srgbClr val="FFFFFF"/>
                          </a:solidFill>
                          <a:latin typeface="Times New Roman" pitchFamily="34" charset="0"/>
                          <a:ea typeface="Times New Roman" pitchFamily="34" charset="-122"/>
                          <a:cs typeface="Times New Roman" pitchFamily="34" charset="-120"/>
                        </a:rPr>
                        <a:t>Fused</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0B3A5D"/>
                    </a:solidFill>
                  </a:tcPr>
                </a:tc>
                <a:tc>
                  <a:txBody>
                    <a:bodyPr/>
                    <a:lstStyle/>
                    <a:p>
                      <a:pPr marL="0" indent="0" algn="ctr">
                        <a:buNone/>
                      </a:pPr>
                      <a:r>
                        <a:rPr lang="en-US" sz="1020" b="1" dirty="0">
                          <a:solidFill>
                            <a:srgbClr val="FFFFFF"/>
                          </a:solidFill>
                          <a:latin typeface="Times New Roman" pitchFamily="34" charset="0"/>
                          <a:ea typeface="Times New Roman" pitchFamily="34" charset="-122"/>
                          <a:cs typeface="Times New Roman" pitchFamily="34" charset="-120"/>
                        </a:rPr>
                        <a:t>Standard</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0B3A5D"/>
                    </a:solidFill>
                  </a:tcPr>
                </a:tc>
                <a:tc>
                  <a:txBody>
                    <a:bodyPr/>
                    <a:lstStyle/>
                    <a:p>
                      <a:pPr marL="0" indent="0" algn="ctr">
                        <a:buNone/>
                      </a:pPr>
                      <a:r>
                        <a:rPr lang="en-US" sz="1020" b="1" dirty="0">
                          <a:solidFill>
                            <a:srgbClr val="FFFFFF"/>
                          </a:solidFill>
                          <a:latin typeface="Times New Roman" pitchFamily="34" charset="0"/>
                          <a:ea typeface="Times New Roman" pitchFamily="34" charset="-122"/>
                          <a:cs typeface="Times New Roman" pitchFamily="34" charset="-120"/>
                        </a:rPr>
                        <a:t>Gain</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0B3A5D"/>
                    </a:solidFill>
                  </a:tcPr>
                </a:tc>
                <a:extLst>
                  <a:ext uri="{0D108BD9-81ED-4DB2-BD59-A6C34878D82A}">
                    <a16:rowId xmlns:a16="http://schemas.microsoft.com/office/drawing/2014/main" val="10000"/>
                  </a:ext>
                </a:extLst>
              </a:tr>
              <a:tr h="320040">
                <a:tc>
                  <a:txBody>
                    <a:bodyPr/>
                    <a:lstStyle/>
                    <a:p>
                      <a:pPr marL="0" indent="0" algn="ctr">
                        <a:buNone/>
                      </a:pPr>
                      <a:r>
                        <a:rPr lang="en-US" sz="1020" b="1" dirty="0">
                          <a:solidFill>
                            <a:srgbClr val="0B3A5D"/>
                          </a:solidFill>
                          <a:latin typeface="Times New Roman" pitchFamily="34" charset="0"/>
                          <a:ea typeface="Times New Roman" pitchFamily="34" charset="-122"/>
                          <a:cs typeface="Times New Roman" pitchFamily="34" charset="-120"/>
                        </a:rPr>
                        <a:t>0.007</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CNV</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0.9713</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0.9543</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+0.0170</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DME</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0.9698</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0.9502</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+0.0196</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DRUSEN</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0.9750</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0.9566</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+0.0184</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NORMAL</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0.9736</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0.9579</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+0.0157</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ctr">
                        <a:buNone/>
                      </a:pPr>
                      <a:r>
                        <a:rPr lang="en-US" sz="1020" b="1" dirty="0">
                          <a:solidFill>
                            <a:srgbClr val="0B3A5D"/>
                          </a:solidFill>
                          <a:latin typeface="Times New Roman" pitchFamily="34" charset="0"/>
                          <a:ea typeface="Times New Roman" pitchFamily="34" charset="-122"/>
                          <a:cs typeface="Times New Roman" pitchFamily="34" charset="-120"/>
                        </a:rPr>
                        <a:t>0.008</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CNV</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0.9630</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0.9413</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+0.0217</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extLst>
                  <a:ext uri="{0D108BD9-81ED-4DB2-BD59-A6C34878D82A}">
                    <a16:rowId xmlns:a16="http://schemas.microsoft.com/office/drawing/2014/main" val="10005"/>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DME</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0.9613</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0.9349</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+0.0264</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DRUSEN</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0.9674</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0.9445</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+0.0229</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NORMAL</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0.9655</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0.9470</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+0.0185</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0040">
                <a:tc>
                  <a:txBody>
                    <a:bodyPr/>
                    <a:lstStyle/>
                    <a:p>
                      <a:pPr marL="0" indent="0" algn="ctr">
                        <a:buNone/>
                      </a:pPr>
                      <a:r>
                        <a:rPr lang="en-US" sz="1020" b="1" dirty="0">
                          <a:solidFill>
                            <a:srgbClr val="0B3A5D"/>
                          </a:solidFill>
                          <a:latin typeface="Times New Roman" pitchFamily="34" charset="0"/>
                          <a:ea typeface="Times New Roman" pitchFamily="34" charset="-122"/>
                          <a:cs typeface="Times New Roman" pitchFamily="34" charset="-120"/>
                        </a:rPr>
                        <a:t>0.009</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CNV</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0.9532</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0.9274</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+0.0258</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4F8FB"/>
                    </a:solidFill>
                  </a:tcPr>
                </a:tc>
                <a:extLst>
                  <a:ext uri="{0D108BD9-81ED-4DB2-BD59-A6C34878D82A}">
                    <a16:rowId xmlns:a16="http://schemas.microsoft.com/office/drawing/2014/main" val="10009"/>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DME</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0.9516</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0.9195</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+0.0321</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DRUSEN</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0.9592</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0.9313</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+0.0279</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0040">
                <a:tc>
                  <a:txBody>
                    <a:bodyPr/>
                    <a:lstStyle/>
                    <a:p>
                      <a:pPr marL="0" indent="0" algn="ctr">
                        <a:buNone/>
                      </a:pP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2A38"/>
                          </a:solidFill>
                          <a:latin typeface="Times New Roman" pitchFamily="34" charset="0"/>
                          <a:ea typeface="Times New Roman" pitchFamily="34" charset="-122"/>
                          <a:cs typeface="Times New Roman" pitchFamily="34" charset="-120"/>
                        </a:rPr>
                        <a:t>NORMAL</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b="1" dirty="0">
                          <a:solidFill>
                            <a:srgbClr val="0F4C81"/>
                          </a:solidFill>
                          <a:latin typeface="Times New Roman" pitchFamily="34" charset="0"/>
                          <a:ea typeface="Times New Roman" pitchFamily="34" charset="-122"/>
                          <a:cs typeface="Times New Roman" pitchFamily="34" charset="-120"/>
                        </a:rPr>
                        <a:t>0.9570</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5C7080"/>
                          </a:solidFill>
                          <a:latin typeface="Times New Roman" pitchFamily="34" charset="0"/>
                          <a:ea typeface="Times New Roman" pitchFamily="34" charset="-122"/>
                          <a:cs typeface="Times New Roman" pitchFamily="34" charset="-120"/>
                        </a:rPr>
                        <a:t>0.9337</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B7A43"/>
                          </a:solidFill>
                          <a:latin typeface="Times New Roman" pitchFamily="34" charset="0"/>
                          <a:ea typeface="Times New Roman" pitchFamily="34" charset="-122"/>
                          <a:cs typeface="Times New Roman" pitchFamily="34" charset="-120"/>
                        </a:rPr>
                        <a:t>+0.0233</a:t>
                      </a:r>
                      <a:endParaRPr lang="en-US" sz="1020" dirty="0">
                        <a:latin typeface="Times New Roman" charset="0"/>
                        <a:ea typeface="Times New Roman" charset="0"/>
                        <a:cs typeface="Times New Roman" charset="0"/>
                      </a:endParaRPr>
                    </a:p>
                  </a:txBody>
                  <a:tcPr anchor="ctr">
                    <a:lnL w="9525" cap="flat" cmpd="sng" algn="ctr">
                      <a:solidFill>
                        <a:srgbClr val="DCE6EE"/>
                      </a:solidFill>
                      <a:prstDash val="solid"/>
                      <a:round/>
                      <a:headEnd type="none" w="med" len="med"/>
                      <a:tailEnd type="none" w="med" len="med"/>
                    </a:lnL>
                    <a:lnR w="9525" cap="flat" cmpd="sng" algn="ctr">
                      <a:solidFill>
                        <a:srgbClr val="DCE6EE"/>
                      </a:solidFill>
                      <a:prstDash val="solid"/>
                      <a:round/>
                      <a:headEnd type="none" w="med" len="med"/>
                      <a:tailEnd type="none" w="med" len="med"/>
                    </a:lnR>
                    <a:lnT w="9525" cap="flat" cmpd="sng" algn="ctr">
                      <a:solidFill>
                        <a:srgbClr val="DCE6EE"/>
                      </a:solidFill>
                      <a:prstDash val="solid"/>
                      <a:round/>
                      <a:headEnd type="none" w="med" len="med"/>
                      <a:tailEnd type="none" w="med" len="med"/>
                    </a:lnT>
                    <a:lnB w="9525" cap="flat" cmpd="sng" algn="ctr">
                      <a:solidFill>
                        <a:srgbClr val="DCE6EE"/>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7" name="Text 4"/>
          <p:cNvSpPr/>
          <p:nvPr/>
        </p:nvSpPr>
        <p:spPr>
          <a:xfrm>
            <a:off x="548640" y="5577840"/>
            <a:ext cx="5486400" cy="274320"/>
          </a:xfrm>
          <a:prstGeom prst="rect">
            <a:avLst/>
          </a:prstGeom>
          <a:noFill/>
          <a:ln/>
        </p:spPr>
        <p:txBody>
          <a:bodyPr wrap="square" rtlCol="0" anchor="ctr"/>
          <a:lstStyle/>
          <a:p>
            <a:pPr marL="0" indent="0">
              <a:buNone/>
            </a:pPr>
            <a:r>
              <a:rPr lang="en-US" sz="1000" i="1" dirty="0">
                <a:solidFill>
                  <a:srgbClr val="5C7080"/>
                </a:solidFill>
                <a:latin typeface="Times New Roman" pitchFamily="34" charset="0"/>
                <a:ea typeface="Times New Roman" pitchFamily="34" charset="-122"/>
                <a:cs typeface="Times New Roman" pitchFamily="34" charset="-120"/>
              </a:rPr>
              <a:t>Table I — Class-wise SSIM robustness under Gaussian noise</a:t>
            </a:r>
            <a:endParaRPr lang="en-US" sz="1000" dirty="0"/>
          </a:p>
        </p:txBody>
      </p:sp>
      <p:graphicFrame>
        <p:nvGraphicFramePr>
          <p:cNvPr id="8" name="Chart 0"/>
          <p:cNvGraphicFramePr/>
          <p:nvPr/>
        </p:nvGraphicFramePr>
        <p:xfrm>
          <a:off x="6263640" y="1371600"/>
          <a:ext cx="53949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263640" y="4572000"/>
            <a:ext cx="5394960" cy="1417320"/>
          </a:xfrm>
          <a:prstGeom prst="roundRect">
            <a:avLst>
              <a:gd name="adj" fmla="val 5806"/>
            </a:avLst>
          </a:prstGeom>
          <a:solidFill>
            <a:srgbClr val="F4F8FB"/>
          </a:solidFill>
          <a:ln w="12700">
            <a:solidFill>
              <a:srgbClr val="DCE6EE"/>
            </a:solidFill>
            <a:prstDash val="solid"/>
          </a:ln>
        </p:spPr>
        <p:txBody>
          <a:bodyPr/>
          <a:lstStyle/>
          <a:p>
            <a:endParaRPr lang="en-US"/>
          </a:p>
        </p:txBody>
      </p:sp>
      <p:sp>
        <p:nvSpPr>
          <p:cNvPr id="10" name="Text 6"/>
          <p:cNvSpPr/>
          <p:nvPr/>
        </p:nvSpPr>
        <p:spPr>
          <a:xfrm>
            <a:off x="6492240" y="4572000"/>
            <a:ext cx="4937760" cy="1417320"/>
          </a:xfrm>
          <a:prstGeom prst="rect">
            <a:avLst/>
          </a:prstGeom>
          <a:noFill/>
          <a:ln/>
        </p:spPr>
        <p:txBody>
          <a:bodyPr wrap="square" rtlCol="0" anchor="ctr"/>
          <a:lstStyle/>
          <a:p>
            <a:pPr marL="0" indent="0">
              <a:lnSpc>
                <a:spcPct val="120000"/>
              </a:lnSpc>
              <a:buNone/>
            </a:pPr>
            <a:r>
              <a:rPr lang="en-US" sz="1150" dirty="0">
                <a:solidFill>
                  <a:srgbClr val="1B2A38"/>
                </a:solidFill>
                <a:latin typeface="Times New Roman" pitchFamily="34" charset="0"/>
                <a:ea typeface="Times New Roman" pitchFamily="34" charset="-122"/>
                <a:cs typeface="Times New Roman" pitchFamily="34" charset="-120"/>
              </a:rPr>
              <a:t>Fused Grad-CAM outperforms Standard Grad-CAM at every noise level — and the gap widens as noise increases, showing the fused explanation degrades more slowly.</a:t>
            </a:r>
            <a:endParaRPr lang="en-US" sz="1150" dirty="0"/>
          </a:p>
        </p:txBody>
      </p:sp>
      <p:sp>
        <p:nvSpPr>
          <p:cNvPr id="11" name="Text 7"/>
          <p:cNvSpPr/>
          <p:nvPr/>
        </p:nvSpPr>
        <p:spPr>
          <a:xfrm>
            <a:off x="457200" y="6473952"/>
            <a:ext cx="8686800" cy="274320"/>
          </a:xfrm>
          <a:prstGeom prst="rect">
            <a:avLst/>
          </a:prstGeom>
          <a:noFill/>
          <a:ln/>
        </p:spPr>
        <p:txBody>
          <a:bodyPr wrap="square" rtlCol="0" anchor="ctr"/>
          <a:lstStyle/>
          <a:p>
            <a:pPr marL="0" indent="0" algn="l">
              <a:buNone/>
            </a:pPr>
            <a:r>
              <a:rPr lang="en-US" sz="950" dirty="0">
                <a:solidFill>
                  <a:srgbClr val="5C7080"/>
                </a:solidFill>
                <a:latin typeface="Roboto" pitchFamily="34" charset="0"/>
                <a:ea typeface="Roboto" pitchFamily="34" charset="-122"/>
                <a:cs typeface="Roboto" pitchFamily="34" charset="-120"/>
              </a:rPr>
              <a:t>\</a:t>
            </a:r>
            <a:endParaRPr lang="en-US" sz="950" dirty="0"/>
          </a:p>
        </p:txBody>
      </p:sp>
      <p:sp>
        <p:nvSpPr>
          <p:cNvPr id="12" name="Text 8"/>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16</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50" b="1" kern="0" spc="200" dirty="0">
                <a:solidFill>
                  <a:srgbClr val="2E86AB"/>
                </a:solidFill>
                <a:latin typeface="Roboto" pitchFamily="34" charset="0"/>
                <a:ea typeface="Roboto" pitchFamily="34" charset="-122"/>
                <a:cs typeface="Roboto" pitchFamily="34" charset="-120"/>
              </a:rPr>
              <a:t>LIMITATIONS &amp; FUTURE WORK</a:t>
            </a:r>
            <a:endParaRPr lang="en-US" sz="125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3000" b="1" dirty="0">
                <a:solidFill>
                  <a:srgbClr val="0B3A5D"/>
                </a:solidFill>
                <a:latin typeface="Montserrat" pitchFamily="34" charset="0"/>
                <a:ea typeface="Montserrat" pitchFamily="34" charset="-122"/>
                <a:cs typeface="Montserrat" pitchFamily="34" charset="-120"/>
              </a:rPr>
              <a:t>What's Next</a:t>
            </a:r>
            <a:endParaRPr lang="en-US" sz="3000" dirty="0"/>
          </a:p>
        </p:txBody>
      </p:sp>
      <p:sp>
        <p:nvSpPr>
          <p:cNvPr id="4" name="Shape 2"/>
          <p:cNvSpPr/>
          <p:nvPr/>
        </p:nvSpPr>
        <p:spPr>
          <a:xfrm>
            <a:off x="9902952" y="411480"/>
            <a:ext cx="1737360" cy="310896"/>
          </a:xfrm>
          <a:prstGeom prst="roundRect">
            <a:avLst>
              <a:gd name="adj" fmla="val 50000"/>
            </a:avLst>
          </a:prstGeom>
          <a:solidFill>
            <a:srgbClr val="F4F8FB"/>
          </a:solidFill>
          <a:ln w="9525">
            <a:solidFill>
              <a:srgbClr val="DCE6EE"/>
            </a:solidFill>
            <a:prstDash val="solid"/>
          </a:ln>
        </p:spPr>
        <p:txBody>
          <a:bodyPr/>
          <a:lstStyle/>
          <a:p>
            <a:endParaRPr lang="en-US"/>
          </a:p>
        </p:txBody>
      </p:sp>
      <p:sp>
        <p:nvSpPr>
          <p:cNvPr id="5" name="Text 3"/>
          <p:cNvSpPr/>
          <p:nvPr/>
        </p:nvSpPr>
        <p:spPr>
          <a:xfrm>
            <a:off x="9902952" y="411480"/>
            <a:ext cx="1737360" cy="310896"/>
          </a:xfrm>
          <a:prstGeom prst="rect">
            <a:avLst/>
          </a:prstGeom>
          <a:noFill/>
          <a:ln/>
        </p:spPr>
        <p:txBody>
          <a:bodyPr wrap="square" rtlCol="0" anchor="ctr"/>
          <a:lstStyle/>
          <a:p>
            <a:pPr marL="0" indent="0" algn="ctr">
              <a:buNone/>
            </a:pPr>
            <a:r>
              <a:rPr lang="en-US" sz="1000" b="1" dirty="0">
                <a:solidFill>
                  <a:srgbClr val="0F4C81"/>
                </a:solidFill>
                <a:latin typeface="Roboto" pitchFamily="34" charset="0"/>
                <a:ea typeface="Roboto" pitchFamily="34" charset="-122"/>
                <a:cs typeface="Roboto" pitchFamily="34" charset="-120"/>
              </a:rPr>
              <a:t>08 · Limitations</a:t>
            </a:r>
            <a:endParaRPr lang="en-US" sz="1000" dirty="0"/>
          </a:p>
        </p:txBody>
      </p:sp>
      <p:sp>
        <p:nvSpPr>
          <p:cNvPr id="6" name="Shape 4"/>
          <p:cNvSpPr/>
          <p:nvPr/>
        </p:nvSpPr>
        <p:spPr>
          <a:xfrm>
            <a:off x="642910" y="1463040"/>
            <a:ext cx="5349240" cy="4297680"/>
          </a:xfrm>
          <a:prstGeom prst="roundRect">
            <a:avLst>
              <a:gd name="adj" fmla="val 1915"/>
            </a:avLst>
          </a:prstGeom>
          <a:solidFill>
            <a:srgbClr val="F4F8FB"/>
          </a:solidFill>
          <a:ln w="12700">
            <a:solidFill>
              <a:srgbClr val="DCE6EE"/>
            </a:solidFill>
            <a:prstDash val="solid"/>
          </a:ln>
        </p:spPr>
        <p:txBody>
          <a:bodyPr/>
          <a:lstStyle/>
          <a:p>
            <a:endParaRPr lang="en-US"/>
          </a:p>
        </p:txBody>
      </p:sp>
      <p:sp>
        <p:nvSpPr>
          <p:cNvPr id="7" name="Text 5"/>
          <p:cNvSpPr/>
          <p:nvPr/>
        </p:nvSpPr>
        <p:spPr>
          <a:xfrm>
            <a:off x="822960" y="1691640"/>
            <a:ext cx="4846320" cy="365760"/>
          </a:xfrm>
          <a:prstGeom prst="rect">
            <a:avLst/>
          </a:prstGeom>
          <a:noFill/>
          <a:ln/>
        </p:spPr>
        <p:txBody>
          <a:bodyPr wrap="square" rtlCol="0" anchor="ctr"/>
          <a:lstStyle/>
          <a:p>
            <a:pPr marL="0" indent="0">
              <a:buNone/>
            </a:pPr>
            <a:r>
              <a:rPr lang="en-US" sz="1600" b="1" dirty="0">
                <a:solidFill>
                  <a:srgbClr val="0B3A5D"/>
                </a:solidFill>
                <a:latin typeface="Times New Roman" pitchFamily="34" charset="0"/>
                <a:ea typeface="Times New Roman" pitchFamily="34" charset="-122"/>
                <a:cs typeface="Times New Roman" pitchFamily="34" charset="-120"/>
              </a:rPr>
              <a:t>Current Limitations</a:t>
            </a:r>
            <a:endParaRPr lang="en-US" sz="1600" dirty="0"/>
          </a:p>
        </p:txBody>
      </p:sp>
      <p:sp>
        <p:nvSpPr>
          <p:cNvPr id="8" name="Shape 6"/>
          <p:cNvSpPr/>
          <p:nvPr/>
        </p:nvSpPr>
        <p:spPr>
          <a:xfrm>
            <a:off x="822960" y="2295144"/>
            <a:ext cx="146304" cy="146304"/>
          </a:xfrm>
          <a:prstGeom prst="ellipse">
            <a:avLst/>
          </a:prstGeom>
          <a:solidFill>
            <a:srgbClr val="5C7080"/>
          </a:solidFill>
          <a:ln/>
        </p:spPr>
        <p:txBody>
          <a:bodyPr/>
          <a:lstStyle/>
          <a:p>
            <a:endParaRPr lang="en-US"/>
          </a:p>
        </p:txBody>
      </p:sp>
      <p:sp>
        <p:nvSpPr>
          <p:cNvPr id="9" name="Text 7"/>
          <p:cNvSpPr/>
          <p:nvPr/>
        </p:nvSpPr>
        <p:spPr>
          <a:xfrm>
            <a:off x="1143000" y="2240280"/>
            <a:ext cx="4480560" cy="292608"/>
          </a:xfrm>
          <a:prstGeom prst="rect">
            <a:avLst/>
          </a:prstGeom>
          <a:noFill/>
          <a:ln/>
        </p:spPr>
        <p:txBody>
          <a:bodyPr wrap="square" rtlCol="0" anchor="ctr"/>
          <a:lstStyle/>
          <a:p>
            <a:pPr marL="0" indent="0">
              <a:buNone/>
            </a:pPr>
            <a:r>
              <a:rPr lang="en-US" sz="1350" b="1" dirty="0">
                <a:solidFill>
                  <a:srgbClr val="0B3A5D"/>
                </a:solidFill>
                <a:latin typeface="Times New Roman" pitchFamily="34" charset="0"/>
                <a:ea typeface="Times New Roman" pitchFamily="34" charset="-122"/>
                <a:cs typeface="Times New Roman" pitchFamily="34" charset="-120"/>
              </a:rPr>
              <a:t>No annotated dataset</a:t>
            </a:r>
            <a:endParaRPr lang="en-US" sz="1350" dirty="0"/>
          </a:p>
        </p:txBody>
      </p:sp>
      <p:sp>
        <p:nvSpPr>
          <p:cNvPr id="10" name="Text 8"/>
          <p:cNvSpPr/>
          <p:nvPr/>
        </p:nvSpPr>
        <p:spPr>
          <a:xfrm>
            <a:off x="1143000" y="2560320"/>
            <a:ext cx="4480560" cy="777240"/>
          </a:xfrm>
          <a:prstGeom prst="rect">
            <a:avLst/>
          </a:prstGeom>
          <a:noFill/>
          <a:ln/>
        </p:spPr>
        <p:txBody>
          <a:bodyPr wrap="square" rtlCol="0" anchor="ctr"/>
          <a:lstStyle/>
          <a:p>
            <a:pPr marL="0" indent="0">
              <a:lnSpc>
                <a:spcPct val="120000"/>
              </a:lnSpc>
              <a:buNone/>
            </a:pPr>
            <a:r>
              <a:rPr lang="en-US" sz="1150" dirty="0">
                <a:solidFill>
                  <a:srgbClr val="1B2A38"/>
                </a:solidFill>
                <a:latin typeface="Times New Roman" pitchFamily="34" charset="0"/>
                <a:ea typeface="Times New Roman" pitchFamily="34" charset="-122"/>
                <a:cs typeface="Times New Roman" pitchFamily="34" charset="-120"/>
              </a:rPr>
              <a:t>There is no pixel-level, expert-labeled ground truth to formally verify localization accuracy.</a:t>
            </a:r>
            <a:endParaRPr lang="en-US" sz="1150" dirty="0"/>
          </a:p>
        </p:txBody>
      </p:sp>
      <p:sp>
        <p:nvSpPr>
          <p:cNvPr id="11" name="Shape 9"/>
          <p:cNvSpPr/>
          <p:nvPr/>
        </p:nvSpPr>
        <p:spPr>
          <a:xfrm>
            <a:off x="822960" y="3712464"/>
            <a:ext cx="146304" cy="146304"/>
          </a:xfrm>
          <a:prstGeom prst="ellipse">
            <a:avLst/>
          </a:prstGeom>
          <a:solidFill>
            <a:srgbClr val="5C7080"/>
          </a:solidFill>
          <a:ln/>
        </p:spPr>
        <p:txBody>
          <a:bodyPr/>
          <a:lstStyle/>
          <a:p>
            <a:endParaRPr lang="en-US"/>
          </a:p>
        </p:txBody>
      </p:sp>
      <p:sp>
        <p:nvSpPr>
          <p:cNvPr id="12" name="Text 10"/>
          <p:cNvSpPr/>
          <p:nvPr/>
        </p:nvSpPr>
        <p:spPr>
          <a:xfrm>
            <a:off x="1143000" y="3657600"/>
            <a:ext cx="4480560" cy="292608"/>
          </a:xfrm>
          <a:prstGeom prst="rect">
            <a:avLst/>
          </a:prstGeom>
          <a:noFill/>
          <a:ln/>
        </p:spPr>
        <p:txBody>
          <a:bodyPr wrap="square" rtlCol="0" anchor="ctr"/>
          <a:lstStyle/>
          <a:p>
            <a:pPr marL="0" indent="0">
              <a:buNone/>
            </a:pPr>
            <a:r>
              <a:rPr lang="en-US" sz="1350" b="1" dirty="0">
                <a:solidFill>
                  <a:srgbClr val="0B3A5D"/>
                </a:solidFill>
                <a:latin typeface="Times New Roman" pitchFamily="34" charset="0"/>
                <a:ea typeface="Times New Roman" pitchFamily="34" charset="-122"/>
                <a:cs typeface="Times New Roman" pitchFamily="34" charset="-120"/>
              </a:rPr>
              <a:t>Validation across real world scenarios unavailable</a:t>
            </a:r>
            <a:endParaRPr lang="en-US" sz="1350" dirty="0"/>
          </a:p>
        </p:txBody>
      </p:sp>
      <p:sp>
        <p:nvSpPr>
          <p:cNvPr id="13" name="Text 11"/>
          <p:cNvSpPr/>
          <p:nvPr/>
        </p:nvSpPr>
        <p:spPr>
          <a:xfrm>
            <a:off x="1143000" y="3977640"/>
            <a:ext cx="4480560" cy="777240"/>
          </a:xfrm>
          <a:prstGeom prst="rect">
            <a:avLst/>
          </a:prstGeom>
          <a:noFill/>
          <a:ln/>
        </p:spPr>
        <p:txBody>
          <a:bodyPr wrap="square" rtlCol="0" anchor="ctr"/>
          <a:lstStyle/>
          <a:p>
            <a:pPr marL="0" indent="0">
              <a:lnSpc>
                <a:spcPct val="120000"/>
              </a:lnSpc>
              <a:buNone/>
            </a:pPr>
            <a:r>
              <a:rPr lang="en-US" sz="1150" dirty="0">
                <a:solidFill>
                  <a:srgbClr val="1B2A38"/>
                </a:solidFill>
                <a:latin typeface="Times New Roman" pitchFamily="34" charset="0"/>
                <a:ea typeface="Times New Roman" pitchFamily="34" charset="-122"/>
                <a:cs typeface="Times New Roman" pitchFamily="34" charset="-120"/>
              </a:rPr>
              <a:t>SSIM under synthetic noise is a proxy for robustness  it does not fully capture real-world acquisition variability across scanners.</a:t>
            </a:r>
            <a:endParaRPr lang="en-US" sz="1150" dirty="0"/>
          </a:p>
        </p:txBody>
      </p:sp>
      <p:sp>
        <p:nvSpPr>
          <p:cNvPr id="14" name="Shape 12"/>
          <p:cNvSpPr/>
          <p:nvPr/>
        </p:nvSpPr>
        <p:spPr>
          <a:xfrm>
            <a:off x="6263640" y="1463040"/>
            <a:ext cx="5394960" cy="4297680"/>
          </a:xfrm>
          <a:prstGeom prst="roundRect">
            <a:avLst>
              <a:gd name="adj" fmla="val 1915"/>
            </a:avLst>
          </a:prstGeom>
          <a:solidFill>
            <a:srgbClr val="0B3A5D"/>
          </a:solidFill>
          <a:ln/>
        </p:spPr>
        <p:txBody>
          <a:bodyPr/>
          <a:lstStyle/>
          <a:p>
            <a:endParaRPr lang="en-US"/>
          </a:p>
        </p:txBody>
      </p:sp>
      <p:sp>
        <p:nvSpPr>
          <p:cNvPr id="15" name="Text 13"/>
          <p:cNvSpPr/>
          <p:nvPr/>
        </p:nvSpPr>
        <p:spPr>
          <a:xfrm>
            <a:off x="6537960" y="1691640"/>
            <a:ext cx="4846320" cy="365760"/>
          </a:xfrm>
          <a:prstGeom prst="rect">
            <a:avLst/>
          </a:prstGeom>
          <a:noFill/>
          <a:ln/>
        </p:spPr>
        <p:txBody>
          <a:bodyPr wrap="square"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Future Work</a:t>
            </a:r>
            <a:endParaRPr lang="en-US" sz="1600" dirty="0"/>
          </a:p>
        </p:txBody>
      </p:sp>
      <p:sp>
        <p:nvSpPr>
          <p:cNvPr id="16" name="Shape 14"/>
          <p:cNvSpPr/>
          <p:nvPr/>
        </p:nvSpPr>
        <p:spPr>
          <a:xfrm>
            <a:off x="6537960" y="2313432"/>
            <a:ext cx="109728" cy="109728"/>
          </a:xfrm>
          <a:prstGeom prst="ellipse">
            <a:avLst/>
          </a:prstGeom>
          <a:solidFill>
            <a:srgbClr val="6FB1DE"/>
          </a:solidFill>
          <a:ln/>
        </p:spPr>
        <p:txBody>
          <a:bodyPr/>
          <a:lstStyle/>
          <a:p>
            <a:endParaRPr lang="en-US"/>
          </a:p>
        </p:txBody>
      </p:sp>
      <p:sp>
        <p:nvSpPr>
          <p:cNvPr id="17" name="Text 15"/>
          <p:cNvSpPr/>
          <p:nvPr/>
        </p:nvSpPr>
        <p:spPr>
          <a:xfrm>
            <a:off x="6766560" y="2185416"/>
            <a:ext cx="4754880" cy="594360"/>
          </a:xfrm>
          <a:prstGeom prst="rect">
            <a:avLst/>
          </a:prstGeom>
          <a:noFill/>
          <a:ln/>
        </p:spPr>
        <p:txBody>
          <a:bodyPr wrap="square" rtlCol="0" anchor="ctr"/>
          <a:lstStyle/>
          <a:p>
            <a:pPr marL="0" indent="0">
              <a:lnSpc>
                <a:spcPct val="120000"/>
              </a:lnSpc>
              <a:buNone/>
            </a:pPr>
            <a:r>
              <a:rPr lang="en-US" sz="1250" dirty="0">
                <a:solidFill>
                  <a:srgbClr val="FFFFFF"/>
                </a:solidFill>
                <a:latin typeface="Times New Roman" pitchFamily="34" charset="0"/>
                <a:ea typeface="Times New Roman" pitchFamily="34" charset="-122"/>
                <a:cs typeface="Times New Roman" pitchFamily="34" charset="-120"/>
              </a:rPr>
              <a:t>Incorporate expert-annotated lesion masks for formal localization validation</a:t>
            </a:r>
            <a:endParaRPr lang="en-US" sz="1250" dirty="0"/>
          </a:p>
        </p:txBody>
      </p:sp>
      <p:sp>
        <p:nvSpPr>
          <p:cNvPr id="18" name="Shape 16"/>
          <p:cNvSpPr/>
          <p:nvPr/>
        </p:nvSpPr>
        <p:spPr>
          <a:xfrm>
            <a:off x="6537960" y="3063240"/>
            <a:ext cx="109728" cy="109728"/>
          </a:xfrm>
          <a:prstGeom prst="ellipse">
            <a:avLst/>
          </a:prstGeom>
          <a:solidFill>
            <a:srgbClr val="6FB1DE"/>
          </a:solidFill>
          <a:ln/>
        </p:spPr>
        <p:txBody>
          <a:bodyPr/>
          <a:lstStyle/>
          <a:p>
            <a:endParaRPr lang="en-US"/>
          </a:p>
        </p:txBody>
      </p:sp>
      <p:sp>
        <p:nvSpPr>
          <p:cNvPr id="19" name="Text 17"/>
          <p:cNvSpPr/>
          <p:nvPr/>
        </p:nvSpPr>
        <p:spPr>
          <a:xfrm>
            <a:off x="6766560" y="2935224"/>
            <a:ext cx="4754880" cy="594360"/>
          </a:xfrm>
          <a:prstGeom prst="rect">
            <a:avLst/>
          </a:prstGeom>
          <a:noFill/>
          <a:ln/>
        </p:spPr>
        <p:txBody>
          <a:bodyPr wrap="square" rtlCol="0" anchor="ctr"/>
          <a:lstStyle/>
          <a:p>
            <a:pPr marL="0" indent="0">
              <a:lnSpc>
                <a:spcPct val="120000"/>
              </a:lnSpc>
              <a:buNone/>
            </a:pPr>
            <a:r>
              <a:rPr lang="en-US" sz="1250" dirty="0">
                <a:solidFill>
                  <a:srgbClr val="FFFFFF"/>
                </a:solidFill>
                <a:latin typeface="Times New Roman" pitchFamily="34" charset="0"/>
                <a:ea typeface="Times New Roman" pitchFamily="34" charset="-122"/>
                <a:cs typeface="Times New Roman" pitchFamily="34" charset="-120"/>
              </a:rPr>
              <a:t>Pursue clinical validation in collaboration with ophthalmologists</a:t>
            </a:r>
            <a:endParaRPr lang="en-US" sz="1250" dirty="0"/>
          </a:p>
        </p:txBody>
      </p:sp>
      <p:sp>
        <p:nvSpPr>
          <p:cNvPr id="20" name="Shape 18"/>
          <p:cNvSpPr/>
          <p:nvPr/>
        </p:nvSpPr>
        <p:spPr>
          <a:xfrm>
            <a:off x="6537960" y="3813048"/>
            <a:ext cx="109728" cy="109728"/>
          </a:xfrm>
          <a:prstGeom prst="ellipse">
            <a:avLst/>
          </a:prstGeom>
          <a:solidFill>
            <a:srgbClr val="6FB1DE"/>
          </a:solidFill>
          <a:ln/>
        </p:spPr>
        <p:txBody>
          <a:bodyPr/>
          <a:lstStyle/>
          <a:p>
            <a:endParaRPr lang="en-US"/>
          </a:p>
        </p:txBody>
      </p:sp>
      <p:sp>
        <p:nvSpPr>
          <p:cNvPr id="21" name="Text 19"/>
          <p:cNvSpPr/>
          <p:nvPr/>
        </p:nvSpPr>
        <p:spPr>
          <a:xfrm>
            <a:off x="6766560" y="3685032"/>
            <a:ext cx="4754880" cy="594360"/>
          </a:xfrm>
          <a:prstGeom prst="rect">
            <a:avLst/>
          </a:prstGeom>
          <a:noFill/>
          <a:ln/>
        </p:spPr>
        <p:txBody>
          <a:bodyPr wrap="square" rtlCol="0" anchor="ctr"/>
          <a:lstStyle/>
          <a:p>
            <a:pPr marL="0" indent="0">
              <a:lnSpc>
                <a:spcPct val="120000"/>
              </a:lnSpc>
              <a:buNone/>
            </a:pPr>
            <a:r>
              <a:rPr lang="en-US" sz="1250" dirty="0">
                <a:solidFill>
                  <a:srgbClr val="FFFFFF"/>
                </a:solidFill>
                <a:latin typeface="Times New Roman" pitchFamily="34" charset="0"/>
                <a:ea typeface="Times New Roman" pitchFamily="34" charset="-122"/>
                <a:cs typeface="Times New Roman" pitchFamily="34" charset="-120"/>
              </a:rPr>
              <a:t>Evaluate on larger, more diverse OCT datasets</a:t>
            </a:r>
            <a:endParaRPr lang="en-US" sz="1250" dirty="0"/>
          </a:p>
        </p:txBody>
      </p:sp>
      <p:sp>
        <p:nvSpPr>
          <p:cNvPr id="23" name="Text 21"/>
          <p:cNvSpPr/>
          <p:nvPr/>
        </p:nvSpPr>
        <p:spPr>
          <a:xfrm>
            <a:off x="6766560" y="4434840"/>
            <a:ext cx="4754880" cy="594360"/>
          </a:xfrm>
          <a:prstGeom prst="rect">
            <a:avLst/>
          </a:prstGeom>
          <a:noFill/>
          <a:ln/>
        </p:spPr>
        <p:txBody>
          <a:bodyPr wrap="square" rtlCol="0" anchor="ctr"/>
          <a:lstStyle/>
          <a:p>
            <a:pPr marL="0" indent="0">
              <a:lnSpc>
                <a:spcPct val="120000"/>
              </a:lnSpc>
              <a:buNone/>
            </a:pPr>
            <a:endParaRPr lang="en-US" sz="1250" dirty="0"/>
          </a:p>
        </p:txBody>
      </p:sp>
      <p:sp>
        <p:nvSpPr>
          <p:cNvPr id="24" name="Text 22"/>
          <p:cNvSpPr/>
          <p:nvPr/>
        </p:nvSpPr>
        <p:spPr>
          <a:xfrm>
            <a:off x="457200" y="6473952"/>
            <a:ext cx="8686800" cy="274320"/>
          </a:xfrm>
          <a:prstGeom prst="rect">
            <a:avLst/>
          </a:prstGeom>
          <a:noFill/>
          <a:ln/>
        </p:spPr>
        <p:txBody>
          <a:bodyPr wrap="square" rtlCol="0" anchor="ctr"/>
          <a:lstStyle/>
          <a:p>
            <a:pPr marL="0" indent="0" algn="l">
              <a:buNone/>
            </a:pPr>
            <a:endParaRPr lang="en-US" sz="950" dirty="0"/>
          </a:p>
        </p:txBody>
      </p:sp>
      <p:sp>
        <p:nvSpPr>
          <p:cNvPr id="25" name="Text 23"/>
          <p:cNvSpPr/>
          <p:nvPr/>
        </p:nvSpPr>
        <p:spPr>
          <a:xfrm>
            <a:off x="11274552" y="6473952"/>
            <a:ext cx="548640" cy="274320"/>
          </a:xfrm>
          <a:prstGeom prst="rect">
            <a:avLst/>
          </a:prstGeom>
          <a:noFill/>
          <a:ln/>
        </p:spPr>
        <p:txBody>
          <a:bodyPr wrap="square" rtlCol="0" anchor="ctr"/>
          <a:lstStyle/>
          <a:p>
            <a:pPr marL="0" indent="0" algn="r">
              <a:buNone/>
            </a:pPr>
            <a:r>
              <a:rPr lang="en-US" sz="950" dirty="0">
                <a:solidFill>
                  <a:srgbClr val="5C7080"/>
                </a:solidFill>
                <a:latin typeface="Roboto" pitchFamily="34" charset="0"/>
                <a:ea typeface="Roboto" pitchFamily="34" charset="-122"/>
                <a:cs typeface="Roboto" pitchFamily="34" charset="-120"/>
              </a:rPr>
              <a:t>17</a:t>
            </a:r>
            <a:endParaRPr lang="en-US" sz="9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0B3A5D"/>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120640" cy="5120640"/>
          </a:xfrm>
          <a:prstGeom prst="ellipse">
            <a:avLst/>
          </a:prstGeom>
          <a:solidFill>
            <a:srgbClr val="12466E"/>
          </a:solidFill>
          <a:ln/>
        </p:spPr>
        <p:txBody>
          <a:bodyPr/>
          <a:lstStyle/>
          <a:p>
            <a:endParaRPr lang="en-US"/>
          </a:p>
        </p:txBody>
      </p:sp>
      <p:sp>
        <p:nvSpPr>
          <p:cNvPr id="3" name="Shape 1"/>
          <p:cNvSpPr/>
          <p:nvPr/>
        </p:nvSpPr>
        <p:spPr>
          <a:xfrm>
            <a:off x="9509760" y="4206240"/>
            <a:ext cx="4754880" cy="4754880"/>
          </a:xfrm>
          <a:prstGeom prst="ellipse">
            <a:avLst/>
          </a:prstGeom>
          <a:solidFill>
            <a:srgbClr val="0E4468"/>
          </a:solidFill>
          <a:ln/>
        </p:spPr>
        <p:txBody>
          <a:bodyPr/>
          <a:lstStyle/>
          <a:p>
            <a:endParaRPr lang="en-US"/>
          </a:p>
        </p:txBody>
      </p:sp>
      <p:sp>
        <p:nvSpPr>
          <p:cNvPr id="4" name="Text 2"/>
          <p:cNvSpPr/>
          <p:nvPr/>
        </p:nvSpPr>
        <p:spPr>
          <a:xfrm>
            <a:off x="914400" y="2468880"/>
            <a:ext cx="10360152" cy="1005840"/>
          </a:xfrm>
          <a:prstGeom prst="rect">
            <a:avLst/>
          </a:prstGeom>
          <a:noFill/>
          <a:ln/>
        </p:spPr>
        <p:txBody>
          <a:bodyPr wrap="square" rtlCol="0" anchor="ctr"/>
          <a:lstStyle/>
          <a:p>
            <a:pPr marL="0" indent="0" algn="ctr">
              <a:buNone/>
            </a:pPr>
            <a:r>
              <a:rPr lang="en-US" sz="4600" b="1" dirty="0">
                <a:solidFill>
                  <a:srgbClr val="FFFFFF"/>
                </a:solidFill>
                <a:latin typeface="Montserrat" pitchFamily="34" charset="0"/>
                <a:ea typeface="Montserrat" pitchFamily="34" charset="-122"/>
                <a:cs typeface="Montserrat" pitchFamily="34" charset="-120"/>
              </a:rPr>
              <a:t>Thank You</a:t>
            </a:r>
            <a:endParaRPr lang="en-US" sz="4600" dirty="0"/>
          </a:p>
        </p:txBody>
      </p:sp>
      <p:sp>
        <p:nvSpPr>
          <p:cNvPr id="5" name="Text 3"/>
          <p:cNvSpPr/>
          <p:nvPr/>
        </p:nvSpPr>
        <p:spPr>
          <a:xfrm>
            <a:off x="914400" y="3429000"/>
            <a:ext cx="10360152" cy="457200"/>
          </a:xfrm>
          <a:prstGeom prst="rect">
            <a:avLst/>
          </a:prstGeom>
          <a:noFill/>
          <a:ln/>
        </p:spPr>
        <p:txBody>
          <a:bodyPr wrap="square" rtlCol="0" anchor="ctr"/>
          <a:lstStyle/>
          <a:p>
            <a:pPr marL="0" indent="0" algn="ctr">
              <a:buNone/>
            </a:pPr>
            <a:endParaRPr lang="en-US" sz="1600" dirty="0"/>
          </a:p>
        </p:txBody>
      </p:sp>
      <p:sp>
        <p:nvSpPr>
          <p:cNvPr id="6" name="Text 4"/>
          <p:cNvSpPr/>
          <p:nvPr/>
        </p:nvSpPr>
        <p:spPr>
          <a:xfrm>
            <a:off x="1060314" y="3657600"/>
            <a:ext cx="10360152" cy="365760"/>
          </a:xfrm>
          <a:prstGeom prst="rect">
            <a:avLst/>
          </a:prstGeom>
          <a:noFill/>
          <a:ln/>
        </p:spPr>
        <p:txBody>
          <a:bodyPr wrap="square" rtlCol="0" anchor="ctr"/>
          <a:lstStyle/>
          <a:p>
            <a:pPr marL="0" indent="0" algn="ctr">
              <a:buNone/>
            </a:pPr>
            <a:r>
              <a:rPr lang="en-US" sz="1350" dirty="0">
                <a:solidFill>
                  <a:srgbClr val="FFFFFF"/>
                </a:solidFill>
                <a:latin typeface="Times New Roman" pitchFamily="34" charset="0"/>
                <a:ea typeface="Times New Roman" pitchFamily="34" charset="-122"/>
                <a:cs typeface="Times New Roman" pitchFamily="34" charset="-120"/>
              </a:rPr>
              <a:t>Asgar Rashid   ·   Faisal Ahmad Malik</a:t>
            </a:r>
            <a:endParaRPr lang="en-US" sz="1350" dirty="0"/>
          </a:p>
        </p:txBody>
      </p:sp>
      <p:sp>
        <p:nvSpPr>
          <p:cNvPr id="7" name="Text 5"/>
          <p:cNvSpPr/>
          <p:nvPr/>
        </p:nvSpPr>
        <p:spPr>
          <a:xfrm>
            <a:off x="1060314" y="4206240"/>
            <a:ext cx="10360152" cy="320040"/>
          </a:xfrm>
          <a:prstGeom prst="rect">
            <a:avLst/>
          </a:prstGeom>
          <a:noFill/>
          <a:ln/>
        </p:spPr>
        <p:txBody>
          <a:bodyPr wrap="square" rtlCol="0" anchor="ctr"/>
          <a:lstStyle/>
          <a:p>
            <a:pPr marL="0" indent="0" algn="ctr">
              <a:buNone/>
            </a:pPr>
            <a:r>
              <a:rPr lang="en-US" sz="1150" dirty="0">
                <a:solidFill>
                  <a:srgbClr val="7FA8C9"/>
                </a:solidFill>
                <a:latin typeface="Times New Roman" pitchFamily="34" charset="0"/>
                <a:ea typeface="Times New Roman" pitchFamily="34" charset="-122"/>
                <a:cs typeface="Times New Roman" pitchFamily="34" charset="-120"/>
              </a:rPr>
              <a:t>Department of Computer Applications </a:t>
            </a:r>
          </a:p>
          <a:p>
            <a:pPr marL="0" indent="0" algn="ctr">
              <a:buNone/>
            </a:pPr>
            <a:r>
              <a:rPr lang="en-US" sz="1150" dirty="0">
                <a:solidFill>
                  <a:srgbClr val="7FA8C9"/>
                </a:solidFill>
                <a:latin typeface="Times New Roman" pitchFamily="34" charset="0"/>
                <a:ea typeface="Times New Roman" pitchFamily="34" charset="-122"/>
                <a:cs typeface="Times New Roman" pitchFamily="34" charset="-120"/>
              </a:rPr>
              <a:t> SHMM Govt. Degree College Anantnag</a:t>
            </a:r>
            <a:endParaRPr lang="en-US" sz="11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612</TotalTime>
  <Words>3566</Words>
  <Application>Microsoft Office PowerPoint</Application>
  <PresentationFormat>Widescreen</PresentationFormat>
  <Paragraphs>359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Montserrat</vt:lpstr>
      <vt:lpstr>Roboto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RUMI 💖</cp:lastModifiedBy>
  <cp:revision>52</cp:revision>
  <dcterms:created xsi:type="dcterms:W3CDTF">2026-07-15T06:34:17Z</dcterms:created>
  <dcterms:modified xsi:type="dcterms:W3CDTF">2026-07-16T09:15:15Z</dcterms:modified>
</cp:coreProperties>
</file>